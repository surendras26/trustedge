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Times New Roman Bold" charset="1" panose="02020803070505020304"/>
      <p:regular r:id="rId25"/>
    </p:embeddedFont>
    <p:embeddedFont>
      <p:font typeface="Times New Roman" charset="1" panose="020206030504050203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embeddings/oleObject1.bin" Type="http://schemas.openxmlformats.org/officeDocument/2006/relationships/oleObjec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embeddings/oleObject2.bin" Type="http://schemas.openxmlformats.org/officeDocument/2006/relationships/oleObjec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embeddings/oleObject3.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flipH="true">
            <a:off x="16211995" y="5745987"/>
            <a:ext cx="7159602" cy="4779195"/>
          </a:xfrm>
          <a:prstGeom prst="line">
            <a:avLst/>
          </a:prstGeom>
          <a:ln cap="rnd" w="9525">
            <a:solidFill>
              <a:srgbClr val="FFFFFF"/>
            </a:solidFill>
            <a:prstDash val="solid"/>
            <a:headEnd type="none" len="sm" w="sm"/>
            <a:tailEnd type="none" len="sm" w="sm"/>
          </a:ln>
        </p:spPr>
      </p:sp>
      <p:grpSp>
        <p:nvGrpSpPr>
          <p:cNvPr name="Group 3" id="3"/>
          <p:cNvGrpSpPr/>
          <p:nvPr/>
        </p:nvGrpSpPr>
        <p:grpSpPr>
          <a:xfrm rot="0">
            <a:off x="16736063" y="-24397"/>
            <a:ext cx="4511021" cy="10299697"/>
            <a:chOff x="0" y="0"/>
            <a:chExt cx="6014695" cy="13732929"/>
          </a:xfrm>
        </p:grpSpPr>
        <p:sp>
          <p:nvSpPr>
            <p:cNvPr name="Freeform 4" id="4"/>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5" id="5"/>
          <p:cNvGrpSpPr/>
          <p:nvPr/>
        </p:nvGrpSpPr>
        <p:grpSpPr>
          <a:xfrm rot="0">
            <a:off x="17369009" y="-24397"/>
            <a:ext cx="3882838" cy="10299697"/>
            <a:chOff x="0" y="0"/>
            <a:chExt cx="5177117" cy="13732929"/>
          </a:xfrm>
        </p:grpSpPr>
        <p:sp>
          <p:nvSpPr>
            <p:cNvPr name="Freeform 6" id="6"/>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7" id="7"/>
          <p:cNvGrpSpPr/>
          <p:nvPr/>
        </p:nvGrpSpPr>
        <p:grpSpPr>
          <a:xfrm rot="0">
            <a:off x="16362350" y="4560300"/>
            <a:ext cx="4889497" cy="5715000"/>
            <a:chOff x="0" y="0"/>
            <a:chExt cx="6519329" cy="7620000"/>
          </a:xfrm>
        </p:grpSpPr>
        <p:sp>
          <p:nvSpPr>
            <p:cNvPr name="Freeform 8" id="8"/>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9" id="9"/>
          <p:cNvGrpSpPr/>
          <p:nvPr/>
        </p:nvGrpSpPr>
        <p:grpSpPr>
          <a:xfrm rot="0">
            <a:off x="16965596" y="-24397"/>
            <a:ext cx="4281488" cy="10299697"/>
            <a:chOff x="0" y="0"/>
            <a:chExt cx="5708650" cy="13732929"/>
          </a:xfrm>
        </p:grpSpPr>
        <p:sp>
          <p:nvSpPr>
            <p:cNvPr name="Freeform 10" id="10"/>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1" id="11"/>
          <p:cNvGrpSpPr/>
          <p:nvPr/>
        </p:nvGrpSpPr>
        <p:grpSpPr>
          <a:xfrm rot="0">
            <a:off x="0" y="6019800"/>
            <a:ext cx="673103" cy="4267200"/>
            <a:chOff x="0" y="0"/>
            <a:chExt cx="897471" cy="5689600"/>
          </a:xfrm>
        </p:grpSpPr>
        <p:sp>
          <p:nvSpPr>
            <p:cNvPr name="Freeform 12" id="12"/>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3" id="13"/>
          <p:cNvGrpSpPr/>
          <p:nvPr/>
        </p:nvGrpSpPr>
        <p:grpSpPr>
          <a:xfrm rot="0">
            <a:off x="-12697" y="-12697"/>
            <a:ext cx="208283" cy="10312403"/>
            <a:chOff x="0" y="0"/>
            <a:chExt cx="277711" cy="13749871"/>
          </a:xfrm>
        </p:grpSpPr>
        <p:sp>
          <p:nvSpPr>
            <p:cNvPr name="Freeform 14" id="14"/>
            <p:cNvSpPr/>
            <p:nvPr/>
          </p:nvSpPr>
          <p:spPr>
            <a:xfrm flipH="false" flipV="false" rot="0">
              <a:off x="0" y="0"/>
              <a:ext cx="277749" cy="13749910"/>
            </a:xfrm>
            <a:custGeom>
              <a:avLst/>
              <a:gdLst/>
              <a:ahLst/>
              <a:cxnLst/>
              <a:rect r="r" b="b" t="t" l="l"/>
              <a:pathLst>
                <a:path h="13749910" w="277749">
                  <a:moveTo>
                    <a:pt x="0" y="0"/>
                  </a:moveTo>
                  <a:lnTo>
                    <a:pt x="277749" y="0"/>
                  </a:lnTo>
                  <a:lnTo>
                    <a:pt x="277749" y="13749910"/>
                  </a:lnTo>
                  <a:lnTo>
                    <a:pt x="0" y="13749910"/>
                  </a:lnTo>
                  <a:close/>
                </a:path>
              </a:pathLst>
            </a:custGeom>
            <a:solidFill>
              <a:srgbClr val="1E6FBF"/>
            </a:solidFill>
            <a:ln w="25400" cap="sq">
              <a:solidFill>
                <a:srgbClr val="1E6FBF"/>
              </a:solidFill>
              <a:prstDash val="solid"/>
              <a:miter/>
            </a:ln>
          </p:spPr>
        </p:sp>
      </p:grpSp>
      <p:sp>
        <p:nvSpPr>
          <p:cNvPr name="TextBox 15" id="15"/>
          <p:cNvSpPr txBox="true"/>
          <p:nvPr/>
        </p:nvSpPr>
        <p:spPr>
          <a:xfrm rot="0">
            <a:off x="3939731" y="293605"/>
            <a:ext cx="10176718" cy="582930"/>
          </a:xfrm>
          <a:prstGeom prst="rect">
            <a:avLst/>
          </a:prstGeom>
        </p:spPr>
        <p:txBody>
          <a:bodyPr anchor="t" rtlCol="false" tIns="0" lIns="0" bIns="0" rIns="0">
            <a:spAutoFit/>
          </a:bodyPr>
          <a:lstStyle/>
          <a:p>
            <a:pPr algn="ctr">
              <a:lnSpc>
                <a:spcPts val="4620"/>
              </a:lnSpc>
              <a:spcBef>
                <a:spcPct val="0"/>
              </a:spcBef>
            </a:pPr>
            <a:r>
              <a:rPr lang="en-US" b="true" sz="3300">
                <a:solidFill>
                  <a:srgbClr val="000000"/>
                </a:solidFill>
                <a:latin typeface="Times New Roman Bold"/>
                <a:ea typeface="Times New Roman Bold"/>
                <a:cs typeface="Times New Roman Bold"/>
                <a:sym typeface="Times New Roman Bold"/>
              </a:rPr>
              <a:t>DAYANANDA SAGAR COLLEGE OF ENGINEERING</a:t>
            </a:r>
          </a:p>
        </p:txBody>
      </p:sp>
      <p:sp>
        <p:nvSpPr>
          <p:cNvPr name="TextBox 16" id="16"/>
          <p:cNvSpPr txBox="true"/>
          <p:nvPr/>
        </p:nvSpPr>
        <p:spPr>
          <a:xfrm rot="0">
            <a:off x="2670810" y="829073"/>
            <a:ext cx="12946381" cy="474345"/>
          </a:xfrm>
          <a:prstGeom prst="rect">
            <a:avLst/>
          </a:prstGeom>
        </p:spPr>
        <p:txBody>
          <a:bodyPr anchor="t" rtlCol="false" tIns="0" lIns="0" bIns="0" rIns="0">
            <a:spAutoFit/>
          </a:bodyPr>
          <a:lstStyle/>
          <a:p>
            <a:pPr algn="ctr">
              <a:lnSpc>
                <a:spcPts val="3780"/>
              </a:lnSpc>
              <a:spcBef>
                <a:spcPct val="0"/>
              </a:spcBef>
            </a:pPr>
            <a:r>
              <a:rPr lang="en-US" b="true" sz="2700">
                <a:solidFill>
                  <a:srgbClr val="1E6FBF"/>
                </a:solidFill>
                <a:latin typeface="Times New Roman Bold"/>
                <a:ea typeface="Times New Roman Bold"/>
                <a:cs typeface="Times New Roman Bold"/>
                <a:sym typeface="Times New Roman Bold"/>
              </a:rPr>
              <a:t>DEPARTMENT OF COMPUTER SCIENCE &amp; ENGINEERING (CYBER SECURITY)</a:t>
            </a:r>
          </a:p>
        </p:txBody>
      </p:sp>
      <p:sp>
        <p:nvSpPr>
          <p:cNvPr name="TextBox 17" id="17"/>
          <p:cNvSpPr txBox="true"/>
          <p:nvPr/>
        </p:nvSpPr>
        <p:spPr>
          <a:xfrm rot="0">
            <a:off x="6280919" y="1622430"/>
            <a:ext cx="5726162" cy="675005"/>
          </a:xfrm>
          <a:prstGeom prst="rect">
            <a:avLst/>
          </a:prstGeom>
        </p:spPr>
        <p:txBody>
          <a:bodyPr anchor="t" rtlCol="false" tIns="0" lIns="0" bIns="0" rIns="0">
            <a:spAutoFit/>
          </a:bodyPr>
          <a:lstStyle/>
          <a:p>
            <a:pPr algn="ctr">
              <a:lnSpc>
                <a:spcPts val="5319"/>
              </a:lnSpc>
              <a:spcBef>
                <a:spcPct val="0"/>
              </a:spcBef>
            </a:pPr>
            <a:r>
              <a:rPr lang="en-US" b="true" sz="3799">
                <a:solidFill>
                  <a:srgbClr val="000000"/>
                </a:solidFill>
                <a:latin typeface="Times New Roman Bold"/>
                <a:ea typeface="Times New Roman Bold"/>
                <a:cs typeface="Times New Roman Bold"/>
                <a:sym typeface="Times New Roman Bold"/>
              </a:rPr>
              <a:t>Design Review Presentation</a:t>
            </a:r>
          </a:p>
        </p:txBody>
      </p:sp>
      <p:sp>
        <p:nvSpPr>
          <p:cNvPr name="TextBox 18" id="18"/>
          <p:cNvSpPr txBox="true"/>
          <p:nvPr/>
        </p:nvSpPr>
        <p:spPr>
          <a:xfrm rot="0">
            <a:off x="7024687" y="2582436"/>
            <a:ext cx="4238625" cy="566395"/>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Times New Roman Bold"/>
                <a:ea typeface="Times New Roman Bold"/>
                <a:cs typeface="Times New Roman Bold"/>
                <a:sym typeface="Times New Roman Bold"/>
              </a:rPr>
              <a:t>Major Project Phase – I </a:t>
            </a:r>
          </a:p>
        </p:txBody>
      </p:sp>
      <p:sp>
        <p:nvSpPr>
          <p:cNvPr name="TextBox 19" id="19"/>
          <p:cNvSpPr txBox="true"/>
          <p:nvPr/>
        </p:nvSpPr>
        <p:spPr>
          <a:xfrm rot="0">
            <a:off x="8263744" y="3091706"/>
            <a:ext cx="1760513" cy="566395"/>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Times New Roman Bold"/>
                <a:ea typeface="Times New Roman Bold"/>
                <a:cs typeface="Times New Roman Bold"/>
                <a:sym typeface="Times New Roman Bold"/>
              </a:rPr>
              <a:t>2026-2027</a:t>
            </a:r>
          </a:p>
        </p:txBody>
      </p:sp>
      <p:sp>
        <p:nvSpPr>
          <p:cNvPr name="TextBox 20" id="20"/>
          <p:cNvSpPr txBox="true"/>
          <p:nvPr/>
        </p:nvSpPr>
        <p:spPr>
          <a:xfrm rot="0">
            <a:off x="1901155" y="3943851"/>
            <a:ext cx="14678062" cy="615987"/>
          </a:xfrm>
          <a:prstGeom prst="rect">
            <a:avLst/>
          </a:prstGeom>
        </p:spPr>
        <p:txBody>
          <a:bodyPr anchor="t" rtlCol="false" tIns="0" lIns="0" bIns="0" rIns="0">
            <a:spAutoFit/>
          </a:bodyPr>
          <a:lstStyle/>
          <a:p>
            <a:pPr algn="ctr">
              <a:lnSpc>
                <a:spcPts val="4899"/>
              </a:lnSpc>
              <a:spcBef>
                <a:spcPct val="0"/>
              </a:spcBef>
            </a:pPr>
            <a:r>
              <a:rPr lang="en-US" sz="3499">
                <a:solidFill>
                  <a:srgbClr val="000000"/>
                </a:solidFill>
                <a:latin typeface="Times New Roman"/>
                <a:ea typeface="Times New Roman"/>
                <a:cs typeface="Times New Roman"/>
                <a:sym typeface="Times New Roman"/>
              </a:rPr>
              <a:t>TrustEdge - </a:t>
            </a:r>
            <a:r>
              <a:rPr lang="en-US" sz="3499">
                <a:solidFill>
                  <a:srgbClr val="000000"/>
                </a:solidFill>
                <a:latin typeface="Times New Roman"/>
                <a:ea typeface="Times New Roman"/>
                <a:cs typeface="Times New Roman"/>
                <a:sym typeface="Times New Roman"/>
              </a:rPr>
              <a:t>TPM-Assisted Secure Hardware Attestation Framework for AI Agents</a:t>
            </a:r>
          </a:p>
        </p:txBody>
      </p:sp>
      <p:sp>
        <p:nvSpPr>
          <p:cNvPr name="TextBox 21" id="21"/>
          <p:cNvSpPr txBox="true"/>
          <p:nvPr/>
        </p:nvSpPr>
        <p:spPr>
          <a:xfrm rot="0">
            <a:off x="4821659" y="4974573"/>
            <a:ext cx="8644682" cy="500429"/>
          </a:xfrm>
          <a:prstGeom prst="rect">
            <a:avLst/>
          </a:prstGeom>
        </p:spPr>
        <p:txBody>
          <a:bodyPr anchor="t" rtlCol="false" tIns="0" lIns="0" bIns="0" rIns="0">
            <a:spAutoFit/>
          </a:bodyPr>
          <a:lstStyle/>
          <a:p>
            <a:pPr algn="ctr">
              <a:lnSpc>
                <a:spcPts val="3920"/>
              </a:lnSpc>
              <a:spcBef>
                <a:spcPct val="0"/>
              </a:spcBef>
            </a:pPr>
            <a:r>
              <a:rPr lang="en-US" b="true" sz="2800">
                <a:solidFill>
                  <a:srgbClr val="000000"/>
                </a:solidFill>
                <a:latin typeface="Times New Roman Bold"/>
                <a:ea typeface="Times New Roman Bold"/>
                <a:cs typeface="Times New Roman Bold"/>
                <a:sym typeface="Times New Roman Bold"/>
              </a:rPr>
              <a:t>Domain Name: Cyber Security and Artificial Intelligence</a:t>
            </a:r>
          </a:p>
        </p:txBody>
      </p:sp>
      <p:sp>
        <p:nvSpPr>
          <p:cNvPr name="TextBox 22" id="22"/>
          <p:cNvSpPr txBox="true"/>
          <p:nvPr/>
        </p:nvSpPr>
        <p:spPr>
          <a:xfrm rot="0">
            <a:off x="2355790" y="7229574"/>
            <a:ext cx="4282906" cy="1672590"/>
          </a:xfrm>
          <a:prstGeom prst="rect">
            <a:avLst/>
          </a:prstGeom>
        </p:spPr>
        <p:txBody>
          <a:bodyPr anchor="t" rtlCol="false" tIns="0" lIns="0" bIns="0" rIns="0">
            <a:spAutoFit/>
          </a:bodyPr>
          <a:lstStyle/>
          <a:p>
            <a:pPr algn="l">
              <a:lnSpc>
                <a:spcPts val="3359"/>
              </a:lnSpc>
            </a:pPr>
            <a:r>
              <a:rPr lang="en-US" sz="2400" b="true">
                <a:solidFill>
                  <a:srgbClr val="000000"/>
                </a:solidFill>
                <a:latin typeface="Times New Roman Bold"/>
                <a:ea typeface="Times New Roman Bold"/>
                <a:cs typeface="Times New Roman Bold"/>
                <a:sym typeface="Times New Roman Bold"/>
              </a:rPr>
              <a:t>Presented by:</a:t>
            </a:r>
          </a:p>
          <a:p>
            <a:pPr algn="l" marL="518160" indent="-259080" lvl="1">
              <a:lnSpc>
                <a:spcPts val="3359"/>
              </a:lnSpc>
              <a:buAutoNum type="arabicPeriod" startAt="1"/>
            </a:pPr>
            <a:r>
              <a:rPr lang="en-US" sz="2400">
                <a:solidFill>
                  <a:srgbClr val="000000"/>
                </a:solidFill>
                <a:latin typeface="Times New Roman"/>
                <a:ea typeface="Times New Roman"/>
                <a:cs typeface="Times New Roman"/>
                <a:sym typeface="Times New Roman"/>
              </a:rPr>
              <a:t> Surendra S                    </a:t>
            </a:r>
          </a:p>
          <a:p>
            <a:pPr algn="l" marL="518160" indent="-259080" lvl="1">
              <a:lnSpc>
                <a:spcPts val="3359"/>
              </a:lnSpc>
              <a:buAutoNum type="arabicPeriod" startAt="1"/>
            </a:pPr>
            <a:r>
              <a:rPr lang="en-US" sz="2400">
                <a:solidFill>
                  <a:srgbClr val="000000"/>
                </a:solidFill>
                <a:latin typeface="Times New Roman"/>
                <a:ea typeface="Times New Roman"/>
                <a:cs typeface="Times New Roman"/>
                <a:sym typeface="Times New Roman"/>
              </a:rPr>
              <a:t> Letitia Gilbert  </a:t>
            </a:r>
          </a:p>
          <a:p>
            <a:pPr algn="l" marL="518160" indent="-259080" lvl="1">
              <a:lnSpc>
                <a:spcPts val="3359"/>
              </a:lnSpc>
              <a:spcBef>
                <a:spcPct val="0"/>
              </a:spcBef>
              <a:buAutoNum type="arabicPeriod" startAt="1"/>
            </a:pPr>
            <a:r>
              <a:rPr lang="en-US" sz="2400">
                <a:solidFill>
                  <a:srgbClr val="000000"/>
                </a:solidFill>
                <a:latin typeface="Times New Roman"/>
                <a:ea typeface="Times New Roman"/>
                <a:cs typeface="Times New Roman"/>
                <a:sym typeface="Times New Roman"/>
              </a:rPr>
              <a:t> Manyu Simha Ravi</a:t>
            </a:r>
          </a:p>
        </p:txBody>
      </p:sp>
      <p:sp>
        <p:nvSpPr>
          <p:cNvPr name="TextBox 23" id="23"/>
          <p:cNvSpPr txBox="true"/>
          <p:nvPr/>
        </p:nvSpPr>
        <p:spPr>
          <a:xfrm rot="0">
            <a:off x="9408296" y="7227670"/>
            <a:ext cx="7144051" cy="2091690"/>
          </a:xfrm>
          <a:prstGeom prst="rect">
            <a:avLst/>
          </a:prstGeom>
        </p:spPr>
        <p:txBody>
          <a:bodyPr anchor="t" rtlCol="false" tIns="0" lIns="0" bIns="0" rIns="0">
            <a:spAutoFit/>
          </a:bodyPr>
          <a:lstStyle/>
          <a:p>
            <a:pPr algn="just">
              <a:lnSpc>
                <a:spcPts val="3359"/>
              </a:lnSpc>
            </a:pPr>
            <a:r>
              <a:rPr lang="en-US" b="true" sz="2400">
                <a:solidFill>
                  <a:srgbClr val="000000"/>
                </a:solidFill>
                <a:latin typeface="Times New Roman Bold"/>
                <a:ea typeface="Times New Roman Bold"/>
                <a:cs typeface="Times New Roman Bold"/>
                <a:sym typeface="Times New Roman Bold"/>
              </a:rPr>
              <a:t>Guided by:</a:t>
            </a:r>
          </a:p>
          <a:p>
            <a:pPr algn="just">
              <a:lnSpc>
                <a:spcPts val="3359"/>
              </a:lnSpc>
            </a:pPr>
            <a:r>
              <a:rPr lang="en-US" sz="2400">
                <a:solidFill>
                  <a:srgbClr val="000000"/>
                </a:solidFill>
                <a:latin typeface="Times New Roman"/>
                <a:ea typeface="Times New Roman"/>
                <a:cs typeface="Times New Roman"/>
                <a:sym typeface="Times New Roman"/>
              </a:rPr>
              <a:t> Prof. Pallavi Bindagi</a:t>
            </a:r>
          </a:p>
          <a:p>
            <a:pPr algn="l">
              <a:lnSpc>
                <a:spcPts val="3359"/>
              </a:lnSpc>
            </a:pPr>
            <a:r>
              <a:rPr lang="en-US" sz="2400">
                <a:solidFill>
                  <a:srgbClr val="000000"/>
                </a:solidFill>
                <a:latin typeface="Times New Roman"/>
                <a:ea typeface="Times New Roman"/>
                <a:cs typeface="Times New Roman"/>
                <a:sym typeface="Times New Roman"/>
              </a:rPr>
              <a:t> Assistant Professor, </a:t>
            </a:r>
          </a:p>
          <a:p>
            <a:pPr algn="l">
              <a:lnSpc>
                <a:spcPts val="3359"/>
              </a:lnSpc>
            </a:pPr>
            <a:r>
              <a:rPr lang="en-US" sz="2400">
                <a:solidFill>
                  <a:srgbClr val="000000"/>
                </a:solidFill>
                <a:latin typeface="Times New Roman"/>
                <a:ea typeface="Times New Roman"/>
                <a:cs typeface="Times New Roman"/>
                <a:sym typeface="Times New Roman"/>
              </a:rPr>
              <a:t>Department of CSE (Cyber Security)</a:t>
            </a:r>
          </a:p>
          <a:p>
            <a:pPr algn="l">
              <a:lnSpc>
                <a:spcPts val="3359"/>
              </a:lnSpc>
              <a:spcBef>
                <a:spcPct val="0"/>
              </a:spcBef>
            </a:pPr>
          </a:p>
        </p:txBody>
      </p:sp>
      <p:sp>
        <p:nvSpPr>
          <p:cNvPr name="TextBox 24" id="24"/>
          <p:cNvSpPr txBox="true"/>
          <p:nvPr/>
        </p:nvSpPr>
        <p:spPr>
          <a:xfrm rot="0">
            <a:off x="14467096" y="8843011"/>
            <a:ext cx="2268967" cy="415289"/>
          </a:xfrm>
          <a:prstGeom prst="rect">
            <a:avLst/>
          </a:prstGeom>
        </p:spPr>
        <p:txBody>
          <a:bodyPr anchor="t" rtlCol="false" tIns="0" lIns="0" bIns="0" rIns="0">
            <a:spAutoFit/>
          </a:bodyPr>
          <a:lstStyle/>
          <a:p>
            <a:pPr algn="just">
              <a:lnSpc>
                <a:spcPts val="3360"/>
              </a:lnSpc>
              <a:spcBef>
                <a:spcPct val="0"/>
              </a:spcBef>
            </a:pPr>
            <a:r>
              <a:rPr lang="en-US" sz="2400">
                <a:solidFill>
                  <a:srgbClr val="000000"/>
                </a:solidFill>
                <a:latin typeface="Times New Roman"/>
                <a:ea typeface="Times New Roman"/>
                <a:cs typeface="Times New Roman"/>
                <a:sym typeface="Times New Roman"/>
              </a:rPr>
              <a:t>Date: 12-10-2026</a:t>
            </a:r>
          </a:p>
        </p:txBody>
      </p:sp>
      <p:sp>
        <p:nvSpPr>
          <p:cNvPr name="TextBox 25" id="25"/>
          <p:cNvSpPr txBox="true"/>
          <p:nvPr/>
        </p:nvSpPr>
        <p:spPr>
          <a:xfrm rot="0">
            <a:off x="5631775" y="6810474"/>
            <a:ext cx="3964153" cy="2091690"/>
          </a:xfrm>
          <a:prstGeom prst="rect">
            <a:avLst/>
          </a:prstGeom>
        </p:spPr>
        <p:txBody>
          <a:bodyPr anchor="t" rtlCol="false" tIns="0" lIns="0" bIns="0" rIns="0">
            <a:spAutoFit/>
          </a:bodyPr>
          <a:lstStyle/>
          <a:p>
            <a:pPr algn="just">
              <a:lnSpc>
                <a:spcPts val="3359"/>
              </a:lnSpc>
            </a:pPr>
          </a:p>
          <a:p>
            <a:pPr algn="just">
              <a:lnSpc>
                <a:spcPts val="3359"/>
              </a:lnSpc>
            </a:pPr>
          </a:p>
          <a:p>
            <a:pPr algn="just">
              <a:lnSpc>
                <a:spcPts val="3359"/>
              </a:lnSpc>
            </a:pPr>
            <a:r>
              <a:rPr lang="en-US" sz="2400">
                <a:solidFill>
                  <a:srgbClr val="000000"/>
                </a:solidFill>
                <a:latin typeface="Times New Roman"/>
                <a:ea typeface="Times New Roman"/>
                <a:cs typeface="Times New Roman"/>
                <a:sym typeface="Times New Roman"/>
              </a:rPr>
              <a:t>1DS23CY059  </a:t>
            </a:r>
          </a:p>
          <a:p>
            <a:pPr algn="just">
              <a:lnSpc>
                <a:spcPts val="3359"/>
              </a:lnSpc>
            </a:pPr>
            <a:r>
              <a:rPr lang="en-US" sz="2400">
                <a:solidFill>
                  <a:srgbClr val="000000"/>
                </a:solidFill>
                <a:latin typeface="Times New Roman"/>
                <a:ea typeface="Times New Roman"/>
                <a:cs typeface="Times New Roman"/>
                <a:sym typeface="Times New Roman"/>
              </a:rPr>
              <a:t>1DS23CY031</a:t>
            </a:r>
          </a:p>
          <a:p>
            <a:pPr algn="just">
              <a:lnSpc>
                <a:spcPts val="3359"/>
              </a:lnSpc>
              <a:spcBef>
                <a:spcPct val="0"/>
              </a:spcBef>
            </a:pPr>
            <a:r>
              <a:rPr lang="en-US" sz="2400">
                <a:solidFill>
                  <a:srgbClr val="000000"/>
                </a:solidFill>
                <a:latin typeface="Times New Roman"/>
                <a:ea typeface="Times New Roman"/>
                <a:cs typeface="Times New Roman"/>
                <a:sym typeface="Times New Roman"/>
              </a:rPr>
              <a:t>1DS23CY035</a:t>
            </a:r>
            <a:r>
              <a:rPr lang="en-US" sz="2400">
                <a:solidFill>
                  <a:srgbClr val="000000"/>
                </a:solidFill>
                <a:latin typeface="Times New Roman"/>
                <a:ea typeface="Times New Roman"/>
                <a:cs typeface="Times New Roman"/>
                <a:sym typeface="Times New Roman"/>
              </a:rPr>
              <a:t>            </a:t>
            </a:r>
          </a:p>
        </p:txBody>
      </p:sp>
      <p:sp>
        <p:nvSpPr>
          <p:cNvPr name="TextBox 26" id="26"/>
          <p:cNvSpPr txBox="true"/>
          <p:nvPr/>
        </p:nvSpPr>
        <p:spPr>
          <a:xfrm rot="0">
            <a:off x="7613852" y="5427327"/>
            <a:ext cx="3252669" cy="500380"/>
          </a:xfrm>
          <a:prstGeom prst="rect">
            <a:avLst/>
          </a:prstGeom>
        </p:spPr>
        <p:txBody>
          <a:bodyPr anchor="t" rtlCol="false" tIns="0" lIns="0" bIns="0" rIns="0">
            <a:spAutoFit/>
          </a:bodyPr>
          <a:lstStyle/>
          <a:p>
            <a:pPr algn="ctr">
              <a:lnSpc>
                <a:spcPts val="3920"/>
              </a:lnSpc>
              <a:spcBef>
                <a:spcPct val="0"/>
              </a:spcBef>
            </a:pPr>
            <a:r>
              <a:rPr lang="en-US" b="true" sz="2800">
                <a:solidFill>
                  <a:srgbClr val="000000"/>
                </a:solidFill>
                <a:latin typeface="Times New Roman Bold"/>
                <a:ea typeface="Times New Roman Bold"/>
                <a:cs typeface="Times New Roman Bold"/>
                <a:sym typeface="Times New Roman Bold"/>
              </a:rPr>
              <a:t>Group number: G-13</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flipH="true">
            <a:off x="16067731" y="5770394"/>
            <a:ext cx="7159602" cy="4779195"/>
          </a:xfrm>
          <a:prstGeom prst="line">
            <a:avLst/>
          </a:prstGeom>
          <a:ln cap="rnd" w="9525">
            <a:solidFill>
              <a:srgbClr val="FFFFFF"/>
            </a:solidFill>
            <a:prstDash val="solid"/>
            <a:headEnd type="none" len="sm" w="sm"/>
            <a:tailEnd type="none" len="sm" w="sm"/>
          </a:ln>
        </p:spPr>
      </p:sp>
      <p:grpSp>
        <p:nvGrpSpPr>
          <p:cNvPr name="Group 3" id="3"/>
          <p:cNvGrpSpPr/>
          <p:nvPr/>
        </p:nvGrpSpPr>
        <p:grpSpPr>
          <a:xfrm rot="0">
            <a:off x="16607129" y="0"/>
            <a:ext cx="4511021" cy="10299697"/>
            <a:chOff x="0" y="0"/>
            <a:chExt cx="6014695" cy="13732929"/>
          </a:xfrm>
        </p:grpSpPr>
        <p:sp>
          <p:nvSpPr>
            <p:cNvPr name="Freeform 4" id="4"/>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5" id="5"/>
          <p:cNvGrpSpPr/>
          <p:nvPr/>
        </p:nvGrpSpPr>
        <p:grpSpPr>
          <a:xfrm rot="0">
            <a:off x="17240075" y="0"/>
            <a:ext cx="3882838" cy="10299697"/>
            <a:chOff x="0" y="0"/>
            <a:chExt cx="5177117" cy="13732929"/>
          </a:xfrm>
        </p:grpSpPr>
        <p:sp>
          <p:nvSpPr>
            <p:cNvPr name="Freeform 6" id="6"/>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7" id="7"/>
          <p:cNvGrpSpPr/>
          <p:nvPr/>
        </p:nvGrpSpPr>
        <p:grpSpPr>
          <a:xfrm rot="0">
            <a:off x="16233416" y="4584697"/>
            <a:ext cx="4889497" cy="5715000"/>
            <a:chOff x="0" y="0"/>
            <a:chExt cx="6519329" cy="7620000"/>
          </a:xfrm>
        </p:grpSpPr>
        <p:sp>
          <p:nvSpPr>
            <p:cNvPr name="Freeform 8" id="8"/>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9" id="9"/>
          <p:cNvGrpSpPr/>
          <p:nvPr/>
        </p:nvGrpSpPr>
        <p:grpSpPr>
          <a:xfrm rot="0">
            <a:off x="16836663" y="0"/>
            <a:ext cx="4281488" cy="10299697"/>
            <a:chOff x="0" y="0"/>
            <a:chExt cx="5708650" cy="13732929"/>
          </a:xfrm>
        </p:grpSpPr>
        <p:sp>
          <p:nvSpPr>
            <p:cNvPr name="Freeform 10" id="10"/>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1" id="11"/>
          <p:cNvGrpSpPr/>
          <p:nvPr/>
        </p:nvGrpSpPr>
        <p:grpSpPr>
          <a:xfrm rot="0">
            <a:off x="0" y="6019800"/>
            <a:ext cx="673103" cy="4267200"/>
            <a:chOff x="0" y="0"/>
            <a:chExt cx="897471" cy="5689600"/>
          </a:xfrm>
        </p:grpSpPr>
        <p:sp>
          <p:nvSpPr>
            <p:cNvPr name="Freeform 12" id="12"/>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sp>
        <p:nvSpPr>
          <p:cNvPr name="TextBox 13" id="13"/>
          <p:cNvSpPr txBox="true"/>
          <p:nvPr/>
        </p:nvSpPr>
        <p:spPr>
          <a:xfrm rot="0">
            <a:off x="7750969" y="297180"/>
            <a:ext cx="2786062" cy="73152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ABSTRACT</a:t>
            </a:r>
          </a:p>
        </p:txBody>
      </p:sp>
      <p:sp>
        <p:nvSpPr>
          <p:cNvPr name="TextBox 14" id="14"/>
          <p:cNvSpPr txBox="true"/>
          <p:nvPr/>
        </p:nvSpPr>
        <p:spPr>
          <a:xfrm rot="0">
            <a:off x="1028700" y="2472086"/>
            <a:ext cx="16230600" cy="3348990"/>
          </a:xfrm>
          <a:prstGeom prst="rect">
            <a:avLst/>
          </a:prstGeom>
        </p:spPr>
        <p:txBody>
          <a:bodyPr anchor="t" rtlCol="false" tIns="0" lIns="0" bIns="0" rIns="0">
            <a:spAutoFit/>
          </a:bodyPr>
          <a:lstStyle/>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This</a:t>
            </a:r>
            <a:r>
              <a:rPr lang="en-US" sz="2400">
                <a:solidFill>
                  <a:srgbClr val="000000"/>
                </a:solidFill>
                <a:latin typeface="Times New Roman"/>
                <a:ea typeface="Times New Roman"/>
                <a:cs typeface="Times New Roman"/>
                <a:sym typeface="Times New Roman"/>
              </a:rPr>
              <a:t> work surveys existing research on TPM-based hardware attestation, secure AI agent execution, and runtime integrity monitoring in edge and cloud environments.</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Current solutions provide strong initial trust verification but lack continuous assessment after attestation, a gap that is especially critical for high-privilege AI agents on resource-constrained edge devices.</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TrustEdge closes this gap by intercepting every agent action, verifying platform integrity through a TPM quote, enforcing security policy, and requiring human approval before execution in an isolated sandbox.</a:t>
            </a:r>
          </a:p>
        </p:txBody>
      </p:sp>
      <p:grpSp>
        <p:nvGrpSpPr>
          <p:cNvPr name="Group 15" id="15"/>
          <p:cNvGrpSpPr/>
          <p:nvPr/>
        </p:nvGrpSpPr>
        <p:grpSpPr>
          <a:xfrm rot="0">
            <a:off x="1352779" y="1235452"/>
            <a:ext cx="14880637" cy="119355"/>
            <a:chOff x="0" y="0"/>
            <a:chExt cx="19840849" cy="159140"/>
          </a:xfrm>
        </p:grpSpPr>
        <p:sp>
          <p:nvSpPr>
            <p:cNvPr name="Freeform 16" id="16"/>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7" id="17"/>
          <p:cNvSpPr txBox="true"/>
          <p:nvPr/>
        </p:nvSpPr>
        <p:spPr>
          <a:xfrm rot="0">
            <a:off x="17476678" y="9467762"/>
            <a:ext cx="152425" cy="415265"/>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2</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283300" y="297180"/>
            <a:ext cx="5721400" cy="73152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PROBLEM STATEMENT</a:t>
            </a:r>
          </a:p>
        </p:txBody>
      </p:sp>
      <p:sp>
        <p:nvSpPr>
          <p:cNvPr name="TextBox 3" id="3"/>
          <p:cNvSpPr txBox="true"/>
          <p:nvPr/>
        </p:nvSpPr>
        <p:spPr>
          <a:xfrm rot="0">
            <a:off x="1352779" y="2881627"/>
            <a:ext cx="15580767" cy="3348990"/>
          </a:xfrm>
          <a:prstGeom prst="rect">
            <a:avLst/>
          </a:prstGeom>
        </p:spPr>
        <p:txBody>
          <a:bodyPr anchor="t" rtlCol="false" tIns="0" lIns="0" bIns="0" rIns="0">
            <a:spAutoFit/>
          </a:bodyPr>
          <a:lstStyle/>
          <a:p>
            <a:pPr algn="just">
              <a:lnSpc>
                <a:spcPts val="3359"/>
              </a:lnSpc>
            </a:pPr>
            <a:r>
              <a:rPr lang="en-US" sz="2400">
                <a:solidFill>
                  <a:srgbClr val="000000"/>
                </a:solidFill>
                <a:latin typeface="Times New Roman"/>
                <a:ea typeface="Times New Roman"/>
                <a:cs typeface="Times New Roman"/>
                <a:sym typeface="Times New Roman"/>
              </a:rPr>
              <a:t>Modern </a:t>
            </a:r>
            <a:r>
              <a:rPr lang="en-US" sz="2400">
                <a:solidFill>
                  <a:srgbClr val="000000"/>
                </a:solidFill>
                <a:latin typeface="Times New Roman"/>
                <a:ea typeface="Times New Roman"/>
                <a:cs typeface="Times New Roman"/>
                <a:sym typeface="Times New Roman"/>
              </a:rPr>
              <a:t>AI agents operate with high-privilege access to perform file operations, network communication, and system-level command execution. However, no standardized mechanism exists to verify their integrity beyond initial deployment or to prevent unauthorized actions during runtime. Existing hardware-security research provides strong static trust guarantees through attestation but does not extend to continuous verification, leaving a critical gap in which a compromised, misconfigured, or misaligned agent can act without detection. This project addresses the absence of a runtime security control loop by proposing a framework that intercepts every agent action, validates system integrity through TPM-based attestation, evaluates each action against a defined security policy, and enforces explicit human approval ensuring that an agent can neither bypass verification nor authorize its own actions.</a:t>
            </a:r>
          </a:p>
        </p:txBody>
      </p:sp>
      <p:sp>
        <p:nvSpPr>
          <p:cNvPr name="AutoShape 4" id="4"/>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5" id="5"/>
          <p:cNvGrpSpPr/>
          <p:nvPr/>
        </p:nvGrpSpPr>
        <p:grpSpPr>
          <a:xfrm rot="0">
            <a:off x="16753451" y="0"/>
            <a:ext cx="4511021" cy="10299697"/>
            <a:chOff x="0" y="0"/>
            <a:chExt cx="6014695" cy="13732929"/>
          </a:xfrm>
        </p:grpSpPr>
        <p:sp>
          <p:nvSpPr>
            <p:cNvPr name="Freeform 6" id="6"/>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7" id="7"/>
          <p:cNvGrpSpPr/>
          <p:nvPr/>
        </p:nvGrpSpPr>
        <p:grpSpPr>
          <a:xfrm rot="0">
            <a:off x="17386396" y="0"/>
            <a:ext cx="3882838" cy="10299697"/>
            <a:chOff x="0" y="0"/>
            <a:chExt cx="5177117" cy="13732929"/>
          </a:xfrm>
        </p:grpSpPr>
        <p:sp>
          <p:nvSpPr>
            <p:cNvPr name="Freeform 8" id="8"/>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9" id="9"/>
          <p:cNvGrpSpPr/>
          <p:nvPr/>
        </p:nvGrpSpPr>
        <p:grpSpPr>
          <a:xfrm rot="0">
            <a:off x="16379737" y="4584697"/>
            <a:ext cx="4889497" cy="5715000"/>
            <a:chOff x="0" y="0"/>
            <a:chExt cx="6519329" cy="7620000"/>
          </a:xfrm>
        </p:grpSpPr>
        <p:sp>
          <p:nvSpPr>
            <p:cNvPr name="Freeform 10" id="10"/>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11" id="11"/>
          <p:cNvGrpSpPr/>
          <p:nvPr/>
        </p:nvGrpSpPr>
        <p:grpSpPr>
          <a:xfrm rot="0">
            <a:off x="16982984" y="0"/>
            <a:ext cx="4281488" cy="10299697"/>
            <a:chOff x="0" y="0"/>
            <a:chExt cx="5708650" cy="13732929"/>
          </a:xfrm>
        </p:grpSpPr>
        <p:sp>
          <p:nvSpPr>
            <p:cNvPr name="Freeform 12" id="12"/>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3" id="13"/>
          <p:cNvGrpSpPr/>
          <p:nvPr/>
        </p:nvGrpSpPr>
        <p:grpSpPr>
          <a:xfrm rot="0">
            <a:off x="0" y="6019800"/>
            <a:ext cx="673103" cy="4267200"/>
            <a:chOff x="0" y="0"/>
            <a:chExt cx="897471" cy="5689600"/>
          </a:xfrm>
        </p:grpSpPr>
        <p:sp>
          <p:nvSpPr>
            <p:cNvPr name="Freeform 14" id="14"/>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5" id="15"/>
          <p:cNvGrpSpPr/>
          <p:nvPr/>
        </p:nvGrpSpPr>
        <p:grpSpPr>
          <a:xfrm rot="0">
            <a:off x="1352779" y="1235452"/>
            <a:ext cx="14880637" cy="119355"/>
            <a:chOff x="0" y="0"/>
            <a:chExt cx="19840849" cy="159140"/>
          </a:xfrm>
        </p:grpSpPr>
        <p:sp>
          <p:nvSpPr>
            <p:cNvPr name="Freeform 16" id="16"/>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7" id="17"/>
          <p:cNvSpPr txBox="true"/>
          <p:nvPr/>
        </p:nvSpPr>
        <p:spPr>
          <a:xfrm rot="0">
            <a:off x="17476678" y="9467762"/>
            <a:ext cx="152425" cy="415265"/>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3</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3" id="3"/>
          <p:cNvGrpSpPr/>
          <p:nvPr/>
        </p:nvGrpSpPr>
        <p:grpSpPr>
          <a:xfrm rot="0">
            <a:off x="16753451" y="0"/>
            <a:ext cx="4511021" cy="10299697"/>
            <a:chOff x="0" y="0"/>
            <a:chExt cx="6014695" cy="13732929"/>
          </a:xfrm>
        </p:grpSpPr>
        <p:sp>
          <p:nvSpPr>
            <p:cNvPr name="Freeform 4" id="4"/>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5" id="5"/>
          <p:cNvGrpSpPr/>
          <p:nvPr/>
        </p:nvGrpSpPr>
        <p:grpSpPr>
          <a:xfrm rot="0">
            <a:off x="17386396" y="0"/>
            <a:ext cx="3882838" cy="10299697"/>
            <a:chOff x="0" y="0"/>
            <a:chExt cx="5177117" cy="13732929"/>
          </a:xfrm>
        </p:grpSpPr>
        <p:sp>
          <p:nvSpPr>
            <p:cNvPr name="Freeform 6" id="6"/>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7" id="7"/>
          <p:cNvGrpSpPr/>
          <p:nvPr/>
        </p:nvGrpSpPr>
        <p:grpSpPr>
          <a:xfrm rot="0">
            <a:off x="16379737" y="4584697"/>
            <a:ext cx="4889497" cy="5715000"/>
            <a:chOff x="0" y="0"/>
            <a:chExt cx="6519329" cy="7620000"/>
          </a:xfrm>
        </p:grpSpPr>
        <p:sp>
          <p:nvSpPr>
            <p:cNvPr name="Freeform 8" id="8"/>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9" id="9"/>
          <p:cNvGrpSpPr/>
          <p:nvPr/>
        </p:nvGrpSpPr>
        <p:grpSpPr>
          <a:xfrm rot="0">
            <a:off x="16982984" y="0"/>
            <a:ext cx="4281488" cy="10299697"/>
            <a:chOff x="0" y="0"/>
            <a:chExt cx="5708650" cy="13732929"/>
          </a:xfrm>
        </p:grpSpPr>
        <p:sp>
          <p:nvSpPr>
            <p:cNvPr name="Freeform 10" id="10"/>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1" id="11"/>
          <p:cNvGrpSpPr/>
          <p:nvPr/>
        </p:nvGrpSpPr>
        <p:grpSpPr>
          <a:xfrm rot="0">
            <a:off x="0" y="6019800"/>
            <a:ext cx="673103" cy="4267200"/>
            <a:chOff x="0" y="0"/>
            <a:chExt cx="897471" cy="5689600"/>
          </a:xfrm>
        </p:grpSpPr>
        <p:sp>
          <p:nvSpPr>
            <p:cNvPr name="Freeform 12" id="12"/>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3" id="13"/>
          <p:cNvGrpSpPr/>
          <p:nvPr/>
        </p:nvGrpSpPr>
        <p:grpSpPr>
          <a:xfrm rot="0">
            <a:off x="1352779" y="1235452"/>
            <a:ext cx="14880637" cy="119355"/>
            <a:chOff x="0" y="0"/>
            <a:chExt cx="19840849" cy="159140"/>
          </a:xfrm>
        </p:grpSpPr>
        <p:sp>
          <p:nvSpPr>
            <p:cNvPr name="Freeform 14" id="14"/>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5" id="15"/>
          <p:cNvSpPr txBox="true"/>
          <p:nvPr/>
        </p:nvSpPr>
        <p:spPr>
          <a:xfrm rot="0">
            <a:off x="6417469" y="297180"/>
            <a:ext cx="5453062" cy="73147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LITERATURE SURVEY</a:t>
            </a:r>
          </a:p>
        </p:txBody>
      </p:sp>
      <p:sp>
        <p:nvSpPr>
          <p:cNvPr name="TextBox 16" id="16"/>
          <p:cNvSpPr txBox="true"/>
          <p:nvPr/>
        </p:nvSpPr>
        <p:spPr>
          <a:xfrm rot="0">
            <a:off x="17476678" y="9467762"/>
            <a:ext cx="152425" cy="415265"/>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4</a:t>
            </a:r>
          </a:p>
        </p:txBody>
      </p:sp>
      <p:graphicFrame>
        <p:nvGraphicFramePr>
          <p:cNvPr name="Object 17" id="17"/>
          <p:cNvGraphicFramePr/>
          <p:nvPr/>
        </p:nvGraphicFramePr>
        <p:xfrm>
          <a:off x="996014" y="1671093"/>
          <a:ext cx="7586157" cy="4274588"/>
        </p:xfrm>
        <a:graphic>
          <a:graphicData uri="http://schemas.openxmlformats.org/presentationml/2006/ole">
            <p:oleObj imgW="9105900" imgH="5791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3" id="3"/>
          <p:cNvGrpSpPr/>
          <p:nvPr/>
        </p:nvGrpSpPr>
        <p:grpSpPr>
          <a:xfrm rot="0">
            <a:off x="16753451" y="0"/>
            <a:ext cx="4511021" cy="10299697"/>
            <a:chOff x="0" y="0"/>
            <a:chExt cx="6014695" cy="13732929"/>
          </a:xfrm>
        </p:grpSpPr>
        <p:sp>
          <p:nvSpPr>
            <p:cNvPr name="Freeform 4" id="4"/>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5" id="5"/>
          <p:cNvGrpSpPr/>
          <p:nvPr/>
        </p:nvGrpSpPr>
        <p:grpSpPr>
          <a:xfrm rot="0">
            <a:off x="17386396" y="0"/>
            <a:ext cx="3882838" cy="10299697"/>
            <a:chOff x="0" y="0"/>
            <a:chExt cx="5177117" cy="13732929"/>
          </a:xfrm>
        </p:grpSpPr>
        <p:sp>
          <p:nvSpPr>
            <p:cNvPr name="Freeform 6" id="6"/>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7" id="7"/>
          <p:cNvGrpSpPr/>
          <p:nvPr/>
        </p:nvGrpSpPr>
        <p:grpSpPr>
          <a:xfrm rot="0">
            <a:off x="16379737" y="4584697"/>
            <a:ext cx="4889497" cy="5715000"/>
            <a:chOff x="0" y="0"/>
            <a:chExt cx="6519329" cy="7620000"/>
          </a:xfrm>
        </p:grpSpPr>
        <p:sp>
          <p:nvSpPr>
            <p:cNvPr name="Freeform 8" id="8"/>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9" id="9"/>
          <p:cNvGrpSpPr/>
          <p:nvPr/>
        </p:nvGrpSpPr>
        <p:grpSpPr>
          <a:xfrm rot="0">
            <a:off x="16982984" y="0"/>
            <a:ext cx="4281488" cy="10299697"/>
            <a:chOff x="0" y="0"/>
            <a:chExt cx="5708650" cy="13732929"/>
          </a:xfrm>
        </p:grpSpPr>
        <p:sp>
          <p:nvSpPr>
            <p:cNvPr name="Freeform 10" id="10"/>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1" id="11"/>
          <p:cNvGrpSpPr/>
          <p:nvPr/>
        </p:nvGrpSpPr>
        <p:grpSpPr>
          <a:xfrm rot="0">
            <a:off x="0" y="6019800"/>
            <a:ext cx="673103" cy="4267200"/>
            <a:chOff x="0" y="0"/>
            <a:chExt cx="897471" cy="5689600"/>
          </a:xfrm>
        </p:grpSpPr>
        <p:sp>
          <p:nvSpPr>
            <p:cNvPr name="Freeform 12" id="12"/>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3" id="13"/>
          <p:cNvGrpSpPr/>
          <p:nvPr/>
        </p:nvGrpSpPr>
        <p:grpSpPr>
          <a:xfrm rot="0">
            <a:off x="1352779" y="1235452"/>
            <a:ext cx="14880637" cy="119355"/>
            <a:chOff x="0" y="0"/>
            <a:chExt cx="19840849" cy="159140"/>
          </a:xfrm>
        </p:grpSpPr>
        <p:sp>
          <p:nvSpPr>
            <p:cNvPr name="Freeform 14" id="14"/>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5" id="15"/>
          <p:cNvSpPr txBox="true"/>
          <p:nvPr/>
        </p:nvSpPr>
        <p:spPr>
          <a:xfrm rot="0">
            <a:off x="6417469" y="297180"/>
            <a:ext cx="5453062" cy="73147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LITERATURE SURVEY</a:t>
            </a:r>
          </a:p>
        </p:txBody>
      </p:sp>
      <p:sp>
        <p:nvSpPr>
          <p:cNvPr name="TextBox 16" id="16"/>
          <p:cNvSpPr txBox="true"/>
          <p:nvPr/>
        </p:nvSpPr>
        <p:spPr>
          <a:xfrm rot="0">
            <a:off x="17476678" y="9467762"/>
            <a:ext cx="152425" cy="415265"/>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5</a:t>
            </a:r>
          </a:p>
        </p:txBody>
      </p:sp>
      <p:graphicFrame>
        <p:nvGraphicFramePr>
          <p:cNvPr name="Object 17" id="17"/>
          <p:cNvGraphicFramePr/>
          <p:nvPr/>
        </p:nvGraphicFramePr>
        <p:xfrm>
          <a:off x="996014" y="1671093"/>
          <a:ext cx="7586157" cy="4274588"/>
        </p:xfrm>
        <a:graphic>
          <a:graphicData uri="http://schemas.openxmlformats.org/presentationml/2006/ole">
            <p:oleObj imgW="9105900" imgH="5791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transition spd="fast">
    <p:fade/>
  </p:transition>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795926" y="297180"/>
            <a:ext cx="4696147" cy="73147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EXISTING SYSTEM</a:t>
            </a:r>
          </a:p>
        </p:txBody>
      </p:sp>
      <p:sp>
        <p:nvSpPr>
          <p:cNvPr name="AutoShape 3" id="3"/>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6753451" y="0"/>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6" id="6"/>
          <p:cNvGrpSpPr/>
          <p:nvPr/>
        </p:nvGrpSpPr>
        <p:grpSpPr>
          <a:xfrm rot="0">
            <a:off x="17386396" y="0"/>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8" id="8"/>
          <p:cNvGrpSpPr/>
          <p:nvPr/>
        </p:nvGrpSpPr>
        <p:grpSpPr>
          <a:xfrm rot="0">
            <a:off x="16379737" y="4584697"/>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10" id="10"/>
          <p:cNvGrpSpPr/>
          <p:nvPr/>
        </p:nvGrpSpPr>
        <p:grpSpPr>
          <a:xfrm rot="0">
            <a:off x="16982984" y="0"/>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2" id="12"/>
          <p:cNvGrpSpPr/>
          <p:nvPr/>
        </p:nvGrpSpPr>
        <p:grpSpPr>
          <a:xfrm rot="0">
            <a:off x="0" y="6019800"/>
            <a:ext cx="673103" cy="4267200"/>
            <a:chOff x="0" y="0"/>
            <a:chExt cx="897471" cy="5689600"/>
          </a:xfrm>
        </p:grpSpPr>
        <p:sp>
          <p:nvSpPr>
            <p:cNvPr name="Freeform 13" id="1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4" id="14"/>
          <p:cNvGrpSpPr/>
          <p:nvPr/>
        </p:nvGrpSpPr>
        <p:grpSpPr>
          <a:xfrm rot="0">
            <a:off x="1352779" y="1235452"/>
            <a:ext cx="14880637" cy="119355"/>
            <a:chOff x="0" y="0"/>
            <a:chExt cx="19840849" cy="159140"/>
          </a:xfrm>
        </p:grpSpPr>
        <p:sp>
          <p:nvSpPr>
            <p:cNvPr name="Freeform 15" id="15"/>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6" id="16"/>
          <p:cNvSpPr txBox="true"/>
          <p:nvPr/>
        </p:nvSpPr>
        <p:spPr>
          <a:xfrm rot="0">
            <a:off x="17476678" y="9467762"/>
            <a:ext cx="152425" cy="415265"/>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6</a:t>
            </a:r>
          </a:p>
        </p:txBody>
      </p:sp>
      <p:sp>
        <p:nvSpPr>
          <p:cNvPr name="TextBox 17" id="17"/>
          <p:cNvSpPr txBox="true"/>
          <p:nvPr/>
        </p:nvSpPr>
        <p:spPr>
          <a:xfrm rot="0">
            <a:off x="1166858" y="1851427"/>
            <a:ext cx="15954284" cy="7539544"/>
          </a:xfrm>
          <a:prstGeom prst="rect">
            <a:avLst/>
          </a:prstGeom>
        </p:spPr>
        <p:txBody>
          <a:bodyPr anchor="t" rtlCol="false" tIns="0" lIns="0" bIns="0" rIns="0">
            <a:spAutoFit/>
          </a:bodyPr>
          <a:lstStyle/>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TPM-based r</a:t>
            </a:r>
            <a:r>
              <a:rPr lang="en-US" sz="2400">
                <a:solidFill>
                  <a:srgbClr val="000000"/>
                </a:solidFill>
                <a:latin typeface="Times New Roman"/>
                <a:ea typeface="Times New Roman"/>
                <a:cs typeface="Times New Roman"/>
                <a:sym typeface="Times New Roman"/>
              </a:rPr>
              <a:t>emote attestation verifies the integrity of the platform and software stack at boot or deployment. It gives strong initial trust guarantees, but only for the moment at which it is performed.</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Attestation is a point-in-time check, and the resulting trust is assumed to hold afterwards. Any change made to the agent or its environment after verification goes undetected.</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Runtime integrity monitoring solutions mainly target traditional workloads such as servers and applications. They are not designed for autonomous AI agents whose actions are dynamic and unpredictable.</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Modern AI agents operate with high privileges, including file operations, network communication and system-level command execution. A compr</a:t>
            </a:r>
            <a:r>
              <a:rPr lang="en-US" sz="2400">
                <a:solidFill>
                  <a:srgbClr val="000000"/>
                </a:solidFill>
                <a:latin typeface="Times New Roman"/>
                <a:ea typeface="Times New Roman"/>
                <a:cs typeface="Times New Roman"/>
                <a:sym typeface="Times New Roman"/>
              </a:rPr>
              <a:t>omised or mi</a:t>
            </a:r>
            <a:r>
              <a:rPr lang="en-US" sz="2400">
                <a:solidFill>
                  <a:srgbClr val="000000"/>
                </a:solidFill>
                <a:latin typeface="Times New Roman"/>
                <a:ea typeface="Times New Roman"/>
                <a:cs typeface="Times New Roman"/>
                <a:sym typeface="Times New Roman"/>
              </a:rPr>
              <a:t>sconfigured agent can therefore cause significant damage.</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No standard mechanism exists to verify an agent’s integrity or authorize its individual actions while it </a:t>
            </a:r>
            <a:r>
              <a:rPr lang="en-US" sz="2400">
                <a:solidFill>
                  <a:srgbClr val="000000"/>
                </a:solidFill>
                <a:latin typeface="Times New Roman"/>
                <a:ea typeface="Times New Roman"/>
                <a:cs typeface="Times New Roman"/>
                <a:sym typeface="Times New Roman"/>
              </a:rPr>
              <a:t>i</a:t>
            </a:r>
            <a:r>
              <a:rPr lang="en-US" sz="2400">
                <a:solidFill>
                  <a:srgbClr val="000000"/>
                </a:solidFill>
                <a:latin typeface="Times New Roman"/>
                <a:ea typeface="Times New Roman"/>
                <a:cs typeface="Times New Roman"/>
                <a:sym typeface="Times New Roman"/>
              </a:rPr>
              <a:t>s running. A misaligned or manipulated agent can act without detection.</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Hardware attestation, policy enforcement and human approval are studied separately in existing work. No single framework combines them into a continuous runtime security control loop for AI agents.</a:t>
            </a:r>
          </a:p>
          <a:p>
            <a:pPr algn="just">
              <a:lnSpc>
                <a:spcPts val="3359"/>
              </a:lnSpc>
            </a:pP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661472" y="297180"/>
            <a:ext cx="4965055" cy="73152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PROPOSED SYSTEM</a:t>
            </a:r>
          </a:p>
        </p:txBody>
      </p:sp>
      <p:sp>
        <p:nvSpPr>
          <p:cNvPr name="TextBox 3" id="3"/>
          <p:cNvSpPr txBox="true"/>
          <p:nvPr/>
        </p:nvSpPr>
        <p:spPr>
          <a:xfrm rot="0">
            <a:off x="1169891" y="1744892"/>
            <a:ext cx="15813093" cy="7958619"/>
          </a:xfrm>
          <a:prstGeom prst="rect">
            <a:avLst/>
          </a:prstGeom>
        </p:spPr>
        <p:txBody>
          <a:bodyPr anchor="t" rtlCol="false" tIns="0" lIns="0" bIns="0" rIns="0">
            <a:spAutoFit/>
          </a:bodyPr>
          <a:lstStyle/>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TrustEdge is a TPM-based security framew</a:t>
            </a:r>
            <a:r>
              <a:rPr lang="en-US" sz="2400">
                <a:solidFill>
                  <a:srgbClr val="000000"/>
                </a:solidFill>
                <a:latin typeface="Times New Roman"/>
                <a:ea typeface="Times New Roman"/>
                <a:cs typeface="Times New Roman"/>
                <a:sym typeface="Times New Roman"/>
              </a:rPr>
              <a:t>ork that intercepts every action an AI agent attempts to perform. No action reaches the system without passing through the framework first.</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Each intercepted action is evaluated against a security policy and verified through a TPM quote. This confirms both that the action is permitted and that the platform is in a trusted state.</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A human gives final approval for each action, and the agent cannot bypass or approve its own actions. This keeps authority over execution outside the agent’s control.</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The system is deployed with Docker Compose as four separate containers: the agent with its local Ollama model, a software TPM emulator, the mediator holding the interceptor, policy engine and verifier, and an isolated sandbox. Separating these roles prevents the agent from tampering with the components that verify it.</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Approved actions run only inside an isolated desktop sandbox, which can be observed through a browser. This limits the impact of any action even after it has been approved.</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A decision log and audit dashboard record every action, policy decision and approval for later review. Live views of TPM PCR values, GPU usage and sandbox activity support monitoring during operation.</a:t>
            </a:r>
          </a:p>
          <a:p>
            <a:pPr algn="just">
              <a:lnSpc>
                <a:spcPts val="3359"/>
              </a:lnSpc>
            </a:pPr>
          </a:p>
        </p:txBody>
      </p:sp>
      <p:sp>
        <p:nvSpPr>
          <p:cNvPr name="AutoShape 4" id="4"/>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5" id="5"/>
          <p:cNvGrpSpPr/>
          <p:nvPr/>
        </p:nvGrpSpPr>
        <p:grpSpPr>
          <a:xfrm rot="0">
            <a:off x="16753451" y="0"/>
            <a:ext cx="4511021" cy="10299697"/>
            <a:chOff x="0" y="0"/>
            <a:chExt cx="6014695" cy="13732929"/>
          </a:xfrm>
        </p:grpSpPr>
        <p:sp>
          <p:nvSpPr>
            <p:cNvPr name="Freeform 6" id="6"/>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7" id="7"/>
          <p:cNvGrpSpPr/>
          <p:nvPr/>
        </p:nvGrpSpPr>
        <p:grpSpPr>
          <a:xfrm rot="0">
            <a:off x="17386396" y="0"/>
            <a:ext cx="3882838" cy="10299697"/>
            <a:chOff x="0" y="0"/>
            <a:chExt cx="5177117" cy="13732929"/>
          </a:xfrm>
        </p:grpSpPr>
        <p:sp>
          <p:nvSpPr>
            <p:cNvPr name="Freeform 8" id="8"/>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9" id="9"/>
          <p:cNvGrpSpPr/>
          <p:nvPr/>
        </p:nvGrpSpPr>
        <p:grpSpPr>
          <a:xfrm rot="0">
            <a:off x="16379737" y="4584697"/>
            <a:ext cx="4889497" cy="5715000"/>
            <a:chOff x="0" y="0"/>
            <a:chExt cx="6519329" cy="7620000"/>
          </a:xfrm>
        </p:grpSpPr>
        <p:sp>
          <p:nvSpPr>
            <p:cNvPr name="Freeform 10" id="10"/>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11" id="11"/>
          <p:cNvGrpSpPr/>
          <p:nvPr/>
        </p:nvGrpSpPr>
        <p:grpSpPr>
          <a:xfrm rot="0">
            <a:off x="16982984" y="0"/>
            <a:ext cx="4281488" cy="10299697"/>
            <a:chOff x="0" y="0"/>
            <a:chExt cx="5708650" cy="13732929"/>
          </a:xfrm>
        </p:grpSpPr>
        <p:sp>
          <p:nvSpPr>
            <p:cNvPr name="Freeform 12" id="12"/>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3" id="13"/>
          <p:cNvGrpSpPr/>
          <p:nvPr/>
        </p:nvGrpSpPr>
        <p:grpSpPr>
          <a:xfrm rot="0">
            <a:off x="0" y="6019800"/>
            <a:ext cx="673103" cy="4267200"/>
            <a:chOff x="0" y="0"/>
            <a:chExt cx="897471" cy="5689600"/>
          </a:xfrm>
        </p:grpSpPr>
        <p:sp>
          <p:nvSpPr>
            <p:cNvPr name="Freeform 14" id="14"/>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5" id="15"/>
          <p:cNvGrpSpPr/>
          <p:nvPr/>
        </p:nvGrpSpPr>
        <p:grpSpPr>
          <a:xfrm rot="0">
            <a:off x="1352779" y="1235452"/>
            <a:ext cx="14880637" cy="119355"/>
            <a:chOff x="0" y="0"/>
            <a:chExt cx="19840849" cy="159140"/>
          </a:xfrm>
        </p:grpSpPr>
        <p:sp>
          <p:nvSpPr>
            <p:cNvPr name="Freeform 16" id="16"/>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7" id="17"/>
          <p:cNvSpPr txBox="true"/>
          <p:nvPr/>
        </p:nvSpPr>
        <p:spPr>
          <a:xfrm rot="0">
            <a:off x="17476678" y="9467762"/>
            <a:ext cx="152425" cy="415265"/>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7</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965552" y="297180"/>
            <a:ext cx="6356896" cy="73152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SYSTEM REQUIREMENTS</a:t>
            </a:r>
          </a:p>
        </p:txBody>
      </p:sp>
      <p:sp>
        <p:nvSpPr>
          <p:cNvPr name="AutoShape 3" id="3"/>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6753451" y="0"/>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6" id="6"/>
          <p:cNvGrpSpPr/>
          <p:nvPr/>
        </p:nvGrpSpPr>
        <p:grpSpPr>
          <a:xfrm rot="0">
            <a:off x="17386396" y="0"/>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8" id="8"/>
          <p:cNvGrpSpPr/>
          <p:nvPr/>
        </p:nvGrpSpPr>
        <p:grpSpPr>
          <a:xfrm rot="0">
            <a:off x="16379737" y="4584697"/>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10" id="10"/>
          <p:cNvGrpSpPr/>
          <p:nvPr/>
        </p:nvGrpSpPr>
        <p:grpSpPr>
          <a:xfrm rot="0">
            <a:off x="16982984" y="0"/>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2" id="12"/>
          <p:cNvGrpSpPr/>
          <p:nvPr/>
        </p:nvGrpSpPr>
        <p:grpSpPr>
          <a:xfrm rot="0">
            <a:off x="0" y="6019800"/>
            <a:ext cx="673103" cy="4267200"/>
            <a:chOff x="0" y="0"/>
            <a:chExt cx="897471" cy="5689600"/>
          </a:xfrm>
        </p:grpSpPr>
        <p:sp>
          <p:nvSpPr>
            <p:cNvPr name="Freeform 13" id="1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4" id="14"/>
          <p:cNvGrpSpPr/>
          <p:nvPr/>
        </p:nvGrpSpPr>
        <p:grpSpPr>
          <a:xfrm rot="0">
            <a:off x="1352779" y="1235452"/>
            <a:ext cx="14880637" cy="119355"/>
            <a:chOff x="0" y="0"/>
            <a:chExt cx="19840849" cy="159140"/>
          </a:xfrm>
        </p:grpSpPr>
        <p:sp>
          <p:nvSpPr>
            <p:cNvPr name="Freeform 15" id="15"/>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6" id="16"/>
          <p:cNvSpPr txBox="true"/>
          <p:nvPr/>
        </p:nvSpPr>
        <p:spPr>
          <a:xfrm rot="0">
            <a:off x="17476678" y="9467762"/>
            <a:ext cx="152425" cy="415265"/>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8</a:t>
            </a:r>
          </a:p>
        </p:txBody>
      </p:sp>
      <p:sp>
        <p:nvSpPr>
          <p:cNvPr name="TextBox 17" id="17"/>
          <p:cNvSpPr txBox="true"/>
          <p:nvPr/>
        </p:nvSpPr>
        <p:spPr>
          <a:xfrm rot="0">
            <a:off x="1352779" y="1696443"/>
            <a:ext cx="15026958" cy="7958619"/>
          </a:xfrm>
          <a:prstGeom prst="rect">
            <a:avLst/>
          </a:prstGeom>
        </p:spPr>
        <p:txBody>
          <a:bodyPr anchor="t" rtlCol="false" tIns="0" lIns="0" bIns="0" rIns="0">
            <a:spAutoFit/>
          </a:bodyPr>
          <a:lstStyle/>
          <a:p>
            <a:pPr algn="l">
              <a:lnSpc>
                <a:spcPts val="3359"/>
              </a:lnSpc>
            </a:pPr>
            <a:r>
              <a:rPr lang="en-US" b="true" sz="2400">
                <a:solidFill>
                  <a:srgbClr val="000000"/>
                </a:solidFill>
                <a:latin typeface="Times New Roman Bold"/>
                <a:ea typeface="Times New Roman Bold"/>
                <a:cs typeface="Times New Roman Bold"/>
                <a:sym typeface="Times New Roman Bold"/>
              </a:rPr>
              <a:t>Hardware</a:t>
            </a:r>
            <a:r>
              <a:rPr lang="en-US" sz="2400">
                <a:solidFill>
                  <a:srgbClr val="000000"/>
                </a:solidFill>
                <a:latin typeface="Times New Roman"/>
                <a:ea typeface="Times New Roman"/>
                <a:cs typeface="Times New Roman"/>
                <a:sym typeface="Times New Roman"/>
              </a:rPr>
              <a:t>:</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Development Workstation: Lenovo LOQ 15IRX9</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CPU: Intel Core i7-14700HX </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GPU: NVIDIA GeForce RTX 4060 </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RAM: 16 GB</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Storage: 1 TB SSD </a:t>
            </a:r>
          </a:p>
          <a:p>
            <a:pPr algn="l">
              <a:lnSpc>
                <a:spcPts val="3359"/>
              </a:lnSpc>
            </a:pPr>
          </a:p>
          <a:p>
            <a:pPr algn="l">
              <a:lnSpc>
                <a:spcPts val="3359"/>
              </a:lnSpc>
            </a:pPr>
            <a:r>
              <a:rPr lang="en-US" b="true" sz="2400">
                <a:solidFill>
                  <a:srgbClr val="000000"/>
                </a:solidFill>
                <a:latin typeface="Times New Roman Bold"/>
                <a:ea typeface="Times New Roman Bold"/>
                <a:cs typeface="Times New Roman Bold"/>
                <a:sym typeface="Times New Roman Bold"/>
              </a:rPr>
              <a:t>Software</a:t>
            </a:r>
            <a:r>
              <a:rPr lang="en-US" sz="2400">
                <a:solidFill>
                  <a:srgbClr val="000000"/>
                </a:solidFill>
                <a:latin typeface="Times New Roman"/>
                <a:ea typeface="Times New Roman"/>
                <a:cs typeface="Times New Roman"/>
                <a:sym typeface="Times New Roman"/>
              </a:rPr>
              <a:t>:</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OS: Arch Linux</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Window Manager: Hyprland</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Containerization: Dockerd + Docker-Compose.</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TPM Emulation: swtpm-arch docker</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AI Runtime: Ollama - Qwen2.5:7b</a:t>
            </a:r>
          </a:p>
          <a:p>
            <a:pPr algn="l">
              <a:lnSpc>
                <a:spcPts val="3359"/>
              </a:lnSpc>
            </a:pPr>
          </a:p>
          <a:p>
            <a:pPr algn="l">
              <a:lnSpc>
                <a:spcPts val="3359"/>
              </a:lnSpc>
            </a:pPr>
            <a:r>
              <a:rPr lang="en-US" b="true" sz="2400">
                <a:solidFill>
                  <a:srgbClr val="000000"/>
                </a:solidFill>
                <a:latin typeface="Times New Roman Bold"/>
                <a:ea typeface="Times New Roman Bold"/>
                <a:cs typeface="Times New Roman Bold"/>
                <a:sym typeface="Times New Roman Bold"/>
              </a:rPr>
              <a:t>Languages</a:t>
            </a:r>
            <a:r>
              <a:rPr lang="en-US" sz="2400">
                <a:solidFill>
                  <a:srgbClr val="000000"/>
                </a:solidFill>
                <a:latin typeface="Times New Roman"/>
                <a:ea typeface="Times New Roman"/>
                <a:cs typeface="Times New Roman"/>
                <a:sym typeface="Times New Roman"/>
              </a:rPr>
              <a:t>: </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Python, Bash Shell, Dockerfile, YAML.</a:t>
            </a:r>
          </a:p>
          <a:p>
            <a:pPr algn="l">
              <a:lnSpc>
                <a:spcPts val="3359"/>
              </a:lnSpc>
            </a:pPr>
          </a:p>
          <a:p>
            <a:pPr algn="l">
              <a:lnSpc>
                <a:spcPts val="3359"/>
              </a:lnSpc>
            </a:pPr>
            <a:r>
              <a:rPr lang="en-US" b="true" sz="2400">
                <a:solidFill>
                  <a:srgbClr val="000000"/>
                </a:solidFill>
                <a:latin typeface="Times New Roman Bold"/>
                <a:ea typeface="Times New Roman Bold"/>
                <a:cs typeface="Times New Roman Bold"/>
                <a:sym typeface="Times New Roman Bold"/>
              </a:rPr>
              <a:t>Tools</a:t>
            </a:r>
            <a:r>
              <a:rPr lang="en-US" sz="2400">
                <a:solidFill>
                  <a:srgbClr val="000000"/>
                </a:solidFill>
                <a:latin typeface="Times New Roman"/>
                <a:ea typeface="Times New Roman"/>
                <a:cs typeface="Times New Roman"/>
                <a:sym typeface="Times New Roman"/>
              </a:rPr>
              <a:t>:</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git, tpm2-tools, tpm2-tss, btop, nvidia-smi, nvidia-container-toolkit, dockerd , docker-compose, glow, novnc, eza.</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6186622" y="5819196"/>
            <a:ext cx="7159602" cy="4779195"/>
          </a:xfrm>
          <a:prstGeom prst="line">
            <a:avLst/>
          </a:prstGeom>
          <a:ln cap="rnd" w="9525">
            <a:solidFill>
              <a:srgbClr val="FFFFFF"/>
            </a:solidFill>
            <a:prstDash val="solid"/>
            <a:headEnd type="none" len="sm" w="sm"/>
            <a:tailEnd type="none" len="sm" w="sm"/>
          </a:ln>
        </p:spPr>
      </p:sp>
      <p:grpSp>
        <p:nvGrpSpPr>
          <p:cNvPr name="Group 3" id="3"/>
          <p:cNvGrpSpPr/>
          <p:nvPr/>
        </p:nvGrpSpPr>
        <p:grpSpPr>
          <a:xfrm rot="0">
            <a:off x="16704013" y="0"/>
            <a:ext cx="4511021" cy="10299697"/>
            <a:chOff x="0" y="0"/>
            <a:chExt cx="6014695" cy="13732929"/>
          </a:xfrm>
        </p:grpSpPr>
        <p:sp>
          <p:nvSpPr>
            <p:cNvPr name="Freeform 4" id="4"/>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5" id="5"/>
          <p:cNvGrpSpPr/>
          <p:nvPr/>
        </p:nvGrpSpPr>
        <p:grpSpPr>
          <a:xfrm rot="0">
            <a:off x="17336958" y="0"/>
            <a:ext cx="3882838" cy="10299697"/>
            <a:chOff x="0" y="0"/>
            <a:chExt cx="5177117" cy="13732929"/>
          </a:xfrm>
        </p:grpSpPr>
        <p:sp>
          <p:nvSpPr>
            <p:cNvPr name="Freeform 6" id="6"/>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7" id="7"/>
          <p:cNvGrpSpPr/>
          <p:nvPr/>
        </p:nvGrpSpPr>
        <p:grpSpPr>
          <a:xfrm rot="0">
            <a:off x="16330299" y="4584697"/>
            <a:ext cx="4889497" cy="5715000"/>
            <a:chOff x="0" y="0"/>
            <a:chExt cx="6519329" cy="7620000"/>
          </a:xfrm>
        </p:grpSpPr>
        <p:sp>
          <p:nvSpPr>
            <p:cNvPr name="Freeform 8" id="8"/>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9" id="9"/>
          <p:cNvGrpSpPr/>
          <p:nvPr/>
        </p:nvGrpSpPr>
        <p:grpSpPr>
          <a:xfrm rot="0">
            <a:off x="16933546" y="0"/>
            <a:ext cx="4281488" cy="10299697"/>
            <a:chOff x="0" y="0"/>
            <a:chExt cx="5708650" cy="13732929"/>
          </a:xfrm>
        </p:grpSpPr>
        <p:sp>
          <p:nvSpPr>
            <p:cNvPr name="Freeform 10" id="10"/>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1" id="11"/>
          <p:cNvGrpSpPr/>
          <p:nvPr/>
        </p:nvGrpSpPr>
        <p:grpSpPr>
          <a:xfrm rot="0">
            <a:off x="0" y="6019800"/>
            <a:ext cx="673103" cy="4267200"/>
            <a:chOff x="0" y="0"/>
            <a:chExt cx="897471" cy="5689600"/>
          </a:xfrm>
        </p:grpSpPr>
        <p:sp>
          <p:nvSpPr>
            <p:cNvPr name="Freeform 12" id="12"/>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3" id="13"/>
          <p:cNvGrpSpPr/>
          <p:nvPr/>
        </p:nvGrpSpPr>
        <p:grpSpPr>
          <a:xfrm rot="0">
            <a:off x="1449662" y="1247171"/>
            <a:ext cx="14880637" cy="119355"/>
            <a:chOff x="0" y="0"/>
            <a:chExt cx="19840849" cy="159140"/>
          </a:xfrm>
        </p:grpSpPr>
        <p:sp>
          <p:nvSpPr>
            <p:cNvPr name="Freeform 14" id="14"/>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grpSp>
        <p:nvGrpSpPr>
          <p:cNvPr name="Group 15" id="15"/>
          <p:cNvGrpSpPr/>
          <p:nvPr/>
        </p:nvGrpSpPr>
        <p:grpSpPr>
          <a:xfrm rot="0">
            <a:off x="865553" y="1584997"/>
            <a:ext cx="16471405" cy="8021742"/>
            <a:chOff x="0" y="0"/>
            <a:chExt cx="4338148" cy="2112722"/>
          </a:xfrm>
        </p:grpSpPr>
        <p:sp>
          <p:nvSpPr>
            <p:cNvPr name="Freeform 16" id="16"/>
            <p:cNvSpPr/>
            <p:nvPr/>
          </p:nvSpPr>
          <p:spPr>
            <a:xfrm flipH="false" flipV="false" rot="0">
              <a:off x="0" y="0"/>
              <a:ext cx="4338148" cy="2112722"/>
            </a:xfrm>
            <a:custGeom>
              <a:avLst/>
              <a:gdLst/>
              <a:ahLst/>
              <a:cxnLst/>
              <a:rect r="r" b="b" t="t" l="l"/>
              <a:pathLst>
                <a:path h="2112722" w="4338148">
                  <a:moveTo>
                    <a:pt x="0" y="0"/>
                  </a:moveTo>
                  <a:lnTo>
                    <a:pt x="4338148" y="0"/>
                  </a:lnTo>
                  <a:lnTo>
                    <a:pt x="4338148" y="2112722"/>
                  </a:lnTo>
                  <a:lnTo>
                    <a:pt x="0" y="2112722"/>
                  </a:lnTo>
                  <a:close/>
                </a:path>
              </a:pathLst>
            </a:custGeom>
            <a:solidFill>
              <a:srgbClr val="FFFFFF"/>
            </a:solidFill>
          </p:spPr>
        </p:sp>
        <p:sp>
          <p:nvSpPr>
            <p:cNvPr name="TextBox 17" id="17"/>
            <p:cNvSpPr txBox="true"/>
            <p:nvPr/>
          </p:nvSpPr>
          <p:spPr>
            <a:xfrm>
              <a:off x="0" y="-38100"/>
              <a:ext cx="4338148" cy="2150822"/>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4114515" y="2780470"/>
            <a:ext cx="1168179" cy="586991"/>
            <a:chOff x="0" y="0"/>
            <a:chExt cx="307669" cy="154599"/>
          </a:xfrm>
        </p:grpSpPr>
        <p:sp>
          <p:nvSpPr>
            <p:cNvPr name="Freeform 19" id="19"/>
            <p:cNvSpPr/>
            <p:nvPr/>
          </p:nvSpPr>
          <p:spPr>
            <a:xfrm flipH="false" flipV="false" rot="0">
              <a:off x="0" y="0"/>
              <a:ext cx="307669" cy="154599"/>
            </a:xfrm>
            <a:custGeom>
              <a:avLst/>
              <a:gdLst/>
              <a:ahLst/>
              <a:cxnLst/>
              <a:rect r="r" b="b" t="t" l="l"/>
              <a:pathLst>
                <a:path h="154599" w="307669">
                  <a:moveTo>
                    <a:pt x="39764" y="0"/>
                  </a:moveTo>
                  <a:lnTo>
                    <a:pt x="267905" y="0"/>
                  </a:lnTo>
                  <a:cubicBezTo>
                    <a:pt x="289866" y="0"/>
                    <a:pt x="307669" y="17803"/>
                    <a:pt x="307669" y="39764"/>
                  </a:cubicBezTo>
                  <a:lnTo>
                    <a:pt x="307669" y="114835"/>
                  </a:lnTo>
                  <a:cubicBezTo>
                    <a:pt x="307669" y="136796"/>
                    <a:pt x="289866" y="154599"/>
                    <a:pt x="267905" y="154599"/>
                  </a:cubicBezTo>
                  <a:lnTo>
                    <a:pt x="39764" y="154599"/>
                  </a:lnTo>
                  <a:cubicBezTo>
                    <a:pt x="29218" y="154599"/>
                    <a:pt x="19104" y="150409"/>
                    <a:pt x="11647" y="142952"/>
                  </a:cubicBezTo>
                  <a:cubicBezTo>
                    <a:pt x="4189" y="135495"/>
                    <a:pt x="0" y="125381"/>
                    <a:pt x="0" y="114835"/>
                  </a:cubicBezTo>
                  <a:lnTo>
                    <a:pt x="0" y="39764"/>
                  </a:lnTo>
                  <a:cubicBezTo>
                    <a:pt x="0" y="29218"/>
                    <a:pt x="4189" y="19104"/>
                    <a:pt x="11647" y="11647"/>
                  </a:cubicBezTo>
                  <a:cubicBezTo>
                    <a:pt x="19104" y="4189"/>
                    <a:pt x="29218" y="0"/>
                    <a:pt x="39764" y="0"/>
                  </a:cubicBezTo>
                  <a:close/>
                </a:path>
              </a:pathLst>
            </a:custGeom>
            <a:solidFill>
              <a:srgbClr val="1B2B4B"/>
            </a:solidFill>
            <a:ln cap="sq">
              <a:noFill/>
              <a:prstDash val="solid"/>
              <a:miter/>
            </a:ln>
          </p:spPr>
        </p:sp>
        <p:sp>
          <p:nvSpPr>
            <p:cNvPr name="TextBox 20" id="20"/>
            <p:cNvSpPr txBox="true"/>
            <p:nvPr/>
          </p:nvSpPr>
          <p:spPr>
            <a:xfrm>
              <a:off x="0" y="-57150"/>
              <a:ext cx="307669" cy="211749"/>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4114515" y="3746534"/>
            <a:ext cx="2640522" cy="625737"/>
            <a:chOff x="0" y="0"/>
            <a:chExt cx="695446" cy="164803"/>
          </a:xfrm>
        </p:grpSpPr>
        <p:sp>
          <p:nvSpPr>
            <p:cNvPr name="Freeform 22" id="22"/>
            <p:cNvSpPr/>
            <p:nvPr/>
          </p:nvSpPr>
          <p:spPr>
            <a:xfrm flipH="false" flipV="false" rot="0">
              <a:off x="0" y="0"/>
              <a:ext cx="695446" cy="164803"/>
            </a:xfrm>
            <a:custGeom>
              <a:avLst/>
              <a:gdLst/>
              <a:ahLst/>
              <a:cxnLst/>
              <a:rect r="r" b="b" t="t" l="l"/>
              <a:pathLst>
                <a:path h="164803" w="695446">
                  <a:moveTo>
                    <a:pt x="17592" y="0"/>
                  </a:moveTo>
                  <a:lnTo>
                    <a:pt x="677854" y="0"/>
                  </a:lnTo>
                  <a:cubicBezTo>
                    <a:pt x="682520" y="0"/>
                    <a:pt x="686995" y="1853"/>
                    <a:pt x="690294" y="5153"/>
                  </a:cubicBezTo>
                  <a:cubicBezTo>
                    <a:pt x="693593" y="8452"/>
                    <a:pt x="695446" y="12926"/>
                    <a:pt x="695446" y="17592"/>
                  </a:cubicBezTo>
                  <a:lnTo>
                    <a:pt x="695446" y="147211"/>
                  </a:lnTo>
                  <a:cubicBezTo>
                    <a:pt x="695446" y="156927"/>
                    <a:pt x="687570" y="164803"/>
                    <a:pt x="677854" y="164803"/>
                  </a:cubicBezTo>
                  <a:lnTo>
                    <a:pt x="17592" y="164803"/>
                  </a:lnTo>
                  <a:cubicBezTo>
                    <a:pt x="12926" y="164803"/>
                    <a:pt x="8452" y="162950"/>
                    <a:pt x="5153" y="159651"/>
                  </a:cubicBezTo>
                  <a:cubicBezTo>
                    <a:pt x="1853" y="156352"/>
                    <a:pt x="0" y="151877"/>
                    <a:pt x="0" y="147211"/>
                  </a:cubicBezTo>
                  <a:lnTo>
                    <a:pt x="0" y="17592"/>
                  </a:lnTo>
                  <a:cubicBezTo>
                    <a:pt x="0" y="12926"/>
                    <a:pt x="1853" y="8452"/>
                    <a:pt x="5153" y="5153"/>
                  </a:cubicBezTo>
                  <a:cubicBezTo>
                    <a:pt x="8452" y="1853"/>
                    <a:pt x="12926" y="0"/>
                    <a:pt x="17592" y="0"/>
                  </a:cubicBezTo>
                  <a:close/>
                </a:path>
              </a:pathLst>
            </a:custGeom>
            <a:solidFill>
              <a:srgbClr val="1B2B4B"/>
            </a:solidFill>
            <a:ln cap="sq">
              <a:noFill/>
              <a:prstDash val="solid"/>
              <a:miter/>
            </a:ln>
          </p:spPr>
        </p:sp>
        <p:sp>
          <p:nvSpPr>
            <p:cNvPr name="TextBox 23" id="23"/>
            <p:cNvSpPr txBox="true"/>
            <p:nvPr/>
          </p:nvSpPr>
          <p:spPr>
            <a:xfrm>
              <a:off x="0" y="-57150"/>
              <a:ext cx="695446" cy="221953"/>
            </a:xfrm>
            <a:prstGeom prst="rect">
              <a:avLst/>
            </a:prstGeom>
          </p:spPr>
          <p:txBody>
            <a:bodyPr anchor="ctr" rtlCol="false" tIns="50800" lIns="50800" bIns="50800" rIns="50800"/>
            <a:lstStyle/>
            <a:p>
              <a:pPr algn="ctr">
                <a:lnSpc>
                  <a:spcPts val="3359"/>
                </a:lnSpc>
              </a:pPr>
            </a:p>
          </p:txBody>
        </p:sp>
      </p:grpSp>
      <p:grpSp>
        <p:nvGrpSpPr>
          <p:cNvPr name="Group 24" id="24"/>
          <p:cNvGrpSpPr/>
          <p:nvPr/>
        </p:nvGrpSpPr>
        <p:grpSpPr>
          <a:xfrm rot="0">
            <a:off x="5595531" y="4769372"/>
            <a:ext cx="2640522" cy="625737"/>
            <a:chOff x="0" y="0"/>
            <a:chExt cx="695446" cy="164803"/>
          </a:xfrm>
        </p:grpSpPr>
        <p:sp>
          <p:nvSpPr>
            <p:cNvPr name="Freeform 25" id="25"/>
            <p:cNvSpPr/>
            <p:nvPr/>
          </p:nvSpPr>
          <p:spPr>
            <a:xfrm flipH="false" flipV="false" rot="0">
              <a:off x="0" y="0"/>
              <a:ext cx="695446" cy="164803"/>
            </a:xfrm>
            <a:custGeom>
              <a:avLst/>
              <a:gdLst/>
              <a:ahLst/>
              <a:cxnLst/>
              <a:rect r="r" b="b" t="t" l="l"/>
              <a:pathLst>
                <a:path h="164803" w="695446">
                  <a:moveTo>
                    <a:pt x="17592" y="0"/>
                  </a:moveTo>
                  <a:lnTo>
                    <a:pt x="677854" y="0"/>
                  </a:lnTo>
                  <a:cubicBezTo>
                    <a:pt x="682520" y="0"/>
                    <a:pt x="686995" y="1853"/>
                    <a:pt x="690294" y="5153"/>
                  </a:cubicBezTo>
                  <a:cubicBezTo>
                    <a:pt x="693593" y="8452"/>
                    <a:pt x="695446" y="12926"/>
                    <a:pt x="695446" y="17592"/>
                  </a:cubicBezTo>
                  <a:lnTo>
                    <a:pt x="695446" y="147211"/>
                  </a:lnTo>
                  <a:cubicBezTo>
                    <a:pt x="695446" y="156927"/>
                    <a:pt x="687570" y="164803"/>
                    <a:pt x="677854" y="164803"/>
                  </a:cubicBezTo>
                  <a:lnTo>
                    <a:pt x="17592" y="164803"/>
                  </a:lnTo>
                  <a:cubicBezTo>
                    <a:pt x="12926" y="164803"/>
                    <a:pt x="8452" y="162950"/>
                    <a:pt x="5153" y="159651"/>
                  </a:cubicBezTo>
                  <a:cubicBezTo>
                    <a:pt x="1853" y="156352"/>
                    <a:pt x="0" y="151877"/>
                    <a:pt x="0" y="147211"/>
                  </a:cubicBezTo>
                  <a:lnTo>
                    <a:pt x="0" y="17592"/>
                  </a:lnTo>
                  <a:cubicBezTo>
                    <a:pt x="0" y="12926"/>
                    <a:pt x="1853" y="8452"/>
                    <a:pt x="5153" y="5153"/>
                  </a:cubicBezTo>
                  <a:cubicBezTo>
                    <a:pt x="8452" y="1853"/>
                    <a:pt x="12926" y="0"/>
                    <a:pt x="17592" y="0"/>
                  </a:cubicBezTo>
                  <a:close/>
                </a:path>
              </a:pathLst>
            </a:custGeom>
            <a:solidFill>
              <a:srgbClr val="1B2B4B"/>
            </a:solidFill>
            <a:ln cap="sq">
              <a:noFill/>
              <a:prstDash val="solid"/>
              <a:miter/>
            </a:ln>
          </p:spPr>
        </p:sp>
        <p:sp>
          <p:nvSpPr>
            <p:cNvPr name="TextBox 26" id="26"/>
            <p:cNvSpPr txBox="true"/>
            <p:nvPr/>
          </p:nvSpPr>
          <p:spPr>
            <a:xfrm>
              <a:off x="0" y="-57150"/>
              <a:ext cx="695446" cy="221953"/>
            </a:xfrm>
            <a:prstGeom prst="rect">
              <a:avLst/>
            </a:prstGeom>
          </p:spPr>
          <p:txBody>
            <a:bodyPr anchor="ctr" rtlCol="false" tIns="50800" lIns="50800" bIns="50800" rIns="50800"/>
            <a:lstStyle/>
            <a:p>
              <a:pPr algn="ctr">
                <a:lnSpc>
                  <a:spcPts val="3359"/>
                </a:lnSpc>
              </a:pPr>
            </a:p>
          </p:txBody>
        </p:sp>
      </p:grpSp>
      <p:grpSp>
        <p:nvGrpSpPr>
          <p:cNvPr name="Group 27" id="27"/>
          <p:cNvGrpSpPr/>
          <p:nvPr/>
        </p:nvGrpSpPr>
        <p:grpSpPr>
          <a:xfrm rot="0">
            <a:off x="7071651" y="5761637"/>
            <a:ext cx="2640522" cy="625737"/>
            <a:chOff x="0" y="0"/>
            <a:chExt cx="695446" cy="164803"/>
          </a:xfrm>
        </p:grpSpPr>
        <p:sp>
          <p:nvSpPr>
            <p:cNvPr name="Freeform 28" id="28"/>
            <p:cNvSpPr/>
            <p:nvPr/>
          </p:nvSpPr>
          <p:spPr>
            <a:xfrm flipH="false" flipV="false" rot="0">
              <a:off x="0" y="0"/>
              <a:ext cx="695446" cy="164803"/>
            </a:xfrm>
            <a:custGeom>
              <a:avLst/>
              <a:gdLst/>
              <a:ahLst/>
              <a:cxnLst/>
              <a:rect r="r" b="b" t="t" l="l"/>
              <a:pathLst>
                <a:path h="164803" w="695446">
                  <a:moveTo>
                    <a:pt x="17592" y="0"/>
                  </a:moveTo>
                  <a:lnTo>
                    <a:pt x="677854" y="0"/>
                  </a:lnTo>
                  <a:cubicBezTo>
                    <a:pt x="682520" y="0"/>
                    <a:pt x="686995" y="1853"/>
                    <a:pt x="690294" y="5153"/>
                  </a:cubicBezTo>
                  <a:cubicBezTo>
                    <a:pt x="693593" y="8452"/>
                    <a:pt x="695446" y="12926"/>
                    <a:pt x="695446" y="17592"/>
                  </a:cubicBezTo>
                  <a:lnTo>
                    <a:pt x="695446" y="147211"/>
                  </a:lnTo>
                  <a:cubicBezTo>
                    <a:pt x="695446" y="156927"/>
                    <a:pt x="687570" y="164803"/>
                    <a:pt x="677854" y="164803"/>
                  </a:cubicBezTo>
                  <a:lnTo>
                    <a:pt x="17592" y="164803"/>
                  </a:lnTo>
                  <a:cubicBezTo>
                    <a:pt x="12926" y="164803"/>
                    <a:pt x="8452" y="162950"/>
                    <a:pt x="5153" y="159651"/>
                  </a:cubicBezTo>
                  <a:cubicBezTo>
                    <a:pt x="1853" y="156352"/>
                    <a:pt x="0" y="151877"/>
                    <a:pt x="0" y="147211"/>
                  </a:cubicBezTo>
                  <a:lnTo>
                    <a:pt x="0" y="17592"/>
                  </a:lnTo>
                  <a:cubicBezTo>
                    <a:pt x="0" y="12926"/>
                    <a:pt x="1853" y="8452"/>
                    <a:pt x="5153" y="5153"/>
                  </a:cubicBezTo>
                  <a:cubicBezTo>
                    <a:pt x="8452" y="1853"/>
                    <a:pt x="12926" y="0"/>
                    <a:pt x="17592" y="0"/>
                  </a:cubicBezTo>
                  <a:close/>
                </a:path>
              </a:pathLst>
            </a:custGeom>
            <a:solidFill>
              <a:srgbClr val="1B2B4B"/>
            </a:solidFill>
            <a:ln cap="sq">
              <a:noFill/>
              <a:prstDash val="solid"/>
              <a:miter/>
            </a:ln>
          </p:spPr>
        </p:sp>
        <p:sp>
          <p:nvSpPr>
            <p:cNvPr name="TextBox 29" id="29"/>
            <p:cNvSpPr txBox="true"/>
            <p:nvPr/>
          </p:nvSpPr>
          <p:spPr>
            <a:xfrm>
              <a:off x="0" y="-57150"/>
              <a:ext cx="695446" cy="221953"/>
            </a:xfrm>
            <a:prstGeom prst="rect">
              <a:avLst/>
            </a:prstGeom>
          </p:spPr>
          <p:txBody>
            <a:bodyPr anchor="ctr" rtlCol="false" tIns="50800" lIns="50800" bIns="50800" rIns="50800"/>
            <a:lstStyle/>
            <a:p>
              <a:pPr algn="ctr">
                <a:lnSpc>
                  <a:spcPts val="3359"/>
                </a:lnSpc>
              </a:pPr>
            </a:p>
          </p:txBody>
        </p:sp>
      </p:grpSp>
      <p:grpSp>
        <p:nvGrpSpPr>
          <p:cNvPr name="Group 30" id="30"/>
          <p:cNvGrpSpPr/>
          <p:nvPr/>
        </p:nvGrpSpPr>
        <p:grpSpPr>
          <a:xfrm rot="0">
            <a:off x="8565390" y="6816460"/>
            <a:ext cx="5634237" cy="625737"/>
            <a:chOff x="0" y="0"/>
            <a:chExt cx="1483914" cy="164803"/>
          </a:xfrm>
        </p:grpSpPr>
        <p:sp>
          <p:nvSpPr>
            <p:cNvPr name="Freeform 31" id="31"/>
            <p:cNvSpPr/>
            <p:nvPr/>
          </p:nvSpPr>
          <p:spPr>
            <a:xfrm flipH="false" flipV="false" rot="0">
              <a:off x="0" y="0"/>
              <a:ext cx="1483914" cy="164803"/>
            </a:xfrm>
            <a:custGeom>
              <a:avLst/>
              <a:gdLst/>
              <a:ahLst/>
              <a:cxnLst/>
              <a:rect r="r" b="b" t="t" l="l"/>
              <a:pathLst>
                <a:path h="164803" w="1483914">
                  <a:moveTo>
                    <a:pt x="8245" y="0"/>
                  </a:moveTo>
                  <a:lnTo>
                    <a:pt x="1475670" y="0"/>
                  </a:lnTo>
                  <a:cubicBezTo>
                    <a:pt x="1480223" y="0"/>
                    <a:pt x="1483914" y="3691"/>
                    <a:pt x="1483914" y="8245"/>
                  </a:cubicBezTo>
                  <a:lnTo>
                    <a:pt x="1483914" y="156559"/>
                  </a:lnTo>
                  <a:cubicBezTo>
                    <a:pt x="1483914" y="161112"/>
                    <a:pt x="1480223" y="164803"/>
                    <a:pt x="1475670" y="164803"/>
                  </a:cubicBezTo>
                  <a:lnTo>
                    <a:pt x="8245" y="164803"/>
                  </a:lnTo>
                  <a:cubicBezTo>
                    <a:pt x="3691" y="164803"/>
                    <a:pt x="0" y="161112"/>
                    <a:pt x="0" y="156559"/>
                  </a:cubicBezTo>
                  <a:lnTo>
                    <a:pt x="0" y="8245"/>
                  </a:lnTo>
                  <a:cubicBezTo>
                    <a:pt x="0" y="3691"/>
                    <a:pt x="3691" y="0"/>
                    <a:pt x="8245" y="0"/>
                  </a:cubicBezTo>
                  <a:close/>
                </a:path>
              </a:pathLst>
            </a:custGeom>
            <a:solidFill>
              <a:srgbClr val="1B2B4B"/>
            </a:solidFill>
            <a:ln cap="sq">
              <a:noFill/>
              <a:prstDash val="solid"/>
              <a:miter/>
            </a:ln>
          </p:spPr>
        </p:sp>
        <p:sp>
          <p:nvSpPr>
            <p:cNvPr name="TextBox 32" id="32"/>
            <p:cNvSpPr txBox="true"/>
            <p:nvPr/>
          </p:nvSpPr>
          <p:spPr>
            <a:xfrm>
              <a:off x="0" y="-57150"/>
              <a:ext cx="1483914" cy="221953"/>
            </a:xfrm>
            <a:prstGeom prst="rect">
              <a:avLst/>
            </a:prstGeom>
          </p:spPr>
          <p:txBody>
            <a:bodyPr anchor="ctr" rtlCol="false" tIns="50800" lIns="50800" bIns="50800" rIns="50800"/>
            <a:lstStyle/>
            <a:p>
              <a:pPr algn="ctr">
                <a:lnSpc>
                  <a:spcPts val="3359"/>
                </a:lnSpc>
              </a:pPr>
            </a:p>
          </p:txBody>
        </p:sp>
      </p:grpSp>
      <p:grpSp>
        <p:nvGrpSpPr>
          <p:cNvPr name="Group 33" id="33"/>
          <p:cNvGrpSpPr/>
          <p:nvPr/>
        </p:nvGrpSpPr>
        <p:grpSpPr>
          <a:xfrm rot="0">
            <a:off x="13029170" y="7769383"/>
            <a:ext cx="2645259" cy="657759"/>
            <a:chOff x="0" y="0"/>
            <a:chExt cx="696694" cy="173237"/>
          </a:xfrm>
        </p:grpSpPr>
        <p:sp>
          <p:nvSpPr>
            <p:cNvPr name="Freeform 34" id="34"/>
            <p:cNvSpPr/>
            <p:nvPr/>
          </p:nvSpPr>
          <p:spPr>
            <a:xfrm flipH="false" flipV="false" rot="0">
              <a:off x="0" y="0"/>
              <a:ext cx="696694" cy="173237"/>
            </a:xfrm>
            <a:custGeom>
              <a:avLst/>
              <a:gdLst/>
              <a:ahLst/>
              <a:cxnLst/>
              <a:rect r="r" b="b" t="t" l="l"/>
              <a:pathLst>
                <a:path h="173237" w="696694">
                  <a:moveTo>
                    <a:pt x="17560" y="0"/>
                  </a:moveTo>
                  <a:lnTo>
                    <a:pt x="679133" y="0"/>
                  </a:lnTo>
                  <a:cubicBezTo>
                    <a:pt x="683791" y="0"/>
                    <a:pt x="688257" y="1850"/>
                    <a:pt x="691550" y="5143"/>
                  </a:cubicBezTo>
                  <a:cubicBezTo>
                    <a:pt x="694844" y="8436"/>
                    <a:pt x="696694" y="12903"/>
                    <a:pt x="696694" y="17560"/>
                  </a:cubicBezTo>
                  <a:lnTo>
                    <a:pt x="696694" y="155677"/>
                  </a:lnTo>
                  <a:cubicBezTo>
                    <a:pt x="696694" y="160334"/>
                    <a:pt x="694844" y="164800"/>
                    <a:pt x="691550" y="168094"/>
                  </a:cubicBezTo>
                  <a:cubicBezTo>
                    <a:pt x="688257" y="171387"/>
                    <a:pt x="683791" y="173237"/>
                    <a:pt x="679133" y="173237"/>
                  </a:cubicBezTo>
                  <a:lnTo>
                    <a:pt x="17560" y="173237"/>
                  </a:lnTo>
                  <a:cubicBezTo>
                    <a:pt x="12903" y="173237"/>
                    <a:pt x="8436" y="171387"/>
                    <a:pt x="5143" y="168094"/>
                  </a:cubicBezTo>
                  <a:cubicBezTo>
                    <a:pt x="1850" y="164800"/>
                    <a:pt x="0" y="160334"/>
                    <a:pt x="0" y="155677"/>
                  </a:cubicBezTo>
                  <a:lnTo>
                    <a:pt x="0" y="17560"/>
                  </a:lnTo>
                  <a:cubicBezTo>
                    <a:pt x="0" y="12903"/>
                    <a:pt x="1850" y="8436"/>
                    <a:pt x="5143" y="5143"/>
                  </a:cubicBezTo>
                  <a:cubicBezTo>
                    <a:pt x="8436" y="1850"/>
                    <a:pt x="12903" y="0"/>
                    <a:pt x="17560" y="0"/>
                  </a:cubicBezTo>
                  <a:close/>
                </a:path>
              </a:pathLst>
            </a:custGeom>
            <a:solidFill>
              <a:srgbClr val="1B2B4B"/>
            </a:solidFill>
            <a:ln cap="sq">
              <a:noFill/>
              <a:prstDash val="solid"/>
              <a:miter/>
            </a:ln>
          </p:spPr>
        </p:sp>
        <p:sp>
          <p:nvSpPr>
            <p:cNvPr name="TextBox 35" id="35"/>
            <p:cNvSpPr txBox="true"/>
            <p:nvPr/>
          </p:nvSpPr>
          <p:spPr>
            <a:xfrm>
              <a:off x="0" y="-57150"/>
              <a:ext cx="696694" cy="230387"/>
            </a:xfrm>
            <a:prstGeom prst="rect">
              <a:avLst/>
            </a:prstGeom>
          </p:spPr>
          <p:txBody>
            <a:bodyPr anchor="ctr" rtlCol="false" tIns="50800" lIns="50800" bIns="50800" rIns="50800"/>
            <a:lstStyle/>
            <a:p>
              <a:pPr algn="ctr">
                <a:lnSpc>
                  <a:spcPts val="3359"/>
                </a:lnSpc>
              </a:pPr>
            </a:p>
          </p:txBody>
        </p:sp>
      </p:grpSp>
      <p:grpSp>
        <p:nvGrpSpPr>
          <p:cNvPr name="Group 36" id="36"/>
          <p:cNvGrpSpPr/>
          <p:nvPr/>
        </p:nvGrpSpPr>
        <p:grpSpPr>
          <a:xfrm rot="0">
            <a:off x="14521324" y="8775692"/>
            <a:ext cx="2645259" cy="657759"/>
            <a:chOff x="0" y="0"/>
            <a:chExt cx="696694" cy="173237"/>
          </a:xfrm>
        </p:grpSpPr>
        <p:sp>
          <p:nvSpPr>
            <p:cNvPr name="Freeform 37" id="37"/>
            <p:cNvSpPr/>
            <p:nvPr/>
          </p:nvSpPr>
          <p:spPr>
            <a:xfrm flipH="false" flipV="false" rot="0">
              <a:off x="0" y="0"/>
              <a:ext cx="696694" cy="173237"/>
            </a:xfrm>
            <a:custGeom>
              <a:avLst/>
              <a:gdLst/>
              <a:ahLst/>
              <a:cxnLst/>
              <a:rect r="r" b="b" t="t" l="l"/>
              <a:pathLst>
                <a:path h="173237" w="696694">
                  <a:moveTo>
                    <a:pt x="17560" y="0"/>
                  </a:moveTo>
                  <a:lnTo>
                    <a:pt x="679133" y="0"/>
                  </a:lnTo>
                  <a:cubicBezTo>
                    <a:pt x="683791" y="0"/>
                    <a:pt x="688257" y="1850"/>
                    <a:pt x="691550" y="5143"/>
                  </a:cubicBezTo>
                  <a:cubicBezTo>
                    <a:pt x="694844" y="8436"/>
                    <a:pt x="696694" y="12903"/>
                    <a:pt x="696694" y="17560"/>
                  </a:cubicBezTo>
                  <a:lnTo>
                    <a:pt x="696694" y="155677"/>
                  </a:lnTo>
                  <a:cubicBezTo>
                    <a:pt x="696694" y="160334"/>
                    <a:pt x="694844" y="164800"/>
                    <a:pt x="691550" y="168094"/>
                  </a:cubicBezTo>
                  <a:cubicBezTo>
                    <a:pt x="688257" y="171387"/>
                    <a:pt x="683791" y="173237"/>
                    <a:pt x="679133" y="173237"/>
                  </a:cubicBezTo>
                  <a:lnTo>
                    <a:pt x="17560" y="173237"/>
                  </a:lnTo>
                  <a:cubicBezTo>
                    <a:pt x="12903" y="173237"/>
                    <a:pt x="8436" y="171387"/>
                    <a:pt x="5143" y="168094"/>
                  </a:cubicBezTo>
                  <a:cubicBezTo>
                    <a:pt x="1850" y="164800"/>
                    <a:pt x="0" y="160334"/>
                    <a:pt x="0" y="155677"/>
                  </a:cubicBezTo>
                  <a:lnTo>
                    <a:pt x="0" y="17560"/>
                  </a:lnTo>
                  <a:cubicBezTo>
                    <a:pt x="0" y="12903"/>
                    <a:pt x="1850" y="8436"/>
                    <a:pt x="5143" y="5143"/>
                  </a:cubicBezTo>
                  <a:cubicBezTo>
                    <a:pt x="8436" y="1850"/>
                    <a:pt x="12903" y="0"/>
                    <a:pt x="17560" y="0"/>
                  </a:cubicBezTo>
                  <a:close/>
                </a:path>
              </a:pathLst>
            </a:custGeom>
            <a:solidFill>
              <a:srgbClr val="1B2B4B"/>
            </a:solidFill>
            <a:ln cap="sq">
              <a:noFill/>
              <a:prstDash val="solid"/>
              <a:miter/>
            </a:ln>
          </p:spPr>
        </p:sp>
        <p:sp>
          <p:nvSpPr>
            <p:cNvPr name="TextBox 38" id="38"/>
            <p:cNvSpPr txBox="true"/>
            <p:nvPr/>
          </p:nvSpPr>
          <p:spPr>
            <a:xfrm>
              <a:off x="0" y="-57150"/>
              <a:ext cx="696694" cy="230387"/>
            </a:xfrm>
            <a:prstGeom prst="rect">
              <a:avLst/>
            </a:prstGeom>
          </p:spPr>
          <p:txBody>
            <a:bodyPr anchor="ctr" rtlCol="false" tIns="50800" lIns="50800" bIns="50800" rIns="50800"/>
            <a:lstStyle/>
            <a:p>
              <a:pPr algn="ctr">
                <a:lnSpc>
                  <a:spcPts val="3359"/>
                </a:lnSpc>
              </a:pPr>
            </a:p>
          </p:txBody>
        </p:sp>
      </p:grpSp>
      <p:graphicFrame>
        <p:nvGraphicFramePr>
          <p:cNvPr name="Object 39" id="39"/>
          <p:cNvGraphicFramePr/>
          <p:nvPr/>
        </p:nvGraphicFramePr>
        <p:xfrm>
          <a:off x="865553" y="1584997"/>
          <a:ext cx="7586157" cy="4274588"/>
        </p:xfrm>
        <a:graphic>
          <a:graphicData uri="http://schemas.openxmlformats.org/presentationml/2006/ole">
            <p:oleObj imgW="9105900" imgH="5791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40" id="40"/>
          <p:cNvSpPr txBox="true"/>
          <p:nvPr/>
        </p:nvSpPr>
        <p:spPr>
          <a:xfrm rot="0">
            <a:off x="7200615" y="297180"/>
            <a:ext cx="3886770" cy="73147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PROJECT FLOW</a:t>
            </a:r>
          </a:p>
        </p:txBody>
      </p:sp>
      <p:sp>
        <p:nvSpPr>
          <p:cNvPr name="TextBox 41" id="41"/>
          <p:cNvSpPr txBox="true"/>
          <p:nvPr/>
        </p:nvSpPr>
        <p:spPr>
          <a:xfrm rot="0">
            <a:off x="17476678" y="9467762"/>
            <a:ext cx="152425" cy="415265"/>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9</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3" id="3"/>
          <p:cNvGrpSpPr/>
          <p:nvPr/>
        </p:nvGrpSpPr>
        <p:grpSpPr>
          <a:xfrm rot="0">
            <a:off x="16753451" y="0"/>
            <a:ext cx="4511021" cy="10299697"/>
            <a:chOff x="0" y="0"/>
            <a:chExt cx="6014695" cy="13732929"/>
          </a:xfrm>
        </p:grpSpPr>
        <p:sp>
          <p:nvSpPr>
            <p:cNvPr name="Freeform 4" id="4"/>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5" id="5"/>
          <p:cNvGrpSpPr/>
          <p:nvPr/>
        </p:nvGrpSpPr>
        <p:grpSpPr>
          <a:xfrm rot="0">
            <a:off x="17386396" y="0"/>
            <a:ext cx="3882838" cy="10299697"/>
            <a:chOff x="0" y="0"/>
            <a:chExt cx="5177117" cy="13732929"/>
          </a:xfrm>
        </p:grpSpPr>
        <p:sp>
          <p:nvSpPr>
            <p:cNvPr name="Freeform 6" id="6"/>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7" id="7"/>
          <p:cNvGrpSpPr/>
          <p:nvPr/>
        </p:nvGrpSpPr>
        <p:grpSpPr>
          <a:xfrm rot="0">
            <a:off x="16379737" y="4584697"/>
            <a:ext cx="4889497" cy="5715000"/>
            <a:chOff x="0" y="0"/>
            <a:chExt cx="6519329" cy="7620000"/>
          </a:xfrm>
        </p:grpSpPr>
        <p:sp>
          <p:nvSpPr>
            <p:cNvPr name="Freeform 8" id="8"/>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9" id="9"/>
          <p:cNvGrpSpPr/>
          <p:nvPr/>
        </p:nvGrpSpPr>
        <p:grpSpPr>
          <a:xfrm rot="0">
            <a:off x="16982984" y="0"/>
            <a:ext cx="4281488" cy="10299697"/>
            <a:chOff x="0" y="0"/>
            <a:chExt cx="5708650" cy="13732929"/>
          </a:xfrm>
        </p:grpSpPr>
        <p:sp>
          <p:nvSpPr>
            <p:cNvPr name="Freeform 10" id="10"/>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1" id="11"/>
          <p:cNvGrpSpPr/>
          <p:nvPr/>
        </p:nvGrpSpPr>
        <p:grpSpPr>
          <a:xfrm rot="0">
            <a:off x="0" y="6019800"/>
            <a:ext cx="673103" cy="4267200"/>
            <a:chOff x="0" y="0"/>
            <a:chExt cx="897471" cy="5689600"/>
          </a:xfrm>
        </p:grpSpPr>
        <p:sp>
          <p:nvSpPr>
            <p:cNvPr name="Freeform 12" id="12"/>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3" id="13"/>
          <p:cNvGrpSpPr/>
          <p:nvPr/>
        </p:nvGrpSpPr>
        <p:grpSpPr>
          <a:xfrm rot="0">
            <a:off x="1352779" y="1235452"/>
            <a:ext cx="14880637" cy="119355"/>
            <a:chOff x="0" y="0"/>
            <a:chExt cx="19840849" cy="159140"/>
          </a:xfrm>
        </p:grpSpPr>
        <p:sp>
          <p:nvSpPr>
            <p:cNvPr name="Freeform 14" id="14"/>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Freeform 15" id="15"/>
          <p:cNvSpPr/>
          <p:nvPr/>
        </p:nvSpPr>
        <p:spPr>
          <a:xfrm flipH="false" flipV="false" rot="0">
            <a:off x="2337221" y="1885872"/>
            <a:ext cx="13898839" cy="7818097"/>
          </a:xfrm>
          <a:custGeom>
            <a:avLst/>
            <a:gdLst/>
            <a:ahLst/>
            <a:cxnLst/>
            <a:rect r="r" b="b" t="t" l="l"/>
            <a:pathLst>
              <a:path h="7818097" w="13898839">
                <a:moveTo>
                  <a:pt x="0" y="0"/>
                </a:moveTo>
                <a:lnTo>
                  <a:pt x="13898839" y="0"/>
                </a:lnTo>
                <a:lnTo>
                  <a:pt x="13898839" y="7818097"/>
                </a:lnTo>
                <a:lnTo>
                  <a:pt x="0" y="7818097"/>
                </a:lnTo>
                <a:lnTo>
                  <a:pt x="0" y="0"/>
                </a:lnTo>
                <a:close/>
              </a:path>
            </a:pathLst>
          </a:custGeom>
          <a:blipFill>
            <a:blip r:embed="rId2"/>
            <a:stretch>
              <a:fillRect l="0" t="0" r="0" b="0"/>
            </a:stretch>
          </a:blipFill>
        </p:spPr>
      </p:sp>
      <p:sp>
        <p:nvSpPr>
          <p:cNvPr name="TextBox 16" id="16"/>
          <p:cNvSpPr txBox="true"/>
          <p:nvPr/>
        </p:nvSpPr>
        <p:spPr>
          <a:xfrm rot="0">
            <a:off x="6010548" y="297180"/>
            <a:ext cx="6266904" cy="73147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SYSTEM ARCHITECTURE</a:t>
            </a:r>
          </a:p>
        </p:txBody>
      </p:sp>
      <p:sp>
        <p:nvSpPr>
          <p:cNvPr name="TextBox 17" id="17"/>
          <p:cNvSpPr txBox="true"/>
          <p:nvPr/>
        </p:nvSpPr>
        <p:spPr>
          <a:xfrm rot="0">
            <a:off x="17400528" y="9467762"/>
            <a:ext cx="304726" cy="415265"/>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10</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3" id="3"/>
          <p:cNvGrpSpPr/>
          <p:nvPr/>
        </p:nvGrpSpPr>
        <p:grpSpPr>
          <a:xfrm rot="0">
            <a:off x="16753451" y="0"/>
            <a:ext cx="4511021" cy="10299697"/>
            <a:chOff x="0" y="0"/>
            <a:chExt cx="6014695" cy="13732929"/>
          </a:xfrm>
        </p:grpSpPr>
        <p:sp>
          <p:nvSpPr>
            <p:cNvPr name="Freeform 4" id="4"/>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5" id="5"/>
          <p:cNvGrpSpPr/>
          <p:nvPr/>
        </p:nvGrpSpPr>
        <p:grpSpPr>
          <a:xfrm rot="0">
            <a:off x="17386396" y="0"/>
            <a:ext cx="3882838" cy="10299697"/>
            <a:chOff x="0" y="0"/>
            <a:chExt cx="5177117" cy="13732929"/>
          </a:xfrm>
        </p:grpSpPr>
        <p:sp>
          <p:nvSpPr>
            <p:cNvPr name="Freeform 6" id="6"/>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7" id="7"/>
          <p:cNvGrpSpPr/>
          <p:nvPr/>
        </p:nvGrpSpPr>
        <p:grpSpPr>
          <a:xfrm rot="0">
            <a:off x="16379737" y="4584697"/>
            <a:ext cx="4889497" cy="5715000"/>
            <a:chOff x="0" y="0"/>
            <a:chExt cx="6519329" cy="7620000"/>
          </a:xfrm>
        </p:grpSpPr>
        <p:sp>
          <p:nvSpPr>
            <p:cNvPr name="Freeform 8" id="8"/>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9" id="9"/>
          <p:cNvGrpSpPr/>
          <p:nvPr/>
        </p:nvGrpSpPr>
        <p:grpSpPr>
          <a:xfrm rot="0">
            <a:off x="16982984" y="0"/>
            <a:ext cx="4281488" cy="10299697"/>
            <a:chOff x="0" y="0"/>
            <a:chExt cx="5708650" cy="13732929"/>
          </a:xfrm>
        </p:grpSpPr>
        <p:sp>
          <p:nvSpPr>
            <p:cNvPr name="Freeform 10" id="10"/>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1" id="11"/>
          <p:cNvGrpSpPr/>
          <p:nvPr/>
        </p:nvGrpSpPr>
        <p:grpSpPr>
          <a:xfrm rot="0">
            <a:off x="0" y="6019800"/>
            <a:ext cx="673103" cy="4267200"/>
            <a:chOff x="0" y="0"/>
            <a:chExt cx="897471" cy="5689600"/>
          </a:xfrm>
        </p:grpSpPr>
        <p:sp>
          <p:nvSpPr>
            <p:cNvPr name="Freeform 12" id="12"/>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3" id="13"/>
          <p:cNvGrpSpPr/>
          <p:nvPr/>
        </p:nvGrpSpPr>
        <p:grpSpPr>
          <a:xfrm rot="0">
            <a:off x="1352779" y="1235452"/>
            <a:ext cx="14880637" cy="119355"/>
            <a:chOff x="0" y="0"/>
            <a:chExt cx="19840849" cy="159140"/>
          </a:xfrm>
        </p:grpSpPr>
        <p:sp>
          <p:nvSpPr>
            <p:cNvPr name="Freeform 14" id="14"/>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5" id="15"/>
          <p:cNvSpPr txBox="true"/>
          <p:nvPr/>
        </p:nvSpPr>
        <p:spPr>
          <a:xfrm rot="0">
            <a:off x="6236444" y="297180"/>
            <a:ext cx="5815112" cy="73152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DATA FLOW DIAGRAM:</a:t>
            </a:r>
          </a:p>
        </p:txBody>
      </p:sp>
      <p:sp>
        <p:nvSpPr>
          <p:cNvPr name="TextBox 16" id="16"/>
          <p:cNvSpPr txBox="true"/>
          <p:nvPr/>
        </p:nvSpPr>
        <p:spPr>
          <a:xfrm rot="0">
            <a:off x="17408900" y="9467762"/>
            <a:ext cx="287982" cy="415265"/>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11</a:t>
            </a:r>
          </a:p>
        </p:txBody>
      </p:sp>
      <p:sp>
        <p:nvSpPr>
          <p:cNvPr name="TextBox 17" id="17"/>
          <p:cNvSpPr txBox="true"/>
          <p:nvPr/>
        </p:nvSpPr>
        <p:spPr>
          <a:xfrm rot="0">
            <a:off x="1352779" y="1568393"/>
            <a:ext cx="2446586"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000000"/>
                </a:solidFill>
                <a:latin typeface="Times New Roman Bold"/>
                <a:ea typeface="Times New Roman Bold"/>
                <a:cs typeface="Times New Roman Bold"/>
                <a:sym typeface="Times New Roman Bold"/>
              </a:rPr>
              <a:t>Sequence Diagram</a:t>
            </a:r>
          </a:p>
        </p:txBody>
      </p:sp>
      <p:sp>
        <p:nvSpPr>
          <p:cNvPr name="Freeform 18" id="18"/>
          <p:cNvSpPr/>
          <p:nvPr/>
        </p:nvSpPr>
        <p:spPr>
          <a:xfrm flipH="false" flipV="false" rot="0">
            <a:off x="1914416" y="2144510"/>
            <a:ext cx="13757364" cy="7738517"/>
          </a:xfrm>
          <a:custGeom>
            <a:avLst/>
            <a:gdLst/>
            <a:ahLst/>
            <a:cxnLst/>
            <a:rect r="r" b="b" t="t" l="l"/>
            <a:pathLst>
              <a:path h="7738517" w="13757364">
                <a:moveTo>
                  <a:pt x="0" y="0"/>
                </a:moveTo>
                <a:lnTo>
                  <a:pt x="13757363" y="0"/>
                </a:lnTo>
                <a:lnTo>
                  <a:pt x="13757363" y="7738517"/>
                </a:lnTo>
                <a:lnTo>
                  <a:pt x="0" y="7738517"/>
                </a:lnTo>
                <a:lnTo>
                  <a:pt x="0" y="0"/>
                </a:lnTo>
                <a:close/>
              </a:path>
            </a:pathLst>
          </a:custGeom>
          <a:blipFill>
            <a:blip r:embed="rId2"/>
            <a:stretch>
              <a:fillRect l="0" t="0" r="0" b="0"/>
            </a:stretch>
          </a:blipFill>
        </p:spPr>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3" id="3"/>
          <p:cNvGrpSpPr/>
          <p:nvPr/>
        </p:nvGrpSpPr>
        <p:grpSpPr>
          <a:xfrm rot="0">
            <a:off x="16753451" y="0"/>
            <a:ext cx="4511021" cy="10299697"/>
            <a:chOff x="0" y="0"/>
            <a:chExt cx="6014695" cy="13732929"/>
          </a:xfrm>
        </p:grpSpPr>
        <p:sp>
          <p:nvSpPr>
            <p:cNvPr name="Freeform 4" id="4"/>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5" id="5"/>
          <p:cNvGrpSpPr/>
          <p:nvPr/>
        </p:nvGrpSpPr>
        <p:grpSpPr>
          <a:xfrm rot="0">
            <a:off x="17386396" y="0"/>
            <a:ext cx="3882838" cy="10299697"/>
            <a:chOff x="0" y="0"/>
            <a:chExt cx="5177117" cy="13732929"/>
          </a:xfrm>
        </p:grpSpPr>
        <p:sp>
          <p:nvSpPr>
            <p:cNvPr name="Freeform 6" id="6"/>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7" id="7"/>
          <p:cNvGrpSpPr/>
          <p:nvPr/>
        </p:nvGrpSpPr>
        <p:grpSpPr>
          <a:xfrm rot="0">
            <a:off x="16379737" y="4584697"/>
            <a:ext cx="4889497" cy="5715000"/>
            <a:chOff x="0" y="0"/>
            <a:chExt cx="6519329" cy="7620000"/>
          </a:xfrm>
        </p:grpSpPr>
        <p:sp>
          <p:nvSpPr>
            <p:cNvPr name="Freeform 8" id="8"/>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9" id="9"/>
          <p:cNvGrpSpPr/>
          <p:nvPr/>
        </p:nvGrpSpPr>
        <p:grpSpPr>
          <a:xfrm rot="0">
            <a:off x="16982984" y="0"/>
            <a:ext cx="4281488" cy="10299697"/>
            <a:chOff x="0" y="0"/>
            <a:chExt cx="5708650" cy="13732929"/>
          </a:xfrm>
        </p:grpSpPr>
        <p:sp>
          <p:nvSpPr>
            <p:cNvPr name="Freeform 10" id="10"/>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1" id="11"/>
          <p:cNvGrpSpPr/>
          <p:nvPr/>
        </p:nvGrpSpPr>
        <p:grpSpPr>
          <a:xfrm rot="0">
            <a:off x="0" y="6019800"/>
            <a:ext cx="673103" cy="4267200"/>
            <a:chOff x="0" y="0"/>
            <a:chExt cx="897471" cy="5689600"/>
          </a:xfrm>
        </p:grpSpPr>
        <p:sp>
          <p:nvSpPr>
            <p:cNvPr name="Freeform 12" id="12"/>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3" id="13"/>
          <p:cNvGrpSpPr/>
          <p:nvPr/>
        </p:nvGrpSpPr>
        <p:grpSpPr>
          <a:xfrm rot="0">
            <a:off x="1352779" y="1235452"/>
            <a:ext cx="14880637" cy="119355"/>
            <a:chOff x="0" y="0"/>
            <a:chExt cx="19840849" cy="159140"/>
          </a:xfrm>
        </p:grpSpPr>
        <p:sp>
          <p:nvSpPr>
            <p:cNvPr name="Freeform 14" id="14"/>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5" id="15"/>
          <p:cNvSpPr txBox="true"/>
          <p:nvPr/>
        </p:nvSpPr>
        <p:spPr>
          <a:xfrm rot="0">
            <a:off x="6243885" y="297180"/>
            <a:ext cx="5800229" cy="73152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DATA FLOW DIAGRAM </a:t>
            </a:r>
          </a:p>
        </p:txBody>
      </p:sp>
      <p:sp>
        <p:nvSpPr>
          <p:cNvPr name="TextBox 16" id="16"/>
          <p:cNvSpPr txBox="true"/>
          <p:nvPr/>
        </p:nvSpPr>
        <p:spPr>
          <a:xfrm rot="0">
            <a:off x="17400528" y="9467762"/>
            <a:ext cx="304726" cy="415265"/>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12</a:t>
            </a:r>
          </a:p>
        </p:txBody>
      </p:sp>
      <p:sp>
        <p:nvSpPr>
          <p:cNvPr name="TextBox 17" id="17"/>
          <p:cNvSpPr txBox="true"/>
          <p:nvPr/>
        </p:nvSpPr>
        <p:spPr>
          <a:xfrm rot="0">
            <a:off x="1352779" y="1507207"/>
            <a:ext cx="1921818"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000000"/>
                </a:solidFill>
                <a:latin typeface="Times New Roman Bold"/>
                <a:ea typeface="Times New Roman Bold"/>
                <a:cs typeface="Times New Roman Bold"/>
                <a:sym typeface="Times New Roman Bold"/>
              </a:rPr>
              <a:t>Class Diagram</a:t>
            </a:r>
          </a:p>
        </p:txBody>
      </p:sp>
      <p:sp>
        <p:nvSpPr>
          <p:cNvPr name="Freeform 18" id="18"/>
          <p:cNvSpPr/>
          <p:nvPr/>
        </p:nvSpPr>
        <p:spPr>
          <a:xfrm flipH="false" flipV="false" rot="0">
            <a:off x="2576072" y="1898421"/>
            <a:ext cx="13084230" cy="7359879"/>
          </a:xfrm>
          <a:custGeom>
            <a:avLst/>
            <a:gdLst/>
            <a:ahLst/>
            <a:cxnLst/>
            <a:rect r="r" b="b" t="t" l="l"/>
            <a:pathLst>
              <a:path h="7359879" w="13084230">
                <a:moveTo>
                  <a:pt x="0" y="0"/>
                </a:moveTo>
                <a:lnTo>
                  <a:pt x="13084230" y="0"/>
                </a:lnTo>
                <a:lnTo>
                  <a:pt x="13084230" y="7359879"/>
                </a:lnTo>
                <a:lnTo>
                  <a:pt x="0" y="7359879"/>
                </a:lnTo>
                <a:lnTo>
                  <a:pt x="0" y="0"/>
                </a:lnTo>
                <a:close/>
              </a:path>
            </a:pathLst>
          </a:custGeom>
          <a:blipFill>
            <a:blip r:embed="rId2"/>
            <a:stretch>
              <a:fillRect l="0" t="0" r="0" b="0"/>
            </a:stretch>
          </a:blipFill>
        </p:spPr>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3" id="3"/>
          <p:cNvGrpSpPr/>
          <p:nvPr/>
        </p:nvGrpSpPr>
        <p:grpSpPr>
          <a:xfrm rot="0">
            <a:off x="16753451" y="0"/>
            <a:ext cx="4511021" cy="10299697"/>
            <a:chOff x="0" y="0"/>
            <a:chExt cx="6014695" cy="13732929"/>
          </a:xfrm>
        </p:grpSpPr>
        <p:sp>
          <p:nvSpPr>
            <p:cNvPr name="Freeform 4" id="4"/>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5" id="5"/>
          <p:cNvGrpSpPr/>
          <p:nvPr/>
        </p:nvGrpSpPr>
        <p:grpSpPr>
          <a:xfrm rot="0">
            <a:off x="17386396" y="0"/>
            <a:ext cx="3882838" cy="10299697"/>
            <a:chOff x="0" y="0"/>
            <a:chExt cx="5177117" cy="13732929"/>
          </a:xfrm>
        </p:grpSpPr>
        <p:sp>
          <p:nvSpPr>
            <p:cNvPr name="Freeform 6" id="6"/>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7" id="7"/>
          <p:cNvGrpSpPr/>
          <p:nvPr/>
        </p:nvGrpSpPr>
        <p:grpSpPr>
          <a:xfrm rot="0">
            <a:off x="16379737" y="4584697"/>
            <a:ext cx="4889497" cy="5715000"/>
            <a:chOff x="0" y="0"/>
            <a:chExt cx="6519329" cy="7620000"/>
          </a:xfrm>
        </p:grpSpPr>
        <p:sp>
          <p:nvSpPr>
            <p:cNvPr name="Freeform 8" id="8"/>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9" id="9"/>
          <p:cNvGrpSpPr/>
          <p:nvPr/>
        </p:nvGrpSpPr>
        <p:grpSpPr>
          <a:xfrm rot="0">
            <a:off x="16982984" y="0"/>
            <a:ext cx="4281488" cy="10299697"/>
            <a:chOff x="0" y="0"/>
            <a:chExt cx="5708650" cy="13732929"/>
          </a:xfrm>
        </p:grpSpPr>
        <p:sp>
          <p:nvSpPr>
            <p:cNvPr name="Freeform 10" id="10"/>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1" id="11"/>
          <p:cNvGrpSpPr/>
          <p:nvPr/>
        </p:nvGrpSpPr>
        <p:grpSpPr>
          <a:xfrm rot="0">
            <a:off x="0" y="6019800"/>
            <a:ext cx="673103" cy="4267200"/>
            <a:chOff x="0" y="0"/>
            <a:chExt cx="897471" cy="5689600"/>
          </a:xfrm>
        </p:grpSpPr>
        <p:sp>
          <p:nvSpPr>
            <p:cNvPr name="Freeform 12" id="12"/>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3" id="13"/>
          <p:cNvGrpSpPr/>
          <p:nvPr/>
        </p:nvGrpSpPr>
        <p:grpSpPr>
          <a:xfrm rot="0">
            <a:off x="1352779" y="1235452"/>
            <a:ext cx="14880637" cy="119355"/>
            <a:chOff x="0" y="0"/>
            <a:chExt cx="19840849" cy="159140"/>
          </a:xfrm>
        </p:grpSpPr>
        <p:sp>
          <p:nvSpPr>
            <p:cNvPr name="Freeform 14" id="14"/>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Freeform 15" id="15"/>
          <p:cNvSpPr/>
          <p:nvPr/>
        </p:nvSpPr>
        <p:spPr>
          <a:xfrm flipH="false" flipV="false" rot="0">
            <a:off x="1447269" y="1659849"/>
            <a:ext cx="14788791" cy="8318695"/>
          </a:xfrm>
          <a:custGeom>
            <a:avLst/>
            <a:gdLst/>
            <a:ahLst/>
            <a:cxnLst/>
            <a:rect r="r" b="b" t="t" l="l"/>
            <a:pathLst>
              <a:path h="8318695" w="14788791">
                <a:moveTo>
                  <a:pt x="0" y="0"/>
                </a:moveTo>
                <a:lnTo>
                  <a:pt x="14788791" y="0"/>
                </a:lnTo>
                <a:lnTo>
                  <a:pt x="14788791" y="8318695"/>
                </a:lnTo>
                <a:lnTo>
                  <a:pt x="0" y="8318695"/>
                </a:lnTo>
                <a:lnTo>
                  <a:pt x="0" y="0"/>
                </a:lnTo>
                <a:close/>
              </a:path>
            </a:pathLst>
          </a:custGeom>
          <a:blipFill>
            <a:blip r:embed="rId2"/>
            <a:stretch>
              <a:fillRect l="0" t="0" r="0" b="0"/>
            </a:stretch>
          </a:blipFill>
        </p:spPr>
      </p:sp>
      <p:sp>
        <p:nvSpPr>
          <p:cNvPr name="TextBox 16" id="16"/>
          <p:cNvSpPr txBox="true"/>
          <p:nvPr/>
        </p:nvSpPr>
        <p:spPr>
          <a:xfrm rot="0">
            <a:off x="6236444" y="297180"/>
            <a:ext cx="5815112" cy="73152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DATA FLOW DIAGRAM:</a:t>
            </a:r>
          </a:p>
        </p:txBody>
      </p:sp>
      <p:sp>
        <p:nvSpPr>
          <p:cNvPr name="TextBox 17" id="17"/>
          <p:cNvSpPr txBox="true"/>
          <p:nvPr/>
        </p:nvSpPr>
        <p:spPr>
          <a:xfrm rot="0">
            <a:off x="17400491" y="9467762"/>
            <a:ext cx="304800"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13</a:t>
            </a:r>
          </a:p>
        </p:txBody>
      </p:sp>
      <p:sp>
        <p:nvSpPr>
          <p:cNvPr name="TextBox 18" id="18"/>
          <p:cNvSpPr txBox="true"/>
          <p:nvPr/>
        </p:nvSpPr>
        <p:spPr>
          <a:xfrm rot="0">
            <a:off x="1352779" y="1602699"/>
            <a:ext cx="1921669"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000000"/>
                </a:solidFill>
                <a:latin typeface="Times New Roman Bold"/>
                <a:ea typeface="Times New Roman Bold"/>
                <a:cs typeface="Times New Roman Bold"/>
                <a:sym typeface="Times New Roman Bold"/>
              </a:rPr>
              <a:t>UML Diagram</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3" id="3"/>
          <p:cNvGrpSpPr/>
          <p:nvPr/>
        </p:nvGrpSpPr>
        <p:grpSpPr>
          <a:xfrm rot="0">
            <a:off x="16753451" y="0"/>
            <a:ext cx="4511021" cy="10299697"/>
            <a:chOff x="0" y="0"/>
            <a:chExt cx="6014695" cy="13732929"/>
          </a:xfrm>
        </p:grpSpPr>
        <p:sp>
          <p:nvSpPr>
            <p:cNvPr name="Freeform 4" id="4"/>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5" id="5"/>
          <p:cNvGrpSpPr/>
          <p:nvPr/>
        </p:nvGrpSpPr>
        <p:grpSpPr>
          <a:xfrm rot="0">
            <a:off x="17386396" y="0"/>
            <a:ext cx="3882838" cy="10299697"/>
            <a:chOff x="0" y="0"/>
            <a:chExt cx="5177117" cy="13732929"/>
          </a:xfrm>
        </p:grpSpPr>
        <p:sp>
          <p:nvSpPr>
            <p:cNvPr name="Freeform 6" id="6"/>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7" id="7"/>
          <p:cNvGrpSpPr/>
          <p:nvPr/>
        </p:nvGrpSpPr>
        <p:grpSpPr>
          <a:xfrm rot="0">
            <a:off x="16379737" y="4584697"/>
            <a:ext cx="4889497" cy="5715000"/>
            <a:chOff x="0" y="0"/>
            <a:chExt cx="6519329" cy="7620000"/>
          </a:xfrm>
        </p:grpSpPr>
        <p:sp>
          <p:nvSpPr>
            <p:cNvPr name="Freeform 8" id="8"/>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9" id="9"/>
          <p:cNvGrpSpPr/>
          <p:nvPr/>
        </p:nvGrpSpPr>
        <p:grpSpPr>
          <a:xfrm rot="0">
            <a:off x="16982984" y="0"/>
            <a:ext cx="4281488" cy="10299697"/>
            <a:chOff x="0" y="0"/>
            <a:chExt cx="5708650" cy="13732929"/>
          </a:xfrm>
        </p:grpSpPr>
        <p:sp>
          <p:nvSpPr>
            <p:cNvPr name="Freeform 10" id="10"/>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1" id="11"/>
          <p:cNvGrpSpPr/>
          <p:nvPr/>
        </p:nvGrpSpPr>
        <p:grpSpPr>
          <a:xfrm rot="0">
            <a:off x="0" y="6019800"/>
            <a:ext cx="673103" cy="4267200"/>
            <a:chOff x="0" y="0"/>
            <a:chExt cx="897471" cy="5689600"/>
          </a:xfrm>
        </p:grpSpPr>
        <p:sp>
          <p:nvSpPr>
            <p:cNvPr name="Freeform 12" id="12"/>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3" id="13"/>
          <p:cNvGrpSpPr/>
          <p:nvPr/>
        </p:nvGrpSpPr>
        <p:grpSpPr>
          <a:xfrm rot="0">
            <a:off x="1352779" y="1235452"/>
            <a:ext cx="14880637" cy="119355"/>
            <a:chOff x="0" y="0"/>
            <a:chExt cx="19840849" cy="159140"/>
          </a:xfrm>
        </p:grpSpPr>
        <p:sp>
          <p:nvSpPr>
            <p:cNvPr name="Freeform 14" id="14"/>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5" id="15"/>
          <p:cNvSpPr txBox="true"/>
          <p:nvPr/>
        </p:nvSpPr>
        <p:spPr>
          <a:xfrm rot="0">
            <a:off x="7111678" y="297180"/>
            <a:ext cx="4064645" cy="73152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THREAT MODEL</a:t>
            </a:r>
          </a:p>
        </p:txBody>
      </p:sp>
      <p:sp>
        <p:nvSpPr>
          <p:cNvPr name="TextBox 16" id="16"/>
          <p:cNvSpPr txBox="true"/>
          <p:nvPr/>
        </p:nvSpPr>
        <p:spPr>
          <a:xfrm rot="0">
            <a:off x="17400528" y="9467762"/>
            <a:ext cx="304726" cy="415265"/>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14</a:t>
            </a:r>
          </a:p>
        </p:txBody>
      </p:sp>
      <p:sp>
        <p:nvSpPr>
          <p:cNvPr name="TextBox 17" id="17"/>
          <p:cNvSpPr txBox="true"/>
          <p:nvPr/>
        </p:nvSpPr>
        <p:spPr>
          <a:xfrm rot="0">
            <a:off x="1121687" y="1566293"/>
            <a:ext cx="15816126" cy="6282690"/>
          </a:xfrm>
          <a:prstGeom prst="rect">
            <a:avLst/>
          </a:prstGeom>
        </p:spPr>
        <p:txBody>
          <a:bodyPr anchor="t" rtlCol="false" tIns="0" lIns="0" bIns="0" rIns="0">
            <a:spAutoFit/>
          </a:bodyPr>
          <a:lstStyle/>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Spoofing - Rogue Agent Imper</a:t>
            </a:r>
            <a:r>
              <a:rPr lang="en-US" sz="2400">
                <a:solidFill>
                  <a:srgbClr val="000000"/>
                </a:solidFill>
                <a:latin typeface="Times New Roman"/>
                <a:ea typeface="Times New Roman"/>
                <a:cs typeface="Times New Roman"/>
                <a:sym typeface="Times New Roman"/>
              </a:rPr>
              <a:t>sonation: A malicious process could pretend to be the real AI agent. TrustEdge counters this with TPM-bound attestation. The Attestation Key can’t be exported, so only the genuine agent can produce a valid quote.</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Tampering - Model/Policy File Modification: An attacker could change the model weights, policy.json or the agent code while they sit on disk. The Integrity Monitor hashes all critical files with SHA-256 and compares them to the baseline at runtime. If anything has changed, attestation fails and the action is blocked.</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Repudiation - Unlogged Sensitive Actions: Without attestation, sensitive actions like file writes or API calls could happen with no verifiable record. In TrustEdge, every sensitive action produces a TPM-signed</a:t>
            </a:r>
            <a:r>
              <a:rPr lang="en-US" sz="2400">
                <a:solidFill>
                  <a:srgbClr val="000000"/>
                </a:solidFill>
                <a:latin typeface="Times New Roman"/>
                <a:ea typeface="Times New Roman"/>
                <a:cs typeface="Times New Roman"/>
                <a:sym typeface="Times New Roman"/>
              </a:rPr>
              <a:t> quote, which gives a</a:t>
            </a:r>
            <a:r>
              <a:rPr lang="en-US" sz="2400">
                <a:solidFill>
                  <a:srgbClr val="000000"/>
                </a:solidFill>
                <a:latin typeface="Times New Roman"/>
                <a:ea typeface="Times New Roman"/>
                <a:cs typeface="Times New Roman"/>
                <a:sym typeface="Times New Roman"/>
              </a:rPr>
              <a:t> cryptographically non-repudiable audit trail.</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Elevation of Privilege - Policy Bypass: An agent could try to run a sensitive action without going through the Policy Engine. TrustEdge enforces the pipeline in order, so every action reaches the Policy Engine first, and any action that isn’t attested is denied at the Verifier before it executes.</a:t>
            </a:r>
          </a:p>
          <a:p>
            <a:pPr algn="just">
              <a:lnSpc>
                <a:spcPts val="3359"/>
              </a:lnSpc>
            </a:pP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3" id="3"/>
          <p:cNvGrpSpPr/>
          <p:nvPr/>
        </p:nvGrpSpPr>
        <p:grpSpPr>
          <a:xfrm rot="0">
            <a:off x="16753451" y="0"/>
            <a:ext cx="4511021" cy="10299697"/>
            <a:chOff x="0" y="0"/>
            <a:chExt cx="6014695" cy="13732929"/>
          </a:xfrm>
        </p:grpSpPr>
        <p:sp>
          <p:nvSpPr>
            <p:cNvPr name="Freeform 4" id="4"/>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5" id="5"/>
          <p:cNvGrpSpPr/>
          <p:nvPr/>
        </p:nvGrpSpPr>
        <p:grpSpPr>
          <a:xfrm rot="0">
            <a:off x="17386396" y="0"/>
            <a:ext cx="3882838" cy="10299697"/>
            <a:chOff x="0" y="0"/>
            <a:chExt cx="5177117" cy="13732929"/>
          </a:xfrm>
        </p:grpSpPr>
        <p:sp>
          <p:nvSpPr>
            <p:cNvPr name="Freeform 6" id="6"/>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7" id="7"/>
          <p:cNvGrpSpPr/>
          <p:nvPr/>
        </p:nvGrpSpPr>
        <p:grpSpPr>
          <a:xfrm rot="0">
            <a:off x="16379737" y="4584697"/>
            <a:ext cx="4889497" cy="5715000"/>
            <a:chOff x="0" y="0"/>
            <a:chExt cx="6519329" cy="7620000"/>
          </a:xfrm>
        </p:grpSpPr>
        <p:sp>
          <p:nvSpPr>
            <p:cNvPr name="Freeform 8" id="8"/>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9" id="9"/>
          <p:cNvGrpSpPr/>
          <p:nvPr/>
        </p:nvGrpSpPr>
        <p:grpSpPr>
          <a:xfrm rot="0">
            <a:off x="16982984" y="0"/>
            <a:ext cx="4281488" cy="10299697"/>
            <a:chOff x="0" y="0"/>
            <a:chExt cx="5708650" cy="13732929"/>
          </a:xfrm>
        </p:grpSpPr>
        <p:sp>
          <p:nvSpPr>
            <p:cNvPr name="Freeform 10" id="10"/>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1" id="11"/>
          <p:cNvGrpSpPr/>
          <p:nvPr/>
        </p:nvGrpSpPr>
        <p:grpSpPr>
          <a:xfrm rot="0">
            <a:off x="0" y="6019800"/>
            <a:ext cx="673103" cy="4267200"/>
            <a:chOff x="0" y="0"/>
            <a:chExt cx="897471" cy="5689600"/>
          </a:xfrm>
        </p:grpSpPr>
        <p:sp>
          <p:nvSpPr>
            <p:cNvPr name="Freeform 12" id="12"/>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3" id="13"/>
          <p:cNvGrpSpPr/>
          <p:nvPr/>
        </p:nvGrpSpPr>
        <p:grpSpPr>
          <a:xfrm rot="0">
            <a:off x="1352779" y="1235452"/>
            <a:ext cx="14880637" cy="119355"/>
            <a:chOff x="0" y="0"/>
            <a:chExt cx="19840849" cy="159140"/>
          </a:xfrm>
        </p:grpSpPr>
        <p:sp>
          <p:nvSpPr>
            <p:cNvPr name="Freeform 14" id="14"/>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5" id="15"/>
          <p:cNvSpPr txBox="true"/>
          <p:nvPr/>
        </p:nvSpPr>
        <p:spPr>
          <a:xfrm rot="0">
            <a:off x="7425469" y="297180"/>
            <a:ext cx="3437061" cy="73147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CONCLUSION</a:t>
            </a:r>
          </a:p>
        </p:txBody>
      </p:sp>
      <p:sp>
        <p:nvSpPr>
          <p:cNvPr name="TextBox 16" id="16"/>
          <p:cNvSpPr txBox="true"/>
          <p:nvPr/>
        </p:nvSpPr>
        <p:spPr>
          <a:xfrm rot="0">
            <a:off x="17400491" y="9467762"/>
            <a:ext cx="304800"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16</a:t>
            </a:r>
          </a:p>
        </p:txBody>
      </p:sp>
      <p:sp>
        <p:nvSpPr>
          <p:cNvPr name="TextBox 17" id="17"/>
          <p:cNvSpPr txBox="true"/>
          <p:nvPr/>
        </p:nvSpPr>
        <p:spPr>
          <a:xfrm rot="0">
            <a:off x="1121687" y="1566293"/>
            <a:ext cx="15816126" cy="7958619"/>
          </a:xfrm>
          <a:prstGeom prst="rect">
            <a:avLst/>
          </a:prstGeom>
        </p:spPr>
        <p:txBody>
          <a:bodyPr anchor="t" rtlCol="false" tIns="0" lIns="0" bIns="0" rIns="0">
            <a:spAutoFit/>
          </a:bodyPr>
          <a:lstStyle/>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TrustEdge pr</a:t>
            </a:r>
            <a:r>
              <a:rPr lang="en-US" sz="2400">
                <a:solidFill>
                  <a:srgbClr val="000000"/>
                </a:solidFill>
                <a:latin typeface="Times New Roman"/>
                <a:ea typeface="Times New Roman"/>
                <a:cs typeface="Times New Roman"/>
                <a:sym typeface="Times New Roman"/>
              </a:rPr>
              <a:t>esents a TPM-based security framework that places a runtime control loop around AI agent actions. It addresses the gap left by existing attestation, which verifies trust once and does not govern what an agent does afterwards.</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Every action the agent attempts is intercepted, evaluated against a security policy and verified through a TPM quote. No action reaches the system without passing these checks first.</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Final approval rests with a human, and the agent cannot bypass or approve its own actions. This keeps authority over execution outside the agent’s control.</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The system is implemented as four containers deployed with Docker Compose: the agent with a local Ollama model, a software TPM, the mediator and an isolated sandbox. Separating these roles prevent</a:t>
            </a:r>
            <a:r>
              <a:rPr lang="en-US" sz="2400">
                <a:solidFill>
                  <a:srgbClr val="000000"/>
                </a:solidFill>
                <a:latin typeface="Times New Roman"/>
                <a:ea typeface="Times New Roman"/>
                <a:cs typeface="Times New Roman"/>
                <a:sym typeface="Times New Roman"/>
              </a:rPr>
              <a:t>s the age</a:t>
            </a:r>
            <a:r>
              <a:rPr lang="en-US" sz="2400">
                <a:solidFill>
                  <a:srgbClr val="000000"/>
                </a:solidFill>
                <a:latin typeface="Times New Roman"/>
                <a:ea typeface="Times New Roman"/>
                <a:cs typeface="Times New Roman"/>
                <a:sym typeface="Times New Roman"/>
              </a:rPr>
              <a:t>nt from tampering with the components that verify it.</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Approved actions run only inside an isolated desktop sandbox, and all decisions are recorded in a decision log with an audit dashboard. This gives operators v</a:t>
            </a:r>
            <a:r>
              <a:rPr lang="en-US" sz="2400">
                <a:solidFill>
                  <a:srgbClr val="000000"/>
                </a:solidFill>
                <a:latin typeface="Times New Roman"/>
                <a:ea typeface="Times New Roman"/>
                <a:cs typeface="Times New Roman"/>
                <a:sym typeface="Times New Roman"/>
              </a:rPr>
              <a:t>i</a:t>
            </a:r>
            <a:r>
              <a:rPr lang="en-US" sz="2400">
                <a:solidFill>
                  <a:srgbClr val="000000"/>
                </a:solidFill>
                <a:latin typeface="Times New Roman"/>
                <a:ea typeface="Times New Roman"/>
                <a:cs typeface="Times New Roman"/>
                <a:sym typeface="Times New Roman"/>
              </a:rPr>
              <a:t>sibility and accountability over agent behavior.</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The framework unifies hardware attestation, policy enforcement and human-in-the-loop control in a single reproducible design. It provides a practical foundation for securing high-privilege AI agents at runtime.</a:t>
            </a:r>
          </a:p>
          <a:p>
            <a:pPr algn="just">
              <a:lnSpc>
                <a:spcPts val="3359"/>
              </a:lnSpc>
            </a:pP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3" id="3"/>
          <p:cNvGrpSpPr/>
          <p:nvPr/>
        </p:nvGrpSpPr>
        <p:grpSpPr>
          <a:xfrm rot="0">
            <a:off x="16753451" y="0"/>
            <a:ext cx="4511021" cy="10299697"/>
            <a:chOff x="0" y="0"/>
            <a:chExt cx="6014695" cy="13732929"/>
          </a:xfrm>
        </p:grpSpPr>
        <p:sp>
          <p:nvSpPr>
            <p:cNvPr name="Freeform 4" id="4"/>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5" id="5"/>
          <p:cNvGrpSpPr/>
          <p:nvPr/>
        </p:nvGrpSpPr>
        <p:grpSpPr>
          <a:xfrm rot="0">
            <a:off x="17386396" y="0"/>
            <a:ext cx="3882838" cy="10299697"/>
            <a:chOff x="0" y="0"/>
            <a:chExt cx="5177117" cy="13732929"/>
          </a:xfrm>
        </p:grpSpPr>
        <p:sp>
          <p:nvSpPr>
            <p:cNvPr name="Freeform 6" id="6"/>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7" id="7"/>
          <p:cNvGrpSpPr/>
          <p:nvPr/>
        </p:nvGrpSpPr>
        <p:grpSpPr>
          <a:xfrm rot="0">
            <a:off x="16379737" y="4584697"/>
            <a:ext cx="4889497" cy="5715000"/>
            <a:chOff x="0" y="0"/>
            <a:chExt cx="6519329" cy="7620000"/>
          </a:xfrm>
        </p:grpSpPr>
        <p:sp>
          <p:nvSpPr>
            <p:cNvPr name="Freeform 8" id="8"/>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9" id="9"/>
          <p:cNvGrpSpPr/>
          <p:nvPr/>
        </p:nvGrpSpPr>
        <p:grpSpPr>
          <a:xfrm rot="0">
            <a:off x="16982984" y="0"/>
            <a:ext cx="4281488" cy="10299697"/>
            <a:chOff x="0" y="0"/>
            <a:chExt cx="5708650" cy="13732929"/>
          </a:xfrm>
        </p:grpSpPr>
        <p:sp>
          <p:nvSpPr>
            <p:cNvPr name="Freeform 10" id="10"/>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1" id="11"/>
          <p:cNvGrpSpPr/>
          <p:nvPr/>
        </p:nvGrpSpPr>
        <p:grpSpPr>
          <a:xfrm rot="0">
            <a:off x="0" y="6019800"/>
            <a:ext cx="673103" cy="4267200"/>
            <a:chOff x="0" y="0"/>
            <a:chExt cx="897471" cy="5689600"/>
          </a:xfrm>
        </p:grpSpPr>
        <p:sp>
          <p:nvSpPr>
            <p:cNvPr name="Freeform 12" id="12"/>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3" id="13"/>
          <p:cNvGrpSpPr/>
          <p:nvPr/>
        </p:nvGrpSpPr>
        <p:grpSpPr>
          <a:xfrm rot="0">
            <a:off x="1352779" y="1235452"/>
            <a:ext cx="14880637" cy="119355"/>
            <a:chOff x="0" y="0"/>
            <a:chExt cx="19840849" cy="159140"/>
          </a:xfrm>
        </p:grpSpPr>
        <p:sp>
          <p:nvSpPr>
            <p:cNvPr name="Freeform 14" id="14"/>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5" id="15"/>
          <p:cNvSpPr txBox="true"/>
          <p:nvPr/>
        </p:nvSpPr>
        <p:spPr>
          <a:xfrm rot="0">
            <a:off x="6467450" y="297180"/>
            <a:ext cx="5353099" cy="73147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FUTURE WORK PLAN</a:t>
            </a:r>
          </a:p>
        </p:txBody>
      </p:sp>
      <p:sp>
        <p:nvSpPr>
          <p:cNvPr name="TextBox 16" id="16"/>
          <p:cNvSpPr txBox="true"/>
          <p:nvPr/>
        </p:nvSpPr>
        <p:spPr>
          <a:xfrm rot="0">
            <a:off x="17400491" y="9467762"/>
            <a:ext cx="304800"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17</a:t>
            </a:r>
          </a:p>
        </p:txBody>
      </p:sp>
      <p:sp>
        <p:nvSpPr>
          <p:cNvPr name="TextBox 17" id="17"/>
          <p:cNvSpPr txBox="true"/>
          <p:nvPr/>
        </p:nvSpPr>
        <p:spPr>
          <a:xfrm rot="0">
            <a:off x="1064562" y="1566293"/>
            <a:ext cx="15930376" cy="7958619"/>
          </a:xfrm>
          <a:prstGeom prst="rect">
            <a:avLst/>
          </a:prstGeom>
        </p:spPr>
        <p:txBody>
          <a:bodyPr anchor="t" rtlCol="false" tIns="0" lIns="0" bIns="0" rIns="0">
            <a:spAutoFit/>
          </a:bodyPr>
          <a:lstStyle/>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Conduct c</a:t>
            </a:r>
            <a:r>
              <a:rPr lang="en-US" sz="2400">
                <a:solidFill>
                  <a:srgbClr val="000000"/>
                </a:solidFill>
                <a:latin typeface="Times New Roman"/>
                <a:ea typeface="Times New Roman"/>
                <a:cs typeface="Times New Roman"/>
                <a:sym typeface="Times New Roman"/>
              </a:rPr>
              <a:t>ontrolled testing against simulated malicious and benign agent actions, including prompt injection and bypass attempts. The results will show how reliably unauthorized behavior is blocked.</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Measure attestation reliability, policy enforcement accuracy and approval-flow latency, with and without the TPM and approval layers. This quantifies the security gain against the latency trade-off.</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Extend the policy engine to support declarative, organization-defined rule sets held outside the code. This lets the framework adapt to different deployments.</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Move from the emulated TPM to a hardware TPM on real devices. This validates the design against hardware-rooted trust.</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Introduce periodic and risk-based re-attestation, along with runtime measurement of the agent and its configuration. This strengthens continu</a:t>
            </a:r>
            <a:r>
              <a:rPr lang="en-US" sz="2400">
                <a:solidFill>
                  <a:srgbClr val="000000"/>
                </a:solidFill>
                <a:latin typeface="Times New Roman"/>
                <a:ea typeface="Times New Roman"/>
                <a:cs typeface="Times New Roman"/>
                <a:sym typeface="Times New Roman"/>
              </a:rPr>
              <a:t>ous verifi</a:t>
            </a:r>
            <a:r>
              <a:rPr lang="en-US" sz="2400">
                <a:solidFill>
                  <a:srgbClr val="000000"/>
                </a:solidFill>
                <a:latin typeface="Times New Roman"/>
                <a:ea typeface="Times New Roman"/>
                <a:cs typeface="Times New Roman"/>
                <a:sym typeface="Times New Roman"/>
              </a:rPr>
              <a:t>cation beyond the per-action check.</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Bind each approval to the exact action and protect logs with tamper-evident records. This reinforces that the agent cannot forge approvals or alter its history.</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Extend deployment to additional architectures and resource-constrained edge devices, since the current TPM emulation image targets x86_64 only. This broadens the framework to its intended edge environments.</a:t>
            </a: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469746" y="297180"/>
            <a:ext cx="3348509" cy="73147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REFERENCES</a:t>
            </a:r>
          </a:p>
        </p:txBody>
      </p:sp>
      <p:sp>
        <p:nvSpPr>
          <p:cNvPr name="TextBox 3" id="3"/>
          <p:cNvSpPr txBox="true"/>
          <p:nvPr/>
        </p:nvSpPr>
        <p:spPr>
          <a:xfrm rot="0">
            <a:off x="927102" y="1718756"/>
            <a:ext cx="16205296" cy="7539544"/>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[1] A. Sokolov, Hardware-rooted attestation for AI-agent evidence: composing IETF RATS with action evidence packages, 2026.</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[2] A. Zahir et al., D-MUTRA: DLT-based Mutual Remote Attestation for Multi-Agent Systems, 2026.</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[3] L. Sambrook and S. Sovio, Hardware Keystores for AI Agent Signing Workflows: A Zero-Trust MCP Enforcement Architecture, 2026.</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[4] A. Sokolov, A Challenge-Nonce Freshness Gap in Project Veraison’s TPM Reference Schemes, 2026.</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[5] H. Feng et al., Agentic AI Security in 6G Networks: Emerging Attack Vectors, Vulnerabilities, and Defenses, IEEE Open Journal of the Communications Society, 2026.</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[6] F. Wegscheider et al., Evolution of Remote Attestation: A Systematic Literature Review of Post-2020 Approaches, 2026.</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[7] J. Forough et al., When Agents Handle Secrets: A Survey of Confidential Computing for Agentic AI, 2026.</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[8] Z. Anbiaee et al., Security Threat Modeling for Emerging AI-Agent Protocols: MCP, A2A, Agora, and ANP, 2026.</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[9] J. Qi et al., Towards Trustworthy Agentic AI: A Comprehensive Survey of Safety, Robustness, Privacy, and Security, Academia AI, 2026.</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[10] K. Chu, A Systematic Survey of Security Threats and Defenses in LLM-Based AI Agents, 2026.</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[11] H. Su et al., A Survey on Autonomy-Induced Security Risks in Large Model-Based Agents, IEEE Transactions on Pattern Analysis and Machine Intelligence, 2026.</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[12] Z. Ji et al., Taming Various Privilege Escalation in LLM-Based Agent Systems: A Mandatory Access Control Framework, 2026.</a:t>
            </a:r>
          </a:p>
        </p:txBody>
      </p:sp>
      <p:sp>
        <p:nvSpPr>
          <p:cNvPr name="AutoShape 4" id="4"/>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5" id="5"/>
          <p:cNvGrpSpPr/>
          <p:nvPr/>
        </p:nvGrpSpPr>
        <p:grpSpPr>
          <a:xfrm rot="0">
            <a:off x="16753451" y="0"/>
            <a:ext cx="4511021" cy="10299697"/>
            <a:chOff x="0" y="0"/>
            <a:chExt cx="6014695" cy="13732929"/>
          </a:xfrm>
        </p:grpSpPr>
        <p:sp>
          <p:nvSpPr>
            <p:cNvPr name="Freeform 6" id="6"/>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7" id="7"/>
          <p:cNvGrpSpPr/>
          <p:nvPr/>
        </p:nvGrpSpPr>
        <p:grpSpPr>
          <a:xfrm rot="0">
            <a:off x="17386396" y="0"/>
            <a:ext cx="3882838" cy="10299697"/>
            <a:chOff x="0" y="0"/>
            <a:chExt cx="5177117" cy="13732929"/>
          </a:xfrm>
        </p:grpSpPr>
        <p:sp>
          <p:nvSpPr>
            <p:cNvPr name="Freeform 8" id="8"/>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9" id="9"/>
          <p:cNvGrpSpPr/>
          <p:nvPr/>
        </p:nvGrpSpPr>
        <p:grpSpPr>
          <a:xfrm rot="0">
            <a:off x="16379737" y="4584697"/>
            <a:ext cx="4889497" cy="5715000"/>
            <a:chOff x="0" y="0"/>
            <a:chExt cx="6519329" cy="7620000"/>
          </a:xfrm>
        </p:grpSpPr>
        <p:sp>
          <p:nvSpPr>
            <p:cNvPr name="Freeform 10" id="10"/>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11" id="11"/>
          <p:cNvGrpSpPr/>
          <p:nvPr/>
        </p:nvGrpSpPr>
        <p:grpSpPr>
          <a:xfrm rot="0">
            <a:off x="16982984" y="0"/>
            <a:ext cx="4281488" cy="10299697"/>
            <a:chOff x="0" y="0"/>
            <a:chExt cx="5708650" cy="13732929"/>
          </a:xfrm>
        </p:grpSpPr>
        <p:sp>
          <p:nvSpPr>
            <p:cNvPr name="Freeform 12" id="12"/>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3" id="13"/>
          <p:cNvGrpSpPr/>
          <p:nvPr/>
        </p:nvGrpSpPr>
        <p:grpSpPr>
          <a:xfrm rot="0">
            <a:off x="0" y="6019800"/>
            <a:ext cx="673103" cy="4267200"/>
            <a:chOff x="0" y="0"/>
            <a:chExt cx="897471" cy="5689600"/>
          </a:xfrm>
        </p:grpSpPr>
        <p:sp>
          <p:nvSpPr>
            <p:cNvPr name="Freeform 14" id="14"/>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5" id="15"/>
          <p:cNvGrpSpPr/>
          <p:nvPr/>
        </p:nvGrpSpPr>
        <p:grpSpPr>
          <a:xfrm rot="0">
            <a:off x="1352779" y="1235452"/>
            <a:ext cx="14880637" cy="119355"/>
            <a:chOff x="0" y="0"/>
            <a:chExt cx="19840849" cy="159140"/>
          </a:xfrm>
        </p:grpSpPr>
        <p:sp>
          <p:nvSpPr>
            <p:cNvPr name="Freeform 16" id="16"/>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7" id="17"/>
          <p:cNvSpPr txBox="true"/>
          <p:nvPr/>
        </p:nvSpPr>
        <p:spPr>
          <a:xfrm rot="0">
            <a:off x="17400491" y="9467762"/>
            <a:ext cx="304800"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18</a:t>
            </a:r>
          </a:p>
        </p:txBody>
      </p:sp>
    </p:spTree>
  </p:cSld>
  <p:clrMapOvr>
    <a:masterClrMapping/>
  </p:clrMapOvr>
  <p:transition spd="fast">
    <p:fade/>
  </p:transition>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469746" y="297180"/>
            <a:ext cx="3348509" cy="73147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REFERENCES</a:t>
            </a:r>
          </a:p>
        </p:txBody>
      </p:sp>
      <p:sp>
        <p:nvSpPr>
          <p:cNvPr name="AutoShape 3" id="3"/>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6753451" y="0"/>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6" id="6"/>
          <p:cNvGrpSpPr/>
          <p:nvPr/>
        </p:nvGrpSpPr>
        <p:grpSpPr>
          <a:xfrm rot="0">
            <a:off x="17386396" y="0"/>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8" id="8"/>
          <p:cNvGrpSpPr/>
          <p:nvPr/>
        </p:nvGrpSpPr>
        <p:grpSpPr>
          <a:xfrm rot="0">
            <a:off x="16379737" y="4584697"/>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10" id="10"/>
          <p:cNvGrpSpPr/>
          <p:nvPr/>
        </p:nvGrpSpPr>
        <p:grpSpPr>
          <a:xfrm rot="0">
            <a:off x="16982984" y="0"/>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2" id="12"/>
          <p:cNvGrpSpPr/>
          <p:nvPr/>
        </p:nvGrpSpPr>
        <p:grpSpPr>
          <a:xfrm rot="0">
            <a:off x="0" y="6019800"/>
            <a:ext cx="673103" cy="4267200"/>
            <a:chOff x="0" y="0"/>
            <a:chExt cx="897471" cy="5689600"/>
          </a:xfrm>
        </p:grpSpPr>
        <p:sp>
          <p:nvSpPr>
            <p:cNvPr name="Freeform 13" id="1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4" id="14"/>
          <p:cNvGrpSpPr/>
          <p:nvPr/>
        </p:nvGrpSpPr>
        <p:grpSpPr>
          <a:xfrm rot="0">
            <a:off x="1352779" y="1235452"/>
            <a:ext cx="14880637" cy="119355"/>
            <a:chOff x="0" y="0"/>
            <a:chExt cx="19840849" cy="159140"/>
          </a:xfrm>
        </p:grpSpPr>
        <p:sp>
          <p:nvSpPr>
            <p:cNvPr name="Freeform 15" id="15"/>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6" id="16"/>
          <p:cNvSpPr txBox="true"/>
          <p:nvPr/>
        </p:nvSpPr>
        <p:spPr>
          <a:xfrm rot="0">
            <a:off x="17400491" y="9467762"/>
            <a:ext cx="304800"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19</a:t>
            </a:r>
          </a:p>
        </p:txBody>
      </p:sp>
      <p:sp>
        <p:nvSpPr>
          <p:cNvPr name="TextBox 17" id="17"/>
          <p:cNvSpPr txBox="true"/>
          <p:nvPr/>
        </p:nvSpPr>
        <p:spPr>
          <a:xfrm rot="0">
            <a:off x="842496" y="1641512"/>
            <a:ext cx="16710395" cy="7539544"/>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[13] Y. Ling et al., Toward Secure LLM Agents: Threat Surfaces, Attacks, Defenses, and Evaluation, 2026.</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[14] </a:t>
            </a:r>
            <a:r>
              <a:rPr lang="en-US" sz="2400">
                <a:solidFill>
                  <a:srgbClr val="000000"/>
                </a:solidFill>
                <a:latin typeface="Times New Roman"/>
                <a:ea typeface="Times New Roman"/>
                <a:cs typeface="Times New Roman"/>
                <a:sym typeface="Times New Roman"/>
              </a:rPr>
              <a:t>Z. </a:t>
            </a:r>
            <a:r>
              <a:rPr lang="en-US" sz="2400">
                <a:solidFill>
                  <a:srgbClr val="000000"/>
                </a:solidFill>
                <a:latin typeface="Times New Roman"/>
                <a:ea typeface="Times New Roman"/>
                <a:cs typeface="Times New Roman"/>
                <a:sym typeface="Times New Roman"/>
              </a:rPr>
              <a:t>Wang et al.</a:t>
            </a:r>
            <a:r>
              <a:rPr lang="en-US" sz="2400">
                <a:solidFill>
                  <a:srgbClr val="000000"/>
                </a:solidFill>
                <a:latin typeface="Times New Roman"/>
                <a:ea typeface="Times New Roman"/>
                <a:cs typeface="Times New Roman"/>
                <a:sym typeface="Times New Roman"/>
              </a:rPr>
              <a:t>,</a:t>
            </a:r>
            <a:r>
              <a:rPr lang="en-US" sz="2400">
                <a:solidFill>
                  <a:srgbClr val="000000"/>
                </a:solidFill>
                <a:latin typeface="Times New Roman"/>
                <a:ea typeface="Times New Roman"/>
                <a:cs typeface="Times New Roman"/>
                <a:sym typeface="Times New Roman"/>
              </a:rPr>
              <a:t> Beyond Detection: Autonomous Anomaly Remediation for MCP Against Tool Poisoning Attacks</a:t>
            </a:r>
            <a:r>
              <a:rPr lang="en-US" sz="2400">
                <a:solidFill>
                  <a:srgbClr val="000000"/>
                </a:solidFill>
                <a:latin typeface="Times New Roman"/>
                <a:ea typeface="Times New Roman"/>
                <a:cs typeface="Times New Roman"/>
                <a:sym typeface="Times New Roman"/>
              </a:rPr>
              <a:t>,</a:t>
            </a:r>
            <a:r>
              <a:rPr lang="en-US" sz="2400">
                <a:solidFill>
                  <a:srgbClr val="000000"/>
                </a:solidFill>
                <a:latin typeface="Times New Roman"/>
                <a:ea typeface="Times New Roman"/>
                <a:cs typeface="Times New Roman"/>
                <a:sym typeface="Times New Roman"/>
              </a:rPr>
              <a:t> ACM Web Conf</a:t>
            </a:r>
            <a:r>
              <a:rPr lang="en-US" sz="2400">
                <a:solidFill>
                  <a:srgbClr val="000000"/>
                </a:solidFill>
                <a:latin typeface="Times New Roman"/>
                <a:ea typeface="Times New Roman"/>
                <a:cs typeface="Times New Roman"/>
                <a:sym typeface="Times New Roman"/>
              </a:rPr>
              <a:t>erence</a:t>
            </a:r>
            <a:r>
              <a:rPr lang="en-US" sz="2400">
                <a:solidFill>
                  <a:srgbClr val="000000"/>
                </a:solidFill>
                <a:latin typeface="Times New Roman"/>
                <a:ea typeface="Times New Roman"/>
                <a:cs typeface="Times New Roman"/>
                <a:sym typeface="Times New Roman"/>
              </a:rPr>
              <a:t>, 2026.</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[15] </a:t>
            </a:r>
            <a:r>
              <a:rPr lang="en-US" sz="2400">
                <a:solidFill>
                  <a:srgbClr val="000000"/>
                </a:solidFill>
                <a:latin typeface="Times New Roman"/>
                <a:ea typeface="Times New Roman"/>
                <a:cs typeface="Times New Roman"/>
                <a:sym typeface="Times New Roman"/>
              </a:rPr>
              <a:t>C. </a:t>
            </a:r>
            <a:r>
              <a:rPr lang="en-US" sz="2400">
                <a:solidFill>
                  <a:srgbClr val="000000"/>
                </a:solidFill>
                <a:latin typeface="Times New Roman"/>
                <a:ea typeface="Times New Roman"/>
                <a:cs typeface="Times New Roman"/>
                <a:sym typeface="Times New Roman"/>
              </a:rPr>
              <a:t>Weinhold et al.</a:t>
            </a:r>
            <a:r>
              <a:rPr lang="en-US" sz="2400">
                <a:solidFill>
                  <a:srgbClr val="000000"/>
                </a:solidFill>
                <a:latin typeface="Times New Roman"/>
                <a:ea typeface="Times New Roman"/>
                <a:cs typeface="Times New Roman"/>
                <a:sym typeface="Times New Roman"/>
              </a:rPr>
              <a:t>,</a:t>
            </a:r>
            <a:r>
              <a:rPr lang="en-US" sz="2400">
                <a:solidFill>
                  <a:srgbClr val="000000"/>
                </a:solidFill>
                <a:latin typeface="Times New Roman"/>
                <a:ea typeface="Times New Roman"/>
                <a:cs typeface="Times New Roman"/>
                <a:sym typeface="Times New Roman"/>
              </a:rPr>
              <a:t> Separate but </a:t>
            </a:r>
            <a:r>
              <a:rPr lang="en-US" sz="2400">
                <a:solidFill>
                  <a:srgbClr val="000000"/>
                </a:solidFill>
                <a:latin typeface="Times New Roman"/>
                <a:ea typeface="Times New Roman"/>
                <a:cs typeface="Times New Roman"/>
                <a:sym typeface="Times New Roman"/>
              </a:rPr>
              <a:t>T</a:t>
            </a:r>
            <a:r>
              <a:rPr lang="en-US" sz="2400">
                <a:solidFill>
                  <a:srgbClr val="000000"/>
                </a:solidFill>
                <a:latin typeface="Times New Roman"/>
                <a:ea typeface="Times New Roman"/>
                <a:cs typeface="Times New Roman"/>
                <a:sym typeface="Times New Roman"/>
              </a:rPr>
              <a:t>ogether: </a:t>
            </a:r>
            <a:r>
              <a:rPr lang="en-US" sz="2400">
                <a:solidFill>
                  <a:srgbClr val="000000"/>
                </a:solidFill>
                <a:latin typeface="Times New Roman"/>
                <a:ea typeface="Times New Roman"/>
                <a:cs typeface="Times New Roman"/>
                <a:sym typeface="Times New Roman"/>
              </a:rPr>
              <a:t>I</a:t>
            </a:r>
            <a:r>
              <a:rPr lang="en-US" sz="2400">
                <a:solidFill>
                  <a:srgbClr val="000000"/>
                </a:solidFill>
                <a:latin typeface="Times New Roman"/>
                <a:ea typeface="Times New Roman"/>
                <a:cs typeface="Times New Roman"/>
                <a:sym typeface="Times New Roman"/>
              </a:rPr>
              <a:t>ntegrating </a:t>
            </a:r>
            <a:r>
              <a:rPr lang="en-US" sz="2400">
                <a:solidFill>
                  <a:srgbClr val="000000"/>
                </a:solidFill>
                <a:latin typeface="Times New Roman"/>
                <a:ea typeface="Times New Roman"/>
                <a:cs typeface="Times New Roman"/>
                <a:sym typeface="Times New Roman"/>
              </a:rPr>
              <a:t>R</a:t>
            </a:r>
            <a:r>
              <a:rPr lang="en-US" sz="2400">
                <a:solidFill>
                  <a:srgbClr val="000000"/>
                </a:solidFill>
                <a:latin typeface="Times New Roman"/>
                <a:ea typeface="Times New Roman"/>
                <a:cs typeface="Times New Roman"/>
                <a:sym typeface="Times New Roman"/>
              </a:rPr>
              <a:t>emote </a:t>
            </a:r>
            <a:r>
              <a:rPr lang="en-US" sz="2400">
                <a:solidFill>
                  <a:srgbClr val="000000"/>
                </a:solidFill>
                <a:latin typeface="Times New Roman"/>
                <a:ea typeface="Times New Roman"/>
                <a:cs typeface="Times New Roman"/>
                <a:sym typeface="Times New Roman"/>
              </a:rPr>
              <a:t>A</a:t>
            </a:r>
            <a:r>
              <a:rPr lang="en-US" sz="2400">
                <a:solidFill>
                  <a:srgbClr val="000000"/>
                </a:solidFill>
                <a:latin typeface="Times New Roman"/>
                <a:ea typeface="Times New Roman"/>
                <a:cs typeface="Times New Roman"/>
                <a:sym typeface="Times New Roman"/>
              </a:rPr>
              <a:t>ttestation into TLS</a:t>
            </a:r>
            <a:r>
              <a:rPr lang="en-US" sz="2400">
                <a:solidFill>
                  <a:srgbClr val="000000"/>
                </a:solidFill>
                <a:latin typeface="Times New Roman"/>
                <a:ea typeface="Times New Roman"/>
                <a:cs typeface="Times New Roman"/>
                <a:sym typeface="Times New Roman"/>
              </a:rPr>
              <a:t>,</a:t>
            </a:r>
            <a:r>
              <a:rPr lang="en-US" sz="2400">
                <a:solidFill>
                  <a:srgbClr val="000000"/>
                </a:solidFill>
                <a:latin typeface="Times New Roman"/>
                <a:ea typeface="Times New Roman"/>
                <a:cs typeface="Times New Roman"/>
                <a:sym typeface="Times New Roman"/>
              </a:rPr>
              <a:t> USENIX ATC, 2025.</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[16] </a:t>
            </a:r>
            <a:r>
              <a:rPr lang="en-US" sz="2400">
                <a:solidFill>
                  <a:srgbClr val="000000"/>
                </a:solidFill>
                <a:latin typeface="Times New Roman"/>
                <a:ea typeface="Times New Roman"/>
                <a:cs typeface="Times New Roman"/>
                <a:sym typeface="Times New Roman"/>
              </a:rPr>
              <a:t>H. </a:t>
            </a:r>
            <a:r>
              <a:rPr lang="en-US" sz="2400">
                <a:solidFill>
                  <a:srgbClr val="000000"/>
                </a:solidFill>
                <a:latin typeface="Times New Roman"/>
                <a:ea typeface="Times New Roman"/>
                <a:cs typeface="Times New Roman"/>
                <a:sym typeface="Times New Roman"/>
              </a:rPr>
              <a:t>Weissteiner et al.</a:t>
            </a:r>
            <a:r>
              <a:rPr lang="en-US" sz="2400">
                <a:solidFill>
                  <a:srgbClr val="000000"/>
                </a:solidFill>
                <a:latin typeface="Times New Roman"/>
                <a:ea typeface="Times New Roman"/>
                <a:cs typeface="Times New Roman"/>
                <a:sym typeface="Times New Roman"/>
              </a:rPr>
              <a:t>,</a:t>
            </a:r>
            <a:r>
              <a:rPr lang="en-US" sz="2400">
                <a:solidFill>
                  <a:srgbClr val="000000"/>
                </a:solidFill>
                <a:latin typeface="Times New Roman"/>
                <a:ea typeface="Times New Roman"/>
                <a:cs typeface="Times New Roman"/>
                <a:sym typeface="Times New Roman"/>
              </a:rPr>
              <a:t> TEEcorrelate: An Information-Preserving Defense against Performance-Counter Attacks on TEEs</a:t>
            </a:r>
            <a:r>
              <a:rPr lang="en-US" sz="2400">
                <a:solidFill>
                  <a:srgbClr val="000000"/>
                </a:solidFill>
                <a:latin typeface="Times New Roman"/>
                <a:ea typeface="Times New Roman"/>
                <a:cs typeface="Times New Roman"/>
                <a:sym typeface="Times New Roman"/>
              </a:rPr>
              <a:t>,</a:t>
            </a:r>
            <a:r>
              <a:rPr lang="en-US" sz="2400">
                <a:solidFill>
                  <a:srgbClr val="000000"/>
                </a:solidFill>
                <a:latin typeface="Times New Roman"/>
                <a:ea typeface="Times New Roman"/>
                <a:cs typeface="Times New Roman"/>
                <a:sym typeface="Times New Roman"/>
              </a:rPr>
              <a:t> USENIX Security, 2025.</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[17] </a:t>
            </a:r>
            <a:r>
              <a:rPr lang="en-US" sz="2400">
                <a:solidFill>
                  <a:srgbClr val="000000"/>
                </a:solidFill>
                <a:latin typeface="Times New Roman"/>
                <a:ea typeface="Times New Roman"/>
                <a:cs typeface="Times New Roman"/>
                <a:sym typeface="Times New Roman"/>
              </a:rPr>
              <a:t>F. </a:t>
            </a:r>
            <a:r>
              <a:rPr lang="en-US" sz="2400">
                <a:solidFill>
                  <a:srgbClr val="000000"/>
                </a:solidFill>
                <a:latin typeface="Times New Roman"/>
                <a:ea typeface="Times New Roman"/>
                <a:cs typeface="Times New Roman"/>
                <a:sym typeface="Times New Roman"/>
              </a:rPr>
              <a:t>Rauscher et al.</a:t>
            </a:r>
            <a:r>
              <a:rPr lang="en-US" sz="2400">
                <a:solidFill>
                  <a:srgbClr val="000000"/>
                </a:solidFill>
                <a:latin typeface="Times New Roman"/>
                <a:ea typeface="Times New Roman"/>
                <a:cs typeface="Times New Roman"/>
                <a:sym typeface="Times New Roman"/>
              </a:rPr>
              <a:t>,</a:t>
            </a:r>
            <a:r>
              <a:rPr lang="en-US" sz="2400">
                <a:solidFill>
                  <a:srgbClr val="000000"/>
                </a:solidFill>
                <a:latin typeface="Times New Roman"/>
                <a:ea typeface="Times New Roman"/>
                <a:cs typeface="Times New Roman"/>
                <a:sym typeface="Times New Roman"/>
              </a:rPr>
              <a:t> TDXploit: Novel </a:t>
            </a:r>
            <a:r>
              <a:rPr lang="en-US" sz="2400">
                <a:solidFill>
                  <a:srgbClr val="000000"/>
                </a:solidFill>
                <a:latin typeface="Times New Roman"/>
                <a:ea typeface="Times New Roman"/>
                <a:cs typeface="Times New Roman"/>
                <a:sym typeface="Times New Roman"/>
              </a:rPr>
              <a:t>T</a:t>
            </a:r>
            <a:r>
              <a:rPr lang="en-US" sz="2400">
                <a:solidFill>
                  <a:srgbClr val="000000"/>
                </a:solidFill>
                <a:latin typeface="Times New Roman"/>
                <a:ea typeface="Times New Roman"/>
                <a:cs typeface="Times New Roman"/>
                <a:sym typeface="Times New Roman"/>
              </a:rPr>
              <a:t>echniques for Single-Stepping and </a:t>
            </a:r>
            <a:r>
              <a:rPr lang="en-US" sz="2400">
                <a:solidFill>
                  <a:srgbClr val="000000"/>
                </a:solidFill>
                <a:latin typeface="Times New Roman"/>
                <a:ea typeface="Times New Roman"/>
                <a:cs typeface="Times New Roman"/>
                <a:sym typeface="Times New Roman"/>
              </a:rPr>
              <a:t>C</a:t>
            </a:r>
            <a:r>
              <a:rPr lang="en-US" sz="2400">
                <a:solidFill>
                  <a:srgbClr val="000000"/>
                </a:solidFill>
                <a:latin typeface="Times New Roman"/>
                <a:ea typeface="Times New Roman"/>
                <a:cs typeface="Times New Roman"/>
                <a:sym typeface="Times New Roman"/>
              </a:rPr>
              <a:t>ache </a:t>
            </a:r>
            <a:r>
              <a:rPr lang="en-US" sz="2400">
                <a:solidFill>
                  <a:srgbClr val="000000"/>
                </a:solidFill>
                <a:latin typeface="Times New Roman"/>
                <a:ea typeface="Times New Roman"/>
                <a:cs typeface="Times New Roman"/>
                <a:sym typeface="Times New Roman"/>
              </a:rPr>
              <a:t>A</a:t>
            </a:r>
            <a:r>
              <a:rPr lang="en-US" sz="2400">
                <a:solidFill>
                  <a:srgbClr val="000000"/>
                </a:solidFill>
                <a:latin typeface="Times New Roman"/>
                <a:ea typeface="Times New Roman"/>
                <a:cs typeface="Times New Roman"/>
                <a:sym typeface="Times New Roman"/>
              </a:rPr>
              <a:t>ttacks on Intel TDX</a:t>
            </a:r>
            <a:r>
              <a:rPr lang="en-US" sz="2400">
                <a:solidFill>
                  <a:srgbClr val="000000"/>
                </a:solidFill>
                <a:latin typeface="Times New Roman"/>
                <a:ea typeface="Times New Roman"/>
                <a:cs typeface="Times New Roman"/>
                <a:sym typeface="Times New Roman"/>
              </a:rPr>
              <a:t>,</a:t>
            </a:r>
            <a:r>
              <a:rPr lang="en-US" sz="2400">
                <a:solidFill>
                  <a:srgbClr val="000000"/>
                </a:solidFill>
                <a:latin typeface="Times New Roman"/>
                <a:ea typeface="Times New Roman"/>
                <a:cs typeface="Times New Roman"/>
                <a:sym typeface="Times New Roman"/>
              </a:rPr>
              <a:t> USENIX Security, 2025.</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[18] </a:t>
            </a:r>
            <a:r>
              <a:rPr lang="en-US" sz="2400">
                <a:solidFill>
                  <a:srgbClr val="000000"/>
                </a:solidFill>
                <a:latin typeface="Times New Roman"/>
                <a:ea typeface="Times New Roman"/>
                <a:cs typeface="Times New Roman"/>
                <a:sym typeface="Times New Roman"/>
              </a:rPr>
              <a:t>R. </a:t>
            </a:r>
            <a:r>
              <a:rPr lang="en-US" sz="2400">
                <a:solidFill>
                  <a:srgbClr val="000000"/>
                </a:solidFill>
                <a:latin typeface="Times New Roman"/>
                <a:ea typeface="Times New Roman"/>
                <a:cs typeface="Times New Roman"/>
                <a:sym typeface="Times New Roman"/>
              </a:rPr>
              <a:t>Upadhyay et al.</a:t>
            </a:r>
            <a:r>
              <a:rPr lang="en-US" sz="2400">
                <a:solidFill>
                  <a:srgbClr val="000000"/>
                </a:solidFill>
                <a:latin typeface="Times New Roman"/>
                <a:ea typeface="Times New Roman"/>
                <a:cs typeface="Times New Roman"/>
                <a:sym typeface="Times New Roman"/>
              </a:rPr>
              <a:t>,</a:t>
            </a:r>
            <a:r>
              <a:rPr lang="en-US" sz="2400">
                <a:solidFill>
                  <a:srgbClr val="000000"/>
                </a:solidFill>
                <a:latin typeface="Times New Roman"/>
                <a:ea typeface="Times New Roman"/>
                <a:cs typeface="Times New Roman"/>
                <a:sym typeface="Times New Roman"/>
              </a:rPr>
              <a:t> TPM-</a:t>
            </a:r>
            <a:r>
              <a:rPr lang="en-US" sz="2400">
                <a:solidFill>
                  <a:srgbClr val="000000"/>
                </a:solidFill>
                <a:latin typeface="Times New Roman"/>
                <a:ea typeface="Times New Roman"/>
                <a:cs typeface="Times New Roman"/>
                <a:sym typeface="Times New Roman"/>
              </a:rPr>
              <a:t>B</a:t>
            </a:r>
            <a:r>
              <a:rPr lang="en-US" sz="2400">
                <a:solidFill>
                  <a:srgbClr val="000000"/>
                </a:solidFill>
                <a:latin typeface="Times New Roman"/>
                <a:ea typeface="Times New Roman"/>
                <a:cs typeface="Times New Roman"/>
                <a:sym typeface="Times New Roman"/>
              </a:rPr>
              <a:t>ased </a:t>
            </a:r>
            <a:r>
              <a:rPr lang="en-US" sz="2400">
                <a:solidFill>
                  <a:srgbClr val="000000"/>
                </a:solidFill>
                <a:latin typeface="Times New Roman"/>
                <a:ea typeface="Times New Roman"/>
                <a:cs typeface="Times New Roman"/>
                <a:sym typeface="Times New Roman"/>
              </a:rPr>
              <a:t>C</a:t>
            </a:r>
            <a:r>
              <a:rPr lang="en-US" sz="2400">
                <a:solidFill>
                  <a:srgbClr val="000000"/>
                </a:solidFill>
                <a:latin typeface="Times New Roman"/>
                <a:ea typeface="Times New Roman"/>
                <a:cs typeface="Times New Roman"/>
                <a:sym typeface="Times New Roman"/>
              </a:rPr>
              <a:t>ontinuous </a:t>
            </a:r>
            <a:r>
              <a:rPr lang="en-US" sz="2400">
                <a:solidFill>
                  <a:srgbClr val="000000"/>
                </a:solidFill>
                <a:latin typeface="Times New Roman"/>
                <a:ea typeface="Times New Roman"/>
                <a:cs typeface="Times New Roman"/>
                <a:sym typeface="Times New Roman"/>
              </a:rPr>
              <a:t>R</a:t>
            </a:r>
            <a:r>
              <a:rPr lang="en-US" sz="2400">
                <a:solidFill>
                  <a:srgbClr val="000000"/>
                </a:solidFill>
                <a:latin typeface="Times New Roman"/>
                <a:ea typeface="Times New Roman"/>
                <a:cs typeface="Times New Roman"/>
                <a:sym typeface="Times New Roman"/>
              </a:rPr>
              <a:t>emote </a:t>
            </a:r>
            <a:r>
              <a:rPr lang="en-US" sz="2400">
                <a:solidFill>
                  <a:srgbClr val="000000"/>
                </a:solidFill>
                <a:latin typeface="Times New Roman"/>
                <a:ea typeface="Times New Roman"/>
                <a:cs typeface="Times New Roman"/>
                <a:sym typeface="Times New Roman"/>
              </a:rPr>
              <a:t>A</a:t>
            </a:r>
            <a:r>
              <a:rPr lang="en-US" sz="2400">
                <a:solidFill>
                  <a:srgbClr val="000000"/>
                </a:solidFill>
                <a:latin typeface="Times New Roman"/>
                <a:ea typeface="Times New Roman"/>
                <a:cs typeface="Times New Roman"/>
                <a:sym typeface="Times New Roman"/>
              </a:rPr>
              <a:t>ttestation and </a:t>
            </a:r>
            <a:r>
              <a:rPr lang="en-US" sz="2400">
                <a:solidFill>
                  <a:srgbClr val="000000"/>
                </a:solidFill>
                <a:latin typeface="Times New Roman"/>
                <a:ea typeface="Times New Roman"/>
                <a:cs typeface="Times New Roman"/>
                <a:sym typeface="Times New Roman"/>
              </a:rPr>
              <a:t>I</a:t>
            </a:r>
            <a:r>
              <a:rPr lang="en-US" sz="2400">
                <a:solidFill>
                  <a:srgbClr val="000000"/>
                </a:solidFill>
                <a:latin typeface="Times New Roman"/>
                <a:ea typeface="Times New Roman"/>
                <a:cs typeface="Times New Roman"/>
                <a:sym typeface="Times New Roman"/>
              </a:rPr>
              <a:t>ntegrity </a:t>
            </a:r>
            <a:r>
              <a:rPr lang="en-US" sz="2400">
                <a:solidFill>
                  <a:srgbClr val="000000"/>
                </a:solidFill>
                <a:latin typeface="Times New Roman"/>
                <a:ea typeface="Times New Roman"/>
                <a:cs typeface="Times New Roman"/>
                <a:sym typeface="Times New Roman"/>
              </a:rPr>
              <a:t>V</a:t>
            </a:r>
            <a:r>
              <a:rPr lang="en-US" sz="2400">
                <a:solidFill>
                  <a:srgbClr val="000000"/>
                </a:solidFill>
                <a:latin typeface="Times New Roman"/>
                <a:ea typeface="Times New Roman"/>
                <a:cs typeface="Times New Roman"/>
                <a:sym typeface="Times New Roman"/>
              </a:rPr>
              <a:t>erification for 5G VNFs on Kubernetes</a:t>
            </a:r>
            <a:r>
              <a:rPr lang="en-US" sz="2400">
                <a:solidFill>
                  <a:srgbClr val="000000"/>
                </a:solidFill>
                <a:latin typeface="Times New Roman"/>
                <a:ea typeface="Times New Roman"/>
                <a:cs typeface="Times New Roman"/>
                <a:sym typeface="Times New Roman"/>
              </a:rPr>
              <a:t>,</a:t>
            </a:r>
            <a:r>
              <a:rPr lang="en-US" sz="2400">
                <a:solidFill>
                  <a:srgbClr val="000000"/>
                </a:solidFill>
                <a:latin typeface="Times New Roman"/>
                <a:ea typeface="Times New Roman"/>
                <a:cs typeface="Times New Roman"/>
                <a:sym typeface="Times New Roman"/>
              </a:rPr>
              <a:t> IEEE TPS-ISA, 2025.</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[19] </a:t>
            </a:r>
            <a:r>
              <a:rPr lang="en-US" sz="2400">
                <a:solidFill>
                  <a:srgbClr val="000000"/>
                </a:solidFill>
                <a:latin typeface="Times New Roman"/>
                <a:ea typeface="Times New Roman"/>
                <a:cs typeface="Times New Roman"/>
                <a:sym typeface="Times New Roman"/>
              </a:rPr>
              <a:t>K. </a:t>
            </a:r>
            <a:r>
              <a:rPr lang="en-US" sz="2400">
                <a:solidFill>
                  <a:srgbClr val="000000"/>
                </a:solidFill>
                <a:latin typeface="Times New Roman"/>
                <a:ea typeface="Times New Roman"/>
                <a:cs typeface="Times New Roman"/>
                <a:sym typeface="Times New Roman"/>
              </a:rPr>
              <a:t>Shang et al.</a:t>
            </a:r>
            <a:r>
              <a:rPr lang="en-US" sz="2400">
                <a:solidFill>
                  <a:srgbClr val="000000"/>
                </a:solidFill>
                <a:latin typeface="Times New Roman"/>
                <a:ea typeface="Times New Roman"/>
                <a:cs typeface="Times New Roman"/>
                <a:sym typeface="Times New Roman"/>
              </a:rPr>
              <a:t>,</a:t>
            </a:r>
            <a:r>
              <a:rPr lang="en-US" sz="2400">
                <a:solidFill>
                  <a:srgbClr val="000000"/>
                </a:solidFill>
                <a:latin typeface="Times New Roman"/>
                <a:ea typeface="Times New Roman"/>
                <a:cs typeface="Times New Roman"/>
                <a:sym typeface="Times New Roman"/>
              </a:rPr>
              <a:t> CCxTrust: Confidential Computing Platform Based on TEE and TPM Collaborative Trust, 2024.</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[20] </a:t>
            </a:r>
            <a:r>
              <a:rPr lang="en-US" sz="2400">
                <a:solidFill>
                  <a:srgbClr val="000000"/>
                </a:solidFill>
                <a:latin typeface="Times New Roman"/>
                <a:ea typeface="Times New Roman"/>
                <a:cs typeface="Times New Roman"/>
                <a:sym typeface="Times New Roman"/>
              </a:rPr>
              <a:t>C. </a:t>
            </a:r>
            <a:r>
              <a:rPr lang="en-US" sz="2400">
                <a:solidFill>
                  <a:srgbClr val="000000"/>
                </a:solidFill>
                <a:latin typeface="Times New Roman"/>
                <a:ea typeface="Times New Roman"/>
                <a:cs typeface="Times New Roman"/>
                <a:sym typeface="Times New Roman"/>
              </a:rPr>
              <a:t>Eichler et al.</a:t>
            </a:r>
            <a:r>
              <a:rPr lang="en-US" sz="2400">
                <a:solidFill>
                  <a:srgbClr val="000000"/>
                </a:solidFill>
                <a:latin typeface="Times New Roman"/>
                <a:ea typeface="Times New Roman"/>
                <a:cs typeface="Times New Roman"/>
                <a:sym typeface="Times New Roman"/>
              </a:rPr>
              <a:t>,</a:t>
            </a:r>
            <a:r>
              <a:rPr lang="en-US" sz="2400">
                <a:solidFill>
                  <a:srgbClr val="000000"/>
                </a:solidFill>
                <a:latin typeface="Times New Roman"/>
                <a:ea typeface="Times New Roman"/>
                <a:cs typeface="Times New Roman"/>
                <a:sym typeface="Times New Roman"/>
              </a:rPr>
              <a:t> Profiling with </a:t>
            </a:r>
            <a:r>
              <a:rPr lang="en-US" sz="2400">
                <a:solidFill>
                  <a:srgbClr val="000000"/>
                </a:solidFill>
                <a:latin typeface="Times New Roman"/>
                <a:ea typeface="Times New Roman"/>
                <a:cs typeface="Times New Roman"/>
                <a:sym typeface="Times New Roman"/>
              </a:rPr>
              <a:t>T</a:t>
            </a:r>
            <a:r>
              <a:rPr lang="en-US" sz="2400">
                <a:solidFill>
                  <a:srgbClr val="000000"/>
                </a:solidFill>
                <a:latin typeface="Times New Roman"/>
                <a:ea typeface="Times New Roman"/>
                <a:cs typeface="Times New Roman"/>
                <a:sym typeface="Times New Roman"/>
              </a:rPr>
              <a:t>rust: </a:t>
            </a:r>
            <a:r>
              <a:rPr lang="en-US" sz="2400">
                <a:solidFill>
                  <a:srgbClr val="000000"/>
                </a:solidFill>
                <a:latin typeface="Times New Roman"/>
                <a:ea typeface="Times New Roman"/>
                <a:cs typeface="Times New Roman"/>
                <a:sym typeface="Times New Roman"/>
              </a:rPr>
              <a:t>S</a:t>
            </a:r>
            <a:r>
              <a:rPr lang="en-US" sz="2400">
                <a:solidFill>
                  <a:srgbClr val="000000"/>
                </a:solidFill>
                <a:latin typeface="Times New Roman"/>
                <a:ea typeface="Times New Roman"/>
                <a:cs typeface="Times New Roman"/>
                <a:sym typeface="Times New Roman"/>
              </a:rPr>
              <a:t>ystem </a:t>
            </a:r>
            <a:r>
              <a:rPr lang="en-US" sz="2400">
                <a:solidFill>
                  <a:srgbClr val="000000"/>
                </a:solidFill>
                <a:latin typeface="Times New Roman"/>
                <a:ea typeface="Times New Roman"/>
                <a:cs typeface="Times New Roman"/>
                <a:sym typeface="Times New Roman"/>
              </a:rPr>
              <a:t>M</a:t>
            </a:r>
            <a:r>
              <a:rPr lang="en-US" sz="2400">
                <a:solidFill>
                  <a:srgbClr val="000000"/>
                </a:solidFill>
                <a:latin typeface="Times New Roman"/>
                <a:ea typeface="Times New Roman"/>
                <a:cs typeface="Times New Roman"/>
                <a:sym typeface="Times New Roman"/>
              </a:rPr>
              <a:t>onitoring from </a:t>
            </a:r>
            <a:r>
              <a:rPr lang="en-US" sz="2400">
                <a:solidFill>
                  <a:srgbClr val="000000"/>
                </a:solidFill>
                <a:latin typeface="Times New Roman"/>
                <a:ea typeface="Times New Roman"/>
                <a:cs typeface="Times New Roman"/>
                <a:sym typeface="Times New Roman"/>
              </a:rPr>
              <a:t>T</a:t>
            </a:r>
            <a:r>
              <a:rPr lang="en-US" sz="2400">
                <a:solidFill>
                  <a:srgbClr val="000000"/>
                </a:solidFill>
                <a:latin typeface="Times New Roman"/>
                <a:ea typeface="Times New Roman"/>
                <a:cs typeface="Times New Roman"/>
                <a:sym typeface="Times New Roman"/>
              </a:rPr>
              <a:t>rusted </a:t>
            </a:r>
            <a:r>
              <a:rPr lang="en-US" sz="2400">
                <a:solidFill>
                  <a:srgbClr val="000000"/>
                </a:solidFill>
                <a:latin typeface="Times New Roman"/>
                <a:ea typeface="Times New Roman"/>
                <a:cs typeface="Times New Roman"/>
                <a:sym typeface="Times New Roman"/>
              </a:rPr>
              <a:t>E</a:t>
            </a:r>
            <a:r>
              <a:rPr lang="en-US" sz="2400">
                <a:solidFill>
                  <a:srgbClr val="000000"/>
                </a:solidFill>
                <a:latin typeface="Times New Roman"/>
                <a:ea typeface="Times New Roman"/>
                <a:cs typeface="Times New Roman"/>
                <a:sym typeface="Times New Roman"/>
              </a:rPr>
              <a:t>xecution </a:t>
            </a:r>
            <a:r>
              <a:rPr lang="en-US" sz="2400">
                <a:solidFill>
                  <a:srgbClr val="000000"/>
                </a:solidFill>
                <a:latin typeface="Times New Roman"/>
                <a:ea typeface="Times New Roman"/>
                <a:cs typeface="Times New Roman"/>
                <a:sym typeface="Times New Roman"/>
              </a:rPr>
              <a:t>E</a:t>
            </a:r>
            <a:r>
              <a:rPr lang="en-US" sz="2400">
                <a:solidFill>
                  <a:srgbClr val="000000"/>
                </a:solidFill>
                <a:latin typeface="Times New Roman"/>
                <a:ea typeface="Times New Roman"/>
                <a:cs typeface="Times New Roman"/>
                <a:sym typeface="Times New Roman"/>
              </a:rPr>
              <a:t>nvironments</a:t>
            </a:r>
            <a:r>
              <a:rPr lang="en-US" sz="2400">
                <a:solidFill>
                  <a:srgbClr val="000000"/>
                </a:solidFill>
                <a:latin typeface="Times New Roman"/>
                <a:ea typeface="Times New Roman"/>
                <a:cs typeface="Times New Roman"/>
                <a:sym typeface="Times New Roman"/>
              </a:rPr>
              <a:t>,</a:t>
            </a:r>
            <a:r>
              <a:rPr lang="en-US" sz="2400">
                <a:solidFill>
                  <a:srgbClr val="000000"/>
                </a:solidFill>
                <a:latin typeface="Times New Roman"/>
                <a:ea typeface="Times New Roman"/>
                <a:cs typeface="Times New Roman"/>
                <a:sym typeface="Times New Roman"/>
              </a:rPr>
              <a:t> Design Automation for Embedded Systems, 2024.</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[21] </a:t>
            </a:r>
            <a:r>
              <a:rPr lang="en-US" sz="2400">
                <a:solidFill>
                  <a:srgbClr val="000000"/>
                </a:solidFill>
                <a:latin typeface="Times New Roman"/>
                <a:ea typeface="Times New Roman"/>
                <a:cs typeface="Times New Roman"/>
                <a:sym typeface="Times New Roman"/>
              </a:rPr>
              <a:t>M. </a:t>
            </a:r>
            <a:r>
              <a:rPr lang="en-US" sz="2400">
                <a:solidFill>
                  <a:srgbClr val="000000"/>
                </a:solidFill>
                <a:latin typeface="Times New Roman"/>
                <a:ea typeface="Times New Roman"/>
                <a:cs typeface="Times New Roman"/>
                <a:sym typeface="Times New Roman"/>
              </a:rPr>
              <a:t>Usama et al.</a:t>
            </a:r>
            <a:r>
              <a:rPr lang="en-US" sz="2400">
                <a:solidFill>
                  <a:srgbClr val="000000"/>
                </a:solidFill>
                <a:latin typeface="Times New Roman"/>
                <a:ea typeface="Times New Roman"/>
                <a:cs typeface="Times New Roman"/>
                <a:sym typeface="Times New Roman"/>
              </a:rPr>
              <a:t>,</a:t>
            </a:r>
            <a:r>
              <a:rPr lang="en-US" sz="2400">
                <a:solidFill>
                  <a:srgbClr val="000000"/>
                </a:solidFill>
                <a:latin typeface="Times New Roman"/>
                <a:ea typeface="Times New Roman"/>
                <a:cs typeface="Times New Roman"/>
                <a:sym typeface="Times New Roman"/>
              </a:rPr>
              <a:t> Runtime </a:t>
            </a:r>
            <a:r>
              <a:rPr lang="en-US" sz="2400">
                <a:solidFill>
                  <a:srgbClr val="000000"/>
                </a:solidFill>
                <a:latin typeface="Times New Roman"/>
                <a:ea typeface="Times New Roman"/>
                <a:cs typeface="Times New Roman"/>
                <a:sym typeface="Times New Roman"/>
              </a:rPr>
              <a:t>S</a:t>
            </a:r>
            <a:r>
              <a:rPr lang="en-US" sz="2400">
                <a:solidFill>
                  <a:srgbClr val="000000"/>
                </a:solidFill>
                <a:latin typeface="Times New Roman"/>
                <a:ea typeface="Times New Roman"/>
                <a:cs typeface="Times New Roman"/>
                <a:sym typeface="Times New Roman"/>
              </a:rPr>
              <a:t>elf-</a:t>
            </a:r>
            <a:r>
              <a:rPr lang="en-US" sz="2400">
                <a:solidFill>
                  <a:srgbClr val="000000"/>
                </a:solidFill>
                <a:latin typeface="Times New Roman"/>
                <a:ea typeface="Times New Roman"/>
                <a:cs typeface="Times New Roman"/>
                <a:sym typeface="Times New Roman"/>
              </a:rPr>
              <a:t>A</a:t>
            </a:r>
            <a:r>
              <a:rPr lang="en-US" sz="2400">
                <a:solidFill>
                  <a:srgbClr val="000000"/>
                </a:solidFill>
                <a:latin typeface="Times New Roman"/>
                <a:ea typeface="Times New Roman"/>
                <a:cs typeface="Times New Roman"/>
                <a:sym typeface="Times New Roman"/>
              </a:rPr>
              <a:t>ttestation of FPGA-</a:t>
            </a:r>
            <a:r>
              <a:rPr lang="en-US" sz="2400">
                <a:solidFill>
                  <a:srgbClr val="000000"/>
                </a:solidFill>
                <a:latin typeface="Times New Roman"/>
                <a:ea typeface="Times New Roman"/>
                <a:cs typeface="Times New Roman"/>
                <a:sym typeface="Times New Roman"/>
              </a:rPr>
              <a:t>B</a:t>
            </a:r>
            <a:r>
              <a:rPr lang="en-US" sz="2400">
                <a:solidFill>
                  <a:srgbClr val="000000"/>
                </a:solidFill>
                <a:latin typeface="Times New Roman"/>
                <a:ea typeface="Times New Roman"/>
                <a:cs typeface="Times New Roman"/>
                <a:sym typeface="Times New Roman"/>
              </a:rPr>
              <a:t>ased IoT </a:t>
            </a:r>
            <a:r>
              <a:rPr lang="en-US" sz="2400">
                <a:solidFill>
                  <a:srgbClr val="000000"/>
                </a:solidFill>
                <a:latin typeface="Times New Roman"/>
                <a:ea typeface="Times New Roman"/>
                <a:cs typeface="Times New Roman"/>
                <a:sym typeface="Times New Roman"/>
              </a:rPr>
              <a:t>D</a:t>
            </a:r>
            <a:r>
              <a:rPr lang="en-US" sz="2400">
                <a:solidFill>
                  <a:srgbClr val="000000"/>
                </a:solidFill>
                <a:latin typeface="Times New Roman"/>
                <a:ea typeface="Times New Roman"/>
                <a:cs typeface="Times New Roman"/>
                <a:sym typeface="Times New Roman"/>
              </a:rPr>
              <a:t>evices</a:t>
            </a:r>
            <a:r>
              <a:rPr lang="en-US" sz="2400">
                <a:solidFill>
                  <a:srgbClr val="000000"/>
                </a:solidFill>
                <a:latin typeface="Times New Roman"/>
                <a:ea typeface="Times New Roman"/>
                <a:cs typeface="Times New Roman"/>
                <a:sym typeface="Times New Roman"/>
              </a:rPr>
              <a:t>,</a:t>
            </a:r>
            <a:r>
              <a:rPr lang="en-US" sz="2400">
                <a:solidFill>
                  <a:srgbClr val="000000"/>
                </a:solidFill>
                <a:latin typeface="Times New Roman"/>
                <a:ea typeface="Times New Roman"/>
                <a:cs typeface="Times New Roman"/>
                <a:sym typeface="Times New Roman"/>
              </a:rPr>
              <a:t> IEEE Internet of Things Journal, 2024.</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[22] </a:t>
            </a:r>
            <a:r>
              <a:rPr lang="en-US" sz="2400">
                <a:solidFill>
                  <a:srgbClr val="000000"/>
                </a:solidFill>
                <a:latin typeface="Times New Roman"/>
                <a:ea typeface="Times New Roman"/>
                <a:cs typeface="Times New Roman"/>
                <a:sym typeface="Times New Roman"/>
              </a:rPr>
              <a:t>E. </a:t>
            </a:r>
            <a:r>
              <a:rPr lang="en-US" sz="2400">
                <a:solidFill>
                  <a:srgbClr val="000000"/>
                </a:solidFill>
                <a:latin typeface="Times New Roman"/>
                <a:ea typeface="Times New Roman"/>
                <a:cs typeface="Times New Roman"/>
                <a:sym typeface="Times New Roman"/>
              </a:rPr>
              <a:t>Debenedetti et al.</a:t>
            </a:r>
            <a:r>
              <a:rPr lang="en-US" sz="2400">
                <a:solidFill>
                  <a:srgbClr val="000000"/>
                </a:solidFill>
                <a:latin typeface="Times New Roman"/>
                <a:ea typeface="Times New Roman"/>
                <a:cs typeface="Times New Roman"/>
                <a:sym typeface="Times New Roman"/>
              </a:rPr>
              <a:t>,</a:t>
            </a:r>
            <a:r>
              <a:rPr lang="en-US" sz="2400">
                <a:solidFill>
                  <a:srgbClr val="000000"/>
                </a:solidFill>
                <a:latin typeface="Times New Roman"/>
                <a:ea typeface="Times New Roman"/>
                <a:cs typeface="Times New Roman"/>
                <a:sym typeface="Times New Roman"/>
              </a:rPr>
              <a:t> AgentDojo: A </a:t>
            </a:r>
            <a:r>
              <a:rPr lang="en-US" sz="2400">
                <a:solidFill>
                  <a:srgbClr val="000000"/>
                </a:solidFill>
                <a:latin typeface="Times New Roman"/>
                <a:ea typeface="Times New Roman"/>
                <a:cs typeface="Times New Roman"/>
                <a:sym typeface="Times New Roman"/>
              </a:rPr>
              <a:t>D</a:t>
            </a:r>
            <a:r>
              <a:rPr lang="en-US" sz="2400">
                <a:solidFill>
                  <a:srgbClr val="000000"/>
                </a:solidFill>
                <a:latin typeface="Times New Roman"/>
                <a:ea typeface="Times New Roman"/>
                <a:cs typeface="Times New Roman"/>
                <a:sym typeface="Times New Roman"/>
              </a:rPr>
              <a:t>ynamic </a:t>
            </a:r>
            <a:r>
              <a:rPr lang="en-US" sz="2400">
                <a:solidFill>
                  <a:srgbClr val="000000"/>
                </a:solidFill>
                <a:latin typeface="Times New Roman"/>
                <a:ea typeface="Times New Roman"/>
                <a:cs typeface="Times New Roman"/>
                <a:sym typeface="Times New Roman"/>
              </a:rPr>
              <a:t>E</a:t>
            </a:r>
            <a:r>
              <a:rPr lang="en-US" sz="2400">
                <a:solidFill>
                  <a:srgbClr val="000000"/>
                </a:solidFill>
                <a:latin typeface="Times New Roman"/>
                <a:ea typeface="Times New Roman"/>
                <a:cs typeface="Times New Roman"/>
                <a:sym typeface="Times New Roman"/>
              </a:rPr>
              <a:t>nvironment to </a:t>
            </a:r>
            <a:r>
              <a:rPr lang="en-US" sz="2400">
                <a:solidFill>
                  <a:srgbClr val="000000"/>
                </a:solidFill>
                <a:latin typeface="Times New Roman"/>
                <a:ea typeface="Times New Roman"/>
                <a:cs typeface="Times New Roman"/>
                <a:sym typeface="Times New Roman"/>
              </a:rPr>
              <a:t>E</a:t>
            </a:r>
            <a:r>
              <a:rPr lang="en-US" sz="2400">
                <a:solidFill>
                  <a:srgbClr val="000000"/>
                </a:solidFill>
                <a:latin typeface="Times New Roman"/>
                <a:ea typeface="Times New Roman"/>
                <a:cs typeface="Times New Roman"/>
                <a:sym typeface="Times New Roman"/>
              </a:rPr>
              <a:t>valuate </a:t>
            </a:r>
            <a:r>
              <a:rPr lang="en-US" sz="2400">
                <a:solidFill>
                  <a:srgbClr val="000000"/>
                </a:solidFill>
                <a:latin typeface="Times New Roman"/>
                <a:ea typeface="Times New Roman"/>
                <a:cs typeface="Times New Roman"/>
                <a:sym typeface="Times New Roman"/>
              </a:rPr>
              <a:t>P</a:t>
            </a:r>
            <a:r>
              <a:rPr lang="en-US" sz="2400">
                <a:solidFill>
                  <a:srgbClr val="000000"/>
                </a:solidFill>
                <a:latin typeface="Times New Roman"/>
                <a:ea typeface="Times New Roman"/>
                <a:cs typeface="Times New Roman"/>
                <a:sym typeface="Times New Roman"/>
              </a:rPr>
              <a:t>rompt </a:t>
            </a:r>
            <a:r>
              <a:rPr lang="en-US" sz="2400">
                <a:solidFill>
                  <a:srgbClr val="000000"/>
                </a:solidFill>
                <a:latin typeface="Times New Roman"/>
                <a:ea typeface="Times New Roman"/>
                <a:cs typeface="Times New Roman"/>
                <a:sym typeface="Times New Roman"/>
              </a:rPr>
              <a:t>I</a:t>
            </a:r>
            <a:r>
              <a:rPr lang="en-US" sz="2400">
                <a:solidFill>
                  <a:srgbClr val="000000"/>
                </a:solidFill>
                <a:latin typeface="Times New Roman"/>
                <a:ea typeface="Times New Roman"/>
                <a:cs typeface="Times New Roman"/>
                <a:sym typeface="Times New Roman"/>
              </a:rPr>
              <a:t>njection </a:t>
            </a:r>
            <a:r>
              <a:rPr lang="en-US" sz="2400">
                <a:solidFill>
                  <a:srgbClr val="000000"/>
                </a:solidFill>
                <a:latin typeface="Times New Roman"/>
                <a:ea typeface="Times New Roman"/>
                <a:cs typeface="Times New Roman"/>
                <a:sym typeface="Times New Roman"/>
              </a:rPr>
              <a:t>A</a:t>
            </a:r>
            <a:r>
              <a:rPr lang="en-US" sz="2400">
                <a:solidFill>
                  <a:srgbClr val="000000"/>
                </a:solidFill>
                <a:latin typeface="Times New Roman"/>
                <a:ea typeface="Times New Roman"/>
                <a:cs typeface="Times New Roman"/>
                <a:sym typeface="Times New Roman"/>
              </a:rPr>
              <a:t>ttacks for LLM </a:t>
            </a:r>
            <a:r>
              <a:rPr lang="en-US" sz="2400">
                <a:solidFill>
                  <a:srgbClr val="000000"/>
                </a:solidFill>
                <a:latin typeface="Times New Roman"/>
                <a:ea typeface="Times New Roman"/>
                <a:cs typeface="Times New Roman"/>
                <a:sym typeface="Times New Roman"/>
              </a:rPr>
              <a:t>A</a:t>
            </a:r>
            <a:r>
              <a:rPr lang="en-US" sz="2400">
                <a:solidFill>
                  <a:srgbClr val="000000"/>
                </a:solidFill>
                <a:latin typeface="Times New Roman"/>
                <a:ea typeface="Times New Roman"/>
                <a:cs typeface="Times New Roman"/>
                <a:sym typeface="Times New Roman"/>
              </a:rPr>
              <a:t>gents</a:t>
            </a:r>
            <a:r>
              <a:rPr lang="en-US" sz="2400">
                <a:solidFill>
                  <a:srgbClr val="000000"/>
                </a:solidFill>
                <a:latin typeface="Times New Roman"/>
                <a:ea typeface="Times New Roman"/>
                <a:cs typeface="Times New Roman"/>
                <a:sym typeface="Times New Roman"/>
              </a:rPr>
              <a:t>,</a:t>
            </a:r>
            <a:r>
              <a:rPr lang="en-US" sz="2400">
                <a:solidFill>
                  <a:srgbClr val="000000"/>
                </a:solidFill>
                <a:latin typeface="Times New Roman"/>
                <a:ea typeface="Times New Roman"/>
                <a:cs typeface="Times New Roman"/>
                <a:sym typeface="Times New Roman"/>
              </a:rPr>
              <a:t> NeurIPS, 2024.</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[23] </a:t>
            </a:r>
            <a:r>
              <a:rPr lang="en-US" sz="2400">
                <a:solidFill>
                  <a:srgbClr val="000000"/>
                </a:solidFill>
                <a:latin typeface="Times New Roman"/>
                <a:ea typeface="Times New Roman"/>
                <a:cs typeface="Times New Roman"/>
                <a:sym typeface="Times New Roman"/>
              </a:rPr>
              <a:t>S. </a:t>
            </a:r>
            <a:r>
              <a:rPr lang="en-US" sz="2400">
                <a:solidFill>
                  <a:srgbClr val="000000"/>
                </a:solidFill>
                <a:latin typeface="Times New Roman"/>
                <a:ea typeface="Times New Roman"/>
                <a:cs typeface="Times New Roman"/>
                <a:sym typeface="Times New Roman"/>
              </a:rPr>
              <a:t>Ott et al.</a:t>
            </a:r>
            <a:r>
              <a:rPr lang="en-US" sz="2400">
                <a:solidFill>
                  <a:srgbClr val="000000"/>
                </a:solidFill>
                <a:latin typeface="Times New Roman"/>
                <a:ea typeface="Times New Roman"/>
                <a:cs typeface="Times New Roman"/>
                <a:sym typeface="Times New Roman"/>
              </a:rPr>
              <a:t>,</a:t>
            </a:r>
            <a:r>
              <a:rPr lang="en-US" sz="2400">
                <a:solidFill>
                  <a:srgbClr val="000000"/>
                </a:solidFill>
                <a:latin typeface="Times New Roman"/>
                <a:ea typeface="Times New Roman"/>
                <a:cs typeface="Times New Roman"/>
                <a:sym typeface="Times New Roman"/>
              </a:rPr>
              <a:t> Universal </a:t>
            </a:r>
            <a:r>
              <a:rPr lang="en-US" sz="2400">
                <a:solidFill>
                  <a:srgbClr val="000000"/>
                </a:solidFill>
                <a:latin typeface="Times New Roman"/>
                <a:ea typeface="Times New Roman"/>
                <a:cs typeface="Times New Roman"/>
                <a:sym typeface="Times New Roman"/>
              </a:rPr>
              <a:t>R</a:t>
            </a:r>
            <a:r>
              <a:rPr lang="en-US" sz="2400">
                <a:solidFill>
                  <a:srgbClr val="000000"/>
                </a:solidFill>
                <a:latin typeface="Times New Roman"/>
                <a:ea typeface="Times New Roman"/>
                <a:cs typeface="Times New Roman"/>
                <a:sym typeface="Times New Roman"/>
              </a:rPr>
              <a:t>emote </a:t>
            </a:r>
            <a:r>
              <a:rPr lang="en-US" sz="2400">
                <a:solidFill>
                  <a:srgbClr val="000000"/>
                </a:solidFill>
                <a:latin typeface="Times New Roman"/>
                <a:ea typeface="Times New Roman"/>
                <a:cs typeface="Times New Roman"/>
                <a:sym typeface="Times New Roman"/>
              </a:rPr>
              <a:t>A</a:t>
            </a:r>
            <a:r>
              <a:rPr lang="en-US" sz="2400">
                <a:solidFill>
                  <a:srgbClr val="000000"/>
                </a:solidFill>
                <a:latin typeface="Times New Roman"/>
                <a:ea typeface="Times New Roman"/>
                <a:cs typeface="Times New Roman"/>
                <a:sym typeface="Times New Roman"/>
              </a:rPr>
              <a:t>ttestation for </a:t>
            </a:r>
            <a:r>
              <a:rPr lang="en-US" sz="2400">
                <a:solidFill>
                  <a:srgbClr val="000000"/>
                </a:solidFill>
                <a:latin typeface="Times New Roman"/>
                <a:ea typeface="Times New Roman"/>
                <a:cs typeface="Times New Roman"/>
                <a:sym typeface="Times New Roman"/>
              </a:rPr>
              <a:t>C</a:t>
            </a:r>
            <a:r>
              <a:rPr lang="en-US" sz="2400">
                <a:solidFill>
                  <a:srgbClr val="000000"/>
                </a:solidFill>
                <a:latin typeface="Times New Roman"/>
                <a:ea typeface="Times New Roman"/>
                <a:cs typeface="Times New Roman"/>
                <a:sym typeface="Times New Roman"/>
              </a:rPr>
              <a:t>loud and </a:t>
            </a:r>
            <a:r>
              <a:rPr lang="en-US" sz="2400">
                <a:solidFill>
                  <a:srgbClr val="000000"/>
                </a:solidFill>
                <a:latin typeface="Times New Roman"/>
                <a:ea typeface="Times New Roman"/>
                <a:cs typeface="Times New Roman"/>
                <a:sym typeface="Times New Roman"/>
              </a:rPr>
              <a:t>E</a:t>
            </a:r>
            <a:r>
              <a:rPr lang="en-US" sz="2400">
                <a:solidFill>
                  <a:srgbClr val="000000"/>
                </a:solidFill>
                <a:latin typeface="Times New Roman"/>
                <a:ea typeface="Times New Roman"/>
                <a:cs typeface="Times New Roman"/>
                <a:sym typeface="Times New Roman"/>
              </a:rPr>
              <a:t>dge </a:t>
            </a:r>
            <a:r>
              <a:rPr lang="en-US" sz="2400">
                <a:solidFill>
                  <a:srgbClr val="000000"/>
                </a:solidFill>
                <a:latin typeface="Times New Roman"/>
                <a:ea typeface="Times New Roman"/>
                <a:cs typeface="Times New Roman"/>
                <a:sym typeface="Times New Roman"/>
              </a:rPr>
              <a:t>P</a:t>
            </a:r>
            <a:r>
              <a:rPr lang="en-US" sz="2400">
                <a:solidFill>
                  <a:srgbClr val="000000"/>
                </a:solidFill>
                <a:latin typeface="Times New Roman"/>
                <a:ea typeface="Times New Roman"/>
                <a:cs typeface="Times New Roman"/>
                <a:sym typeface="Times New Roman"/>
              </a:rPr>
              <a:t>latforms</a:t>
            </a:r>
            <a:r>
              <a:rPr lang="en-US" sz="2400">
                <a:solidFill>
                  <a:srgbClr val="000000"/>
                </a:solidFill>
                <a:latin typeface="Times New Roman"/>
                <a:ea typeface="Times New Roman"/>
                <a:cs typeface="Times New Roman"/>
                <a:sym typeface="Times New Roman"/>
              </a:rPr>
              <a:t>,</a:t>
            </a:r>
            <a:r>
              <a:rPr lang="en-US" sz="2400">
                <a:solidFill>
                  <a:srgbClr val="000000"/>
                </a:solidFill>
                <a:latin typeface="Times New Roman"/>
                <a:ea typeface="Times New Roman"/>
                <a:cs typeface="Times New Roman"/>
                <a:sym typeface="Times New Roman"/>
              </a:rPr>
              <a:t> ARES, 2023.</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[24] </a:t>
            </a:r>
            <a:r>
              <a:rPr lang="en-US" sz="2400">
                <a:solidFill>
                  <a:srgbClr val="000000"/>
                </a:solidFill>
                <a:latin typeface="Times New Roman"/>
                <a:ea typeface="Times New Roman"/>
                <a:cs typeface="Times New Roman"/>
                <a:sym typeface="Times New Roman"/>
              </a:rPr>
              <a:t>X. </a:t>
            </a:r>
            <a:r>
              <a:rPr lang="en-US" sz="2400">
                <a:solidFill>
                  <a:srgbClr val="000000"/>
                </a:solidFill>
                <a:latin typeface="Times New Roman"/>
                <a:ea typeface="Times New Roman"/>
                <a:cs typeface="Times New Roman"/>
                <a:sym typeface="Times New Roman"/>
              </a:rPr>
              <a:t>Li et al.</a:t>
            </a:r>
            <a:r>
              <a:rPr lang="en-US" sz="2400">
                <a:solidFill>
                  <a:srgbClr val="000000"/>
                </a:solidFill>
                <a:latin typeface="Times New Roman"/>
                <a:ea typeface="Times New Roman"/>
                <a:cs typeface="Times New Roman"/>
                <a:sym typeface="Times New Roman"/>
              </a:rPr>
              <a:t>,</a:t>
            </a:r>
            <a:r>
              <a:rPr lang="en-US" sz="2400">
                <a:solidFill>
                  <a:srgbClr val="000000"/>
                </a:solidFill>
                <a:latin typeface="Times New Roman"/>
                <a:ea typeface="Times New Roman"/>
                <a:cs typeface="Times New Roman"/>
                <a:sym typeface="Times New Roman"/>
              </a:rPr>
              <a:t> A </a:t>
            </a:r>
            <a:r>
              <a:rPr lang="en-US" sz="2400">
                <a:solidFill>
                  <a:srgbClr val="000000"/>
                </a:solidFill>
                <a:latin typeface="Times New Roman"/>
                <a:ea typeface="Times New Roman"/>
                <a:cs typeface="Times New Roman"/>
                <a:sym typeface="Times New Roman"/>
              </a:rPr>
              <a:t>S</a:t>
            </a:r>
            <a:r>
              <a:rPr lang="en-US" sz="2400">
                <a:solidFill>
                  <a:srgbClr val="000000"/>
                </a:solidFill>
                <a:latin typeface="Times New Roman"/>
                <a:ea typeface="Times New Roman"/>
                <a:cs typeface="Times New Roman"/>
                <a:sym typeface="Times New Roman"/>
              </a:rPr>
              <a:t>urvey of </a:t>
            </a:r>
            <a:r>
              <a:rPr lang="en-US" sz="2400">
                <a:solidFill>
                  <a:srgbClr val="000000"/>
                </a:solidFill>
                <a:latin typeface="Times New Roman"/>
                <a:ea typeface="Times New Roman"/>
                <a:cs typeface="Times New Roman"/>
                <a:sym typeface="Times New Roman"/>
              </a:rPr>
              <a:t>S</a:t>
            </a:r>
            <a:r>
              <a:rPr lang="en-US" sz="2400">
                <a:solidFill>
                  <a:srgbClr val="000000"/>
                </a:solidFill>
                <a:latin typeface="Times New Roman"/>
                <a:ea typeface="Times New Roman"/>
                <a:cs typeface="Times New Roman"/>
                <a:sym typeface="Times New Roman"/>
              </a:rPr>
              <a:t>ecure </a:t>
            </a:r>
            <a:r>
              <a:rPr lang="en-US" sz="2400">
                <a:solidFill>
                  <a:srgbClr val="000000"/>
                </a:solidFill>
                <a:latin typeface="Times New Roman"/>
                <a:ea typeface="Times New Roman"/>
                <a:cs typeface="Times New Roman"/>
                <a:sym typeface="Times New Roman"/>
              </a:rPr>
              <a:t>C</a:t>
            </a:r>
            <a:r>
              <a:rPr lang="en-US" sz="2400">
                <a:solidFill>
                  <a:srgbClr val="000000"/>
                </a:solidFill>
                <a:latin typeface="Times New Roman"/>
                <a:ea typeface="Times New Roman"/>
                <a:cs typeface="Times New Roman"/>
                <a:sym typeface="Times New Roman"/>
              </a:rPr>
              <a:t>omputation </a:t>
            </a:r>
            <a:r>
              <a:rPr lang="en-US" sz="2400">
                <a:solidFill>
                  <a:srgbClr val="000000"/>
                </a:solidFill>
                <a:latin typeface="Times New Roman"/>
                <a:ea typeface="Times New Roman"/>
                <a:cs typeface="Times New Roman"/>
                <a:sym typeface="Times New Roman"/>
              </a:rPr>
              <a:t>U</a:t>
            </a:r>
            <a:r>
              <a:rPr lang="en-US" sz="2400">
                <a:solidFill>
                  <a:srgbClr val="000000"/>
                </a:solidFill>
                <a:latin typeface="Times New Roman"/>
                <a:ea typeface="Times New Roman"/>
                <a:cs typeface="Times New Roman"/>
                <a:sym typeface="Times New Roman"/>
              </a:rPr>
              <a:t>sing </a:t>
            </a:r>
            <a:r>
              <a:rPr lang="en-US" sz="2400">
                <a:solidFill>
                  <a:srgbClr val="000000"/>
                </a:solidFill>
                <a:latin typeface="Times New Roman"/>
                <a:ea typeface="Times New Roman"/>
                <a:cs typeface="Times New Roman"/>
                <a:sym typeface="Times New Roman"/>
              </a:rPr>
              <a:t>T</a:t>
            </a:r>
            <a:r>
              <a:rPr lang="en-US" sz="2400">
                <a:solidFill>
                  <a:srgbClr val="000000"/>
                </a:solidFill>
                <a:latin typeface="Times New Roman"/>
                <a:ea typeface="Times New Roman"/>
                <a:cs typeface="Times New Roman"/>
                <a:sym typeface="Times New Roman"/>
              </a:rPr>
              <a:t>rusted </a:t>
            </a:r>
            <a:r>
              <a:rPr lang="en-US" sz="2400">
                <a:solidFill>
                  <a:srgbClr val="000000"/>
                </a:solidFill>
                <a:latin typeface="Times New Roman"/>
                <a:ea typeface="Times New Roman"/>
                <a:cs typeface="Times New Roman"/>
                <a:sym typeface="Times New Roman"/>
              </a:rPr>
              <a:t>E</a:t>
            </a:r>
            <a:r>
              <a:rPr lang="en-US" sz="2400">
                <a:solidFill>
                  <a:srgbClr val="000000"/>
                </a:solidFill>
                <a:latin typeface="Times New Roman"/>
                <a:ea typeface="Times New Roman"/>
                <a:cs typeface="Times New Roman"/>
                <a:sym typeface="Times New Roman"/>
              </a:rPr>
              <a:t>xecution </a:t>
            </a:r>
            <a:r>
              <a:rPr lang="en-US" sz="2400">
                <a:solidFill>
                  <a:srgbClr val="000000"/>
                </a:solidFill>
                <a:latin typeface="Times New Roman"/>
                <a:ea typeface="Times New Roman"/>
                <a:cs typeface="Times New Roman"/>
                <a:sym typeface="Times New Roman"/>
              </a:rPr>
              <a:t>E</a:t>
            </a:r>
            <a:r>
              <a:rPr lang="en-US" sz="2400">
                <a:solidFill>
                  <a:srgbClr val="000000"/>
                </a:solidFill>
                <a:latin typeface="Times New Roman"/>
                <a:ea typeface="Times New Roman"/>
                <a:cs typeface="Times New Roman"/>
                <a:sym typeface="Times New Roman"/>
              </a:rPr>
              <a:t>nvironments, 2023.</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[25] </a:t>
            </a:r>
            <a:r>
              <a:rPr lang="en-US" sz="2400">
                <a:solidFill>
                  <a:srgbClr val="000000"/>
                </a:solidFill>
                <a:latin typeface="Times New Roman"/>
                <a:ea typeface="Times New Roman"/>
                <a:cs typeface="Times New Roman"/>
                <a:sym typeface="Times New Roman"/>
              </a:rPr>
              <a:t>I. </a:t>
            </a:r>
            <a:r>
              <a:rPr lang="en-US" sz="2400">
                <a:solidFill>
                  <a:srgbClr val="000000"/>
                </a:solidFill>
                <a:latin typeface="Times New Roman"/>
                <a:ea typeface="Times New Roman"/>
                <a:cs typeface="Times New Roman"/>
                <a:sym typeface="Times New Roman"/>
              </a:rPr>
              <a:t>De Oliveira Nunes et al.</a:t>
            </a:r>
            <a:r>
              <a:rPr lang="en-US" sz="2400">
                <a:solidFill>
                  <a:srgbClr val="000000"/>
                </a:solidFill>
                <a:latin typeface="Times New Roman"/>
                <a:ea typeface="Times New Roman"/>
                <a:cs typeface="Times New Roman"/>
                <a:sym typeface="Times New Roman"/>
              </a:rPr>
              <a:t>,</a:t>
            </a:r>
            <a:r>
              <a:rPr lang="en-US" sz="2400">
                <a:solidFill>
                  <a:srgbClr val="000000"/>
                </a:solidFill>
                <a:latin typeface="Times New Roman"/>
                <a:ea typeface="Times New Roman"/>
                <a:cs typeface="Times New Roman"/>
                <a:sym typeface="Times New Roman"/>
              </a:rPr>
              <a:t> On the TOCTOU </a:t>
            </a:r>
            <a:r>
              <a:rPr lang="en-US" sz="2400">
                <a:solidFill>
                  <a:srgbClr val="000000"/>
                </a:solidFill>
                <a:latin typeface="Times New Roman"/>
                <a:ea typeface="Times New Roman"/>
                <a:cs typeface="Times New Roman"/>
                <a:sym typeface="Times New Roman"/>
              </a:rPr>
              <a:t>P</a:t>
            </a:r>
            <a:r>
              <a:rPr lang="en-US" sz="2400">
                <a:solidFill>
                  <a:srgbClr val="000000"/>
                </a:solidFill>
                <a:latin typeface="Times New Roman"/>
                <a:ea typeface="Times New Roman"/>
                <a:cs typeface="Times New Roman"/>
                <a:sym typeface="Times New Roman"/>
              </a:rPr>
              <a:t>roblem in </a:t>
            </a:r>
            <a:r>
              <a:rPr lang="en-US" sz="2400">
                <a:solidFill>
                  <a:srgbClr val="000000"/>
                </a:solidFill>
                <a:latin typeface="Times New Roman"/>
                <a:ea typeface="Times New Roman"/>
                <a:cs typeface="Times New Roman"/>
                <a:sym typeface="Times New Roman"/>
              </a:rPr>
              <a:t>R</a:t>
            </a:r>
            <a:r>
              <a:rPr lang="en-US" sz="2400">
                <a:solidFill>
                  <a:srgbClr val="000000"/>
                </a:solidFill>
                <a:latin typeface="Times New Roman"/>
                <a:ea typeface="Times New Roman"/>
                <a:cs typeface="Times New Roman"/>
                <a:sym typeface="Times New Roman"/>
              </a:rPr>
              <a:t>emote </a:t>
            </a:r>
            <a:r>
              <a:rPr lang="en-US" sz="2400">
                <a:solidFill>
                  <a:srgbClr val="000000"/>
                </a:solidFill>
                <a:latin typeface="Times New Roman"/>
                <a:ea typeface="Times New Roman"/>
                <a:cs typeface="Times New Roman"/>
                <a:sym typeface="Times New Roman"/>
              </a:rPr>
              <a:t>A</a:t>
            </a:r>
            <a:r>
              <a:rPr lang="en-US" sz="2400">
                <a:solidFill>
                  <a:srgbClr val="000000"/>
                </a:solidFill>
                <a:latin typeface="Times New Roman"/>
                <a:ea typeface="Times New Roman"/>
                <a:cs typeface="Times New Roman"/>
                <a:sym typeface="Times New Roman"/>
              </a:rPr>
              <a:t>ttestation</a:t>
            </a:r>
            <a:r>
              <a:rPr lang="en-US" sz="2400">
                <a:solidFill>
                  <a:srgbClr val="000000"/>
                </a:solidFill>
                <a:latin typeface="Times New Roman"/>
                <a:ea typeface="Times New Roman"/>
                <a:cs typeface="Times New Roman"/>
                <a:sym typeface="Times New Roman"/>
              </a:rPr>
              <a:t>,</a:t>
            </a:r>
            <a:r>
              <a:rPr lang="en-US" sz="2400">
                <a:solidFill>
                  <a:srgbClr val="000000"/>
                </a:solidFill>
                <a:latin typeface="Times New Roman"/>
                <a:ea typeface="Times New Roman"/>
                <a:cs typeface="Times New Roman"/>
                <a:sym typeface="Times New Roman"/>
              </a:rPr>
              <a:t> ACM CCS, 2021.</a:t>
            </a:r>
          </a:p>
        </p:txBody>
      </p:sp>
    </p:spTree>
  </p:cSld>
  <p:clrMapOvr>
    <a:masterClrMapping/>
  </p:clrMapOvr>
  <p:transition spd="fast">
    <p:fade/>
  </p:transition>
</p:sld>
</file>

<file path=ppt/slides/slide19.xml><?xml version="1.0" encoding="utf-8"?>
<p:sld xmlns:p="http://schemas.openxmlformats.org/presentationml/2006/main" xmlns:a="http://schemas.openxmlformats.org/drawingml/2006/main">
  <p:cSld>
    <p:bg>
      <p:bgPr>
        <a:solidFill>
          <a:srgbClr val="1A2E4A"/>
        </a:solidFill>
      </p:bgPr>
    </p:bg>
    <p:spTree>
      <p:nvGrpSpPr>
        <p:cNvPr id="1" name=""/>
        <p:cNvGrpSpPr/>
        <p:nvPr/>
      </p:nvGrpSpPr>
      <p:grpSpPr>
        <a:xfrm>
          <a:off x="0" y="0"/>
          <a:ext cx="0" cy="0"/>
          <a:chOff x="0" y="0"/>
          <a:chExt cx="0" cy="0"/>
        </a:xfrm>
      </p:grpSpPr>
      <p:sp>
        <p:nvSpPr>
          <p:cNvPr name="TextBox 2" id="2"/>
          <p:cNvSpPr txBox="true"/>
          <p:nvPr/>
        </p:nvSpPr>
        <p:spPr>
          <a:xfrm rot="0">
            <a:off x="5919341" y="3181668"/>
            <a:ext cx="6449318" cy="1123315"/>
          </a:xfrm>
          <a:prstGeom prst="rect">
            <a:avLst/>
          </a:prstGeom>
        </p:spPr>
        <p:txBody>
          <a:bodyPr anchor="t" rtlCol="false" tIns="0" lIns="0" bIns="0" rIns="0">
            <a:spAutoFit/>
          </a:bodyPr>
          <a:lstStyle/>
          <a:p>
            <a:pPr algn="ctr">
              <a:lnSpc>
                <a:spcPts val="8959"/>
              </a:lnSpc>
              <a:spcBef>
                <a:spcPct val="0"/>
              </a:spcBef>
            </a:pPr>
            <a:r>
              <a:rPr lang="en-US" sz="6399">
                <a:solidFill>
                  <a:srgbClr val="FFFFFF"/>
                </a:solidFill>
                <a:latin typeface="Times New Roman"/>
                <a:ea typeface="Times New Roman"/>
                <a:cs typeface="Times New Roman"/>
                <a:sym typeface="Times New Roman"/>
              </a:rPr>
              <a:t>ANY QUESTIONS</a:t>
            </a:r>
          </a:p>
        </p:txBody>
      </p:sp>
      <p:sp>
        <p:nvSpPr>
          <p:cNvPr name="TextBox 3" id="3"/>
          <p:cNvSpPr txBox="true"/>
          <p:nvPr/>
        </p:nvSpPr>
        <p:spPr>
          <a:xfrm rot="0">
            <a:off x="7053709" y="4892341"/>
            <a:ext cx="4180582" cy="991235"/>
          </a:xfrm>
          <a:prstGeom prst="rect">
            <a:avLst/>
          </a:prstGeom>
        </p:spPr>
        <p:txBody>
          <a:bodyPr anchor="t" rtlCol="false" tIns="0" lIns="0" bIns="0" rIns="0">
            <a:spAutoFit/>
          </a:bodyPr>
          <a:lstStyle/>
          <a:p>
            <a:pPr algn="ctr">
              <a:lnSpc>
                <a:spcPts val="7840"/>
              </a:lnSpc>
              <a:spcBef>
                <a:spcPct val="0"/>
              </a:spcBef>
            </a:pPr>
            <a:r>
              <a:rPr lang="en-US" sz="5600">
                <a:solidFill>
                  <a:srgbClr val="FFFFFF"/>
                </a:solidFill>
                <a:latin typeface="Times New Roman"/>
                <a:ea typeface="Times New Roman"/>
                <a:cs typeface="Times New Roman"/>
                <a:sym typeface="Times New Roman"/>
              </a:rPr>
              <a:t>THANK YOU</a:t>
            </a:r>
          </a:p>
        </p:txBody>
      </p:sp>
      <p:grpSp>
        <p:nvGrpSpPr>
          <p:cNvPr name="Group 4" id="4"/>
          <p:cNvGrpSpPr/>
          <p:nvPr/>
        </p:nvGrpSpPr>
        <p:grpSpPr>
          <a:xfrm rot="0">
            <a:off x="0" y="6019800"/>
            <a:ext cx="673103" cy="4267200"/>
            <a:chOff x="0" y="0"/>
            <a:chExt cx="897471" cy="5689600"/>
          </a:xfrm>
        </p:grpSpPr>
        <p:sp>
          <p:nvSpPr>
            <p:cNvPr name="Freeform 5" id="5"/>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sp>
        <p:nvSpPr>
          <p:cNvPr name="AutoShape 6" id="6"/>
          <p:cNvSpPr/>
          <p:nvPr/>
        </p:nvSpPr>
        <p:spPr>
          <a:xfrm flipH="true">
            <a:off x="16186622" y="5819196"/>
            <a:ext cx="7159602" cy="4779195"/>
          </a:xfrm>
          <a:prstGeom prst="line">
            <a:avLst/>
          </a:prstGeom>
          <a:ln cap="rnd" w="9525">
            <a:solidFill>
              <a:srgbClr val="FFFFFF"/>
            </a:solidFill>
            <a:prstDash val="solid"/>
            <a:headEnd type="none" len="sm" w="sm"/>
            <a:tailEnd type="none" len="sm" w="sm"/>
          </a:ln>
        </p:spPr>
      </p:sp>
      <p:grpSp>
        <p:nvGrpSpPr>
          <p:cNvPr name="Group 7" id="7"/>
          <p:cNvGrpSpPr/>
          <p:nvPr/>
        </p:nvGrpSpPr>
        <p:grpSpPr>
          <a:xfrm rot="0">
            <a:off x="16704013" y="0"/>
            <a:ext cx="4511021" cy="10299697"/>
            <a:chOff x="0" y="0"/>
            <a:chExt cx="6014695" cy="13732929"/>
          </a:xfrm>
        </p:grpSpPr>
        <p:sp>
          <p:nvSpPr>
            <p:cNvPr name="Freeform 8" id="8"/>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9" id="9"/>
          <p:cNvGrpSpPr/>
          <p:nvPr/>
        </p:nvGrpSpPr>
        <p:grpSpPr>
          <a:xfrm rot="0">
            <a:off x="17336958" y="0"/>
            <a:ext cx="3882838" cy="10299697"/>
            <a:chOff x="0" y="0"/>
            <a:chExt cx="5177117" cy="13732929"/>
          </a:xfrm>
        </p:grpSpPr>
        <p:sp>
          <p:nvSpPr>
            <p:cNvPr name="Freeform 10" id="10"/>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11" id="11"/>
          <p:cNvGrpSpPr/>
          <p:nvPr/>
        </p:nvGrpSpPr>
        <p:grpSpPr>
          <a:xfrm rot="0">
            <a:off x="16330299" y="4584697"/>
            <a:ext cx="4889497" cy="5715000"/>
            <a:chOff x="0" y="0"/>
            <a:chExt cx="6519329" cy="7620000"/>
          </a:xfrm>
        </p:grpSpPr>
        <p:sp>
          <p:nvSpPr>
            <p:cNvPr name="Freeform 12" id="12"/>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13" id="13"/>
          <p:cNvGrpSpPr/>
          <p:nvPr/>
        </p:nvGrpSpPr>
        <p:grpSpPr>
          <a:xfrm rot="0">
            <a:off x="16933546" y="0"/>
            <a:ext cx="4281488" cy="10299697"/>
            <a:chOff x="0" y="0"/>
            <a:chExt cx="5708650" cy="13732929"/>
          </a:xfrm>
        </p:grpSpPr>
        <p:sp>
          <p:nvSpPr>
            <p:cNvPr name="Freeform 14" id="14"/>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5" id="15"/>
          <p:cNvGrpSpPr/>
          <p:nvPr/>
        </p:nvGrpSpPr>
        <p:grpSpPr>
          <a:xfrm rot="0">
            <a:off x="0" y="6019800"/>
            <a:ext cx="673103" cy="4267200"/>
            <a:chOff x="0" y="0"/>
            <a:chExt cx="897471" cy="5689600"/>
          </a:xfrm>
        </p:grpSpPr>
        <p:sp>
          <p:nvSpPr>
            <p:cNvPr name="Freeform 16" id="16"/>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7" id="17"/>
          <p:cNvGrpSpPr/>
          <p:nvPr/>
        </p:nvGrpSpPr>
        <p:grpSpPr>
          <a:xfrm rot="0">
            <a:off x="4140859" y="4543029"/>
            <a:ext cx="10006283" cy="119355"/>
            <a:chOff x="0" y="0"/>
            <a:chExt cx="13341710" cy="159140"/>
          </a:xfrm>
        </p:grpSpPr>
        <p:sp>
          <p:nvSpPr>
            <p:cNvPr name="Freeform 18" id="18"/>
            <p:cNvSpPr/>
            <p:nvPr/>
          </p:nvSpPr>
          <p:spPr>
            <a:xfrm flipH="false" flipV="false" rot="0">
              <a:off x="0" y="0"/>
              <a:ext cx="13341748" cy="159178"/>
            </a:xfrm>
            <a:custGeom>
              <a:avLst/>
              <a:gdLst/>
              <a:ahLst/>
              <a:cxnLst/>
              <a:rect r="r" b="b" t="t" l="l"/>
              <a:pathLst>
                <a:path h="159178" w="13341748">
                  <a:moveTo>
                    <a:pt x="0" y="0"/>
                  </a:moveTo>
                  <a:lnTo>
                    <a:pt x="13341748" y="0"/>
                  </a:lnTo>
                  <a:lnTo>
                    <a:pt x="13341748" y="159178"/>
                  </a:lnTo>
                  <a:lnTo>
                    <a:pt x="0" y="159178"/>
                  </a:lnTo>
                  <a:close/>
                </a:path>
              </a:pathLst>
            </a:custGeom>
            <a:solidFill>
              <a:srgbClr val="2C4A6E"/>
            </a:solidFill>
            <a:ln w="25400" cap="sq">
              <a:solidFill>
                <a:srgbClr val="2C4A6E"/>
              </a:solidFill>
              <a:prstDash val="solid"/>
              <a:miter/>
            </a:ln>
          </p:spPr>
        </p:sp>
      </p:gr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DAHXr_UlaJU</dc:identifier>
  <dcterms:modified xsi:type="dcterms:W3CDTF">2011-08-01T06:04:30Z</dcterms:modified>
  <cp:revision>1</cp:revision>
  <dc:title>Design Review Presentation - Trustedge</dc:title>
</cp:coreProperties>
</file>