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Times New Roman Bold" charset="1" panose="02020803070505020304"/>
      <p:regular r:id="rId25"/>
    </p:embeddedFont>
    <p:embeddedFont>
      <p:font typeface="Times New Roman" charset="1" panose="020206030504050203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embeddings/oleObject1.bin" Type="http://schemas.openxmlformats.org/officeDocument/2006/relationships/oleObjec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embeddings/oleObject2.bin" Type="http://schemas.openxmlformats.org/officeDocument/2006/relationships/oleObjec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embeddings/oleObject3.bin" Type="http://schemas.openxmlformats.org/officeDocument/2006/relationships/oleObjec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8139689" y="-505338"/>
            <a:ext cx="1843101" cy="10301285"/>
          </a:xfrm>
          <a:prstGeom prst="line">
            <a:avLst/>
          </a:prstGeom>
          <a:ln cap="rnd" w="9525">
            <a:solidFill>
              <a:srgbClr val="FFFFFF"/>
            </a:solidFill>
            <a:prstDash val="solid"/>
            <a:headEnd type="none" len="sm" w="sm"/>
            <a:tailEnd type="none" len="sm" w="sm"/>
          </a:ln>
        </p:spPr>
      </p:sp>
      <p:sp>
        <p:nvSpPr>
          <p:cNvPr name="AutoShape 3" id="3"/>
          <p:cNvSpPr/>
          <p:nvPr/>
        </p:nvSpPr>
        <p:spPr>
          <a:xfrm flipH="true">
            <a:off x="15692897" y="5770394"/>
            <a:ext cx="7159602" cy="4779195"/>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6216965" y="10"/>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6" id="6"/>
          <p:cNvGrpSpPr/>
          <p:nvPr/>
        </p:nvGrpSpPr>
        <p:grpSpPr>
          <a:xfrm rot="0">
            <a:off x="16849911" y="10"/>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8" id="8"/>
          <p:cNvGrpSpPr/>
          <p:nvPr/>
        </p:nvGrpSpPr>
        <p:grpSpPr>
          <a:xfrm rot="0">
            <a:off x="15843252" y="4584706"/>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0" id="10"/>
          <p:cNvGrpSpPr/>
          <p:nvPr/>
        </p:nvGrpSpPr>
        <p:grpSpPr>
          <a:xfrm rot="0">
            <a:off x="16446498" y="10"/>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2" id="12"/>
          <p:cNvGrpSpPr/>
          <p:nvPr/>
        </p:nvGrpSpPr>
        <p:grpSpPr>
          <a:xfrm rot="0">
            <a:off x="18007008" y="5397503"/>
            <a:ext cx="2725741" cy="4902203"/>
            <a:chOff x="0" y="0"/>
            <a:chExt cx="3634321" cy="6536271"/>
          </a:xfrm>
        </p:grpSpPr>
        <p:sp>
          <p:nvSpPr>
            <p:cNvPr name="Freeform 13" id="13"/>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63922"/>
              </a:srgbClr>
            </a:solidFill>
          </p:spPr>
        </p:sp>
      </p:grpSp>
      <p:grpSp>
        <p:nvGrpSpPr>
          <p:cNvPr name="Group 14" id="14"/>
          <p:cNvGrpSpPr/>
          <p:nvPr/>
        </p:nvGrpSpPr>
        <p:grpSpPr>
          <a:xfrm rot="0">
            <a:off x="0" y="6019800"/>
            <a:ext cx="673103" cy="4267200"/>
            <a:chOff x="0" y="0"/>
            <a:chExt cx="897471" cy="5689600"/>
          </a:xfrm>
        </p:grpSpPr>
        <p:sp>
          <p:nvSpPr>
            <p:cNvPr name="Freeform 15" id="15"/>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6" id="16"/>
          <p:cNvGrpSpPr/>
          <p:nvPr/>
        </p:nvGrpSpPr>
        <p:grpSpPr>
          <a:xfrm rot="0">
            <a:off x="-12697" y="-12697"/>
            <a:ext cx="208283" cy="10312403"/>
            <a:chOff x="0" y="0"/>
            <a:chExt cx="277711" cy="13749871"/>
          </a:xfrm>
        </p:grpSpPr>
        <p:sp>
          <p:nvSpPr>
            <p:cNvPr name="Freeform 17" id="17"/>
            <p:cNvSpPr/>
            <p:nvPr/>
          </p:nvSpPr>
          <p:spPr>
            <a:xfrm flipH="false" flipV="false" rot="0">
              <a:off x="0" y="0"/>
              <a:ext cx="277749" cy="13749910"/>
            </a:xfrm>
            <a:custGeom>
              <a:avLst/>
              <a:gdLst/>
              <a:ahLst/>
              <a:cxnLst/>
              <a:rect r="r" b="b" t="t" l="l"/>
              <a:pathLst>
                <a:path h="13749910" w="277749">
                  <a:moveTo>
                    <a:pt x="0" y="0"/>
                  </a:moveTo>
                  <a:lnTo>
                    <a:pt x="277749" y="0"/>
                  </a:lnTo>
                  <a:lnTo>
                    <a:pt x="277749" y="13749910"/>
                  </a:lnTo>
                  <a:lnTo>
                    <a:pt x="0" y="13749910"/>
                  </a:lnTo>
                  <a:close/>
                </a:path>
              </a:pathLst>
            </a:custGeom>
            <a:solidFill>
              <a:srgbClr val="1E6FBF"/>
            </a:solidFill>
            <a:ln w="25400" cap="sq">
              <a:solidFill>
                <a:srgbClr val="1E6FBF"/>
              </a:solidFill>
              <a:prstDash val="solid"/>
              <a:miter/>
            </a:ln>
          </p:spPr>
        </p:sp>
      </p:grpSp>
      <p:sp>
        <p:nvSpPr>
          <p:cNvPr name="TextBox 18" id="18"/>
          <p:cNvSpPr txBox="true"/>
          <p:nvPr/>
        </p:nvSpPr>
        <p:spPr>
          <a:xfrm rot="0">
            <a:off x="4055641" y="426557"/>
            <a:ext cx="10176718" cy="582930"/>
          </a:xfrm>
          <a:prstGeom prst="rect">
            <a:avLst/>
          </a:prstGeom>
        </p:spPr>
        <p:txBody>
          <a:bodyPr anchor="t" rtlCol="false" tIns="0" lIns="0" bIns="0" rIns="0">
            <a:spAutoFit/>
          </a:bodyPr>
          <a:lstStyle/>
          <a:p>
            <a:pPr algn="ctr">
              <a:lnSpc>
                <a:spcPts val="4620"/>
              </a:lnSpc>
              <a:spcBef>
                <a:spcPct val="0"/>
              </a:spcBef>
            </a:pPr>
            <a:r>
              <a:rPr lang="en-US" b="true" sz="3300">
                <a:solidFill>
                  <a:srgbClr val="000000"/>
                </a:solidFill>
                <a:latin typeface="Times New Roman Bold"/>
                <a:ea typeface="Times New Roman Bold"/>
                <a:cs typeface="Times New Roman Bold"/>
                <a:sym typeface="Times New Roman Bold"/>
              </a:rPr>
              <a:t>DAYANANDA SAGAR COLLEGE OF ENGINEERING</a:t>
            </a:r>
          </a:p>
        </p:txBody>
      </p:sp>
      <p:sp>
        <p:nvSpPr>
          <p:cNvPr name="TextBox 19" id="19"/>
          <p:cNvSpPr txBox="true"/>
          <p:nvPr/>
        </p:nvSpPr>
        <p:spPr>
          <a:xfrm rot="0">
            <a:off x="2786720" y="962025"/>
            <a:ext cx="12946381" cy="474345"/>
          </a:xfrm>
          <a:prstGeom prst="rect">
            <a:avLst/>
          </a:prstGeom>
        </p:spPr>
        <p:txBody>
          <a:bodyPr anchor="t" rtlCol="false" tIns="0" lIns="0" bIns="0" rIns="0">
            <a:spAutoFit/>
          </a:bodyPr>
          <a:lstStyle/>
          <a:p>
            <a:pPr algn="ctr">
              <a:lnSpc>
                <a:spcPts val="3780"/>
              </a:lnSpc>
              <a:spcBef>
                <a:spcPct val="0"/>
              </a:spcBef>
            </a:pPr>
            <a:r>
              <a:rPr lang="en-US" b="true" sz="2700">
                <a:solidFill>
                  <a:srgbClr val="1E6FBF"/>
                </a:solidFill>
                <a:latin typeface="Times New Roman Bold"/>
                <a:ea typeface="Times New Roman Bold"/>
                <a:cs typeface="Times New Roman Bold"/>
                <a:sym typeface="Times New Roman Bold"/>
              </a:rPr>
              <a:t>DEPARTMENT OF COMPUTER SCIENCE &amp; ENGINEERING (CYBER SECURITY)</a:t>
            </a:r>
          </a:p>
        </p:txBody>
      </p:sp>
      <p:sp>
        <p:nvSpPr>
          <p:cNvPr name="TextBox 20" id="20"/>
          <p:cNvSpPr txBox="true"/>
          <p:nvPr/>
        </p:nvSpPr>
        <p:spPr>
          <a:xfrm rot="0">
            <a:off x="6268364" y="1640064"/>
            <a:ext cx="5787182" cy="599440"/>
          </a:xfrm>
          <a:prstGeom prst="rect">
            <a:avLst/>
          </a:prstGeom>
        </p:spPr>
        <p:txBody>
          <a:bodyPr anchor="t" rtlCol="false" tIns="0" lIns="0" bIns="0" rIns="0">
            <a:spAutoFit/>
          </a:bodyPr>
          <a:lstStyle/>
          <a:p>
            <a:pPr algn="ctr">
              <a:lnSpc>
                <a:spcPts val="4759"/>
              </a:lnSpc>
              <a:spcBef>
                <a:spcPct val="0"/>
              </a:spcBef>
            </a:pPr>
            <a:r>
              <a:rPr lang="en-US" b="true" sz="3399">
                <a:solidFill>
                  <a:srgbClr val="000000"/>
                </a:solidFill>
                <a:latin typeface="Times New Roman Bold"/>
                <a:ea typeface="Times New Roman Bold"/>
                <a:cs typeface="Times New Roman Bold"/>
                <a:sym typeface="Times New Roman Bold"/>
              </a:rPr>
              <a:t>Literature Review Presentation</a:t>
            </a:r>
          </a:p>
        </p:txBody>
      </p:sp>
      <p:sp>
        <p:nvSpPr>
          <p:cNvPr name="TextBox 21" id="21"/>
          <p:cNvSpPr txBox="true"/>
          <p:nvPr/>
        </p:nvSpPr>
        <p:spPr>
          <a:xfrm rot="0">
            <a:off x="7024613" y="2443199"/>
            <a:ext cx="4238774" cy="566420"/>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Times New Roman Bold"/>
                <a:ea typeface="Times New Roman Bold"/>
                <a:cs typeface="Times New Roman Bold"/>
                <a:sym typeface="Times New Roman Bold"/>
              </a:rPr>
              <a:t>Major Project Phase – I </a:t>
            </a:r>
          </a:p>
        </p:txBody>
      </p:sp>
      <p:sp>
        <p:nvSpPr>
          <p:cNvPr name="TextBox 22" id="22"/>
          <p:cNvSpPr txBox="true"/>
          <p:nvPr/>
        </p:nvSpPr>
        <p:spPr>
          <a:xfrm rot="0">
            <a:off x="8263592" y="2952469"/>
            <a:ext cx="1760815" cy="566420"/>
          </a:xfrm>
          <a:prstGeom prst="rect">
            <a:avLst/>
          </a:prstGeom>
        </p:spPr>
        <p:txBody>
          <a:bodyPr anchor="t" rtlCol="false" tIns="0" lIns="0" bIns="0" rIns="0">
            <a:spAutoFit/>
          </a:bodyPr>
          <a:lstStyle/>
          <a:p>
            <a:pPr algn="ctr">
              <a:lnSpc>
                <a:spcPts val="4480"/>
              </a:lnSpc>
              <a:spcBef>
                <a:spcPct val="0"/>
              </a:spcBef>
            </a:pPr>
            <a:r>
              <a:rPr lang="en-US" b="true" sz="3200">
                <a:solidFill>
                  <a:srgbClr val="000000"/>
                </a:solidFill>
                <a:latin typeface="Times New Roman Bold"/>
                <a:ea typeface="Times New Roman Bold"/>
                <a:cs typeface="Times New Roman Bold"/>
                <a:sym typeface="Times New Roman Bold"/>
              </a:rPr>
              <a:t>2026-2027</a:t>
            </a:r>
          </a:p>
        </p:txBody>
      </p:sp>
      <p:sp>
        <p:nvSpPr>
          <p:cNvPr name="TextBox 23" id="23"/>
          <p:cNvSpPr txBox="true"/>
          <p:nvPr/>
        </p:nvSpPr>
        <p:spPr>
          <a:xfrm rot="0">
            <a:off x="3127455" y="3763481"/>
            <a:ext cx="12479417" cy="615950"/>
          </a:xfrm>
          <a:prstGeom prst="rect">
            <a:avLst/>
          </a:prstGeom>
        </p:spPr>
        <p:txBody>
          <a:bodyPr anchor="t" rtlCol="false" tIns="0" lIns="0" bIns="0" rIns="0">
            <a:spAutoFit/>
          </a:bodyPr>
          <a:lstStyle/>
          <a:p>
            <a:pPr algn="ctr">
              <a:lnSpc>
                <a:spcPts val="4899"/>
              </a:lnSpc>
              <a:spcBef>
                <a:spcPct val="0"/>
              </a:spcBef>
            </a:pPr>
            <a:r>
              <a:rPr lang="en-US" sz="3499">
                <a:solidFill>
                  <a:srgbClr val="000000"/>
                </a:solidFill>
                <a:latin typeface="Times New Roman"/>
                <a:ea typeface="Times New Roman"/>
                <a:cs typeface="Times New Roman"/>
                <a:sym typeface="Times New Roman"/>
              </a:rPr>
              <a:t>TPM-Assisted Secure Hardware Attestation Framework for AI Agents</a:t>
            </a:r>
          </a:p>
        </p:txBody>
      </p:sp>
      <p:sp>
        <p:nvSpPr>
          <p:cNvPr name="TextBox 24" id="24"/>
          <p:cNvSpPr txBox="true"/>
          <p:nvPr/>
        </p:nvSpPr>
        <p:spPr>
          <a:xfrm rot="0">
            <a:off x="5451398" y="4710991"/>
            <a:ext cx="7617023" cy="500380"/>
          </a:xfrm>
          <a:prstGeom prst="rect">
            <a:avLst/>
          </a:prstGeom>
        </p:spPr>
        <p:txBody>
          <a:bodyPr anchor="t" rtlCol="false" tIns="0" lIns="0" bIns="0" rIns="0">
            <a:spAutoFit/>
          </a:bodyPr>
          <a:lstStyle/>
          <a:p>
            <a:pPr algn="ctr">
              <a:lnSpc>
                <a:spcPts val="3920"/>
              </a:lnSpc>
              <a:spcBef>
                <a:spcPct val="0"/>
              </a:spcBef>
            </a:pPr>
            <a:r>
              <a:rPr lang="en-US" b="true" sz="2800">
                <a:solidFill>
                  <a:srgbClr val="000000"/>
                </a:solidFill>
                <a:latin typeface="Times New Roman Bold"/>
                <a:ea typeface="Times New Roman Bold"/>
                <a:cs typeface="Times New Roman Bold"/>
                <a:sym typeface="Times New Roman Bold"/>
              </a:rPr>
              <a:t>Domain Name: Cyber security and deep learning  </a:t>
            </a:r>
          </a:p>
        </p:txBody>
      </p:sp>
      <p:sp>
        <p:nvSpPr>
          <p:cNvPr name="TextBox 25" id="25"/>
          <p:cNvSpPr txBox="true"/>
          <p:nvPr/>
        </p:nvSpPr>
        <p:spPr>
          <a:xfrm rot="0">
            <a:off x="2878794" y="6607100"/>
            <a:ext cx="4282906" cy="1672590"/>
          </a:xfrm>
          <a:prstGeom prst="rect">
            <a:avLst/>
          </a:prstGeom>
        </p:spPr>
        <p:txBody>
          <a:bodyPr anchor="t" rtlCol="false" tIns="0" lIns="0" bIns="0" rIns="0">
            <a:spAutoFit/>
          </a:bodyPr>
          <a:lstStyle/>
          <a:p>
            <a:pPr algn="l">
              <a:lnSpc>
                <a:spcPts val="3359"/>
              </a:lnSpc>
            </a:pPr>
            <a:r>
              <a:rPr lang="en-US" sz="2400" b="true">
                <a:solidFill>
                  <a:srgbClr val="000000"/>
                </a:solidFill>
                <a:latin typeface="Times New Roman Bold"/>
                <a:ea typeface="Times New Roman Bold"/>
                <a:cs typeface="Times New Roman Bold"/>
                <a:sym typeface="Times New Roman Bold"/>
              </a:rPr>
              <a:t>Presented by:</a:t>
            </a:r>
          </a:p>
          <a:p>
            <a:pPr algn="l" marL="518160" indent="-259080" lvl="1">
              <a:lnSpc>
                <a:spcPts val="3359"/>
              </a:lnSpc>
              <a:buAutoNum type="arabicPeriod" startAt="1"/>
            </a:pPr>
            <a:r>
              <a:rPr lang="en-US" sz="2400">
                <a:solidFill>
                  <a:srgbClr val="000000"/>
                </a:solidFill>
                <a:latin typeface="Times New Roman"/>
                <a:ea typeface="Times New Roman"/>
                <a:cs typeface="Times New Roman"/>
                <a:sym typeface="Times New Roman"/>
              </a:rPr>
              <a:t> Surendra S                   </a:t>
            </a:r>
          </a:p>
          <a:p>
            <a:pPr algn="l" marL="518160" indent="-259080" lvl="1">
              <a:lnSpc>
                <a:spcPts val="3359"/>
              </a:lnSpc>
              <a:buAutoNum type="arabicPeriod" startAt="1"/>
            </a:pPr>
            <a:r>
              <a:rPr lang="en-US" sz="2400">
                <a:solidFill>
                  <a:srgbClr val="000000"/>
                </a:solidFill>
                <a:latin typeface="Times New Roman"/>
                <a:ea typeface="Times New Roman"/>
                <a:cs typeface="Times New Roman"/>
                <a:sym typeface="Times New Roman"/>
              </a:rPr>
              <a:t> Manyu Simha Ravi   </a:t>
            </a:r>
          </a:p>
          <a:p>
            <a:pPr algn="l" marL="518160" indent="-259080" lvl="1">
              <a:lnSpc>
                <a:spcPts val="3359"/>
              </a:lnSpc>
              <a:spcBef>
                <a:spcPct val="0"/>
              </a:spcBef>
              <a:buAutoNum type="arabicPeriod" startAt="1"/>
            </a:pPr>
            <a:r>
              <a:rPr lang="en-US" sz="2400">
                <a:solidFill>
                  <a:srgbClr val="000000"/>
                </a:solidFill>
                <a:latin typeface="Times New Roman"/>
                <a:ea typeface="Times New Roman"/>
                <a:cs typeface="Times New Roman"/>
                <a:sym typeface="Times New Roman"/>
              </a:rPr>
              <a:t> Letitia Gilbert</a:t>
            </a:r>
          </a:p>
        </p:txBody>
      </p:sp>
      <p:sp>
        <p:nvSpPr>
          <p:cNvPr name="TextBox 26" id="26"/>
          <p:cNvSpPr txBox="true"/>
          <p:nvPr/>
        </p:nvSpPr>
        <p:spPr>
          <a:xfrm rot="0">
            <a:off x="9542984" y="6616625"/>
            <a:ext cx="9378751" cy="1672590"/>
          </a:xfrm>
          <a:prstGeom prst="rect">
            <a:avLst/>
          </a:prstGeom>
        </p:spPr>
        <p:txBody>
          <a:bodyPr anchor="t" rtlCol="false" tIns="0" lIns="0" bIns="0" rIns="0">
            <a:spAutoFit/>
          </a:bodyPr>
          <a:lstStyle/>
          <a:p>
            <a:pPr algn="just">
              <a:lnSpc>
                <a:spcPts val="3359"/>
              </a:lnSpc>
            </a:pPr>
            <a:r>
              <a:rPr lang="en-US" b="true" sz="2400">
                <a:solidFill>
                  <a:srgbClr val="000000"/>
                </a:solidFill>
                <a:latin typeface="Times New Roman Bold"/>
                <a:ea typeface="Times New Roman Bold"/>
                <a:cs typeface="Times New Roman Bold"/>
                <a:sym typeface="Times New Roman Bold"/>
              </a:rPr>
              <a:t>Guided by:</a:t>
            </a:r>
          </a:p>
          <a:p>
            <a:pPr algn="just">
              <a:lnSpc>
                <a:spcPts val="3359"/>
              </a:lnSpc>
            </a:pPr>
            <a:r>
              <a:rPr lang="en-US" sz="2400">
                <a:solidFill>
                  <a:srgbClr val="000000"/>
                </a:solidFill>
                <a:latin typeface="Times New Roman"/>
                <a:ea typeface="Times New Roman"/>
                <a:cs typeface="Times New Roman"/>
                <a:sym typeface="Times New Roman"/>
              </a:rPr>
              <a:t> Prof. Pallavi Bindagi</a:t>
            </a:r>
          </a:p>
          <a:p>
            <a:pPr algn="l">
              <a:lnSpc>
                <a:spcPts val="3359"/>
              </a:lnSpc>
            </a:pPr>
            <a:r>
              <a:rPr lang="en-US" sz="2400">
                <a:solidFill>
                  <a:srgbClr val="000000"/>
                </a:solidFill>
                <a:latin typeface="Times New Roman"/>
                <a:ea typeface="Times New Roman"/>
                <a:cs typeface="Times New Roman"/>
                <a:sym typeface="Times New Roman"/>
              </a:rPr>
              <a:t> Assistant Professor, Department of CSE (Cyber Security)</a:t>
            </a:r>
          </a:p>
          <a:p>
            <a:pPr algn="l">
              <a:lnSpc>
                <a:spcPts val="3359"/>
              </a:lnSpc>
              <a:spcBef>
                <a:spcPct val="0"/>
              </a:spcBef>
            </a:pPr>
          </a:p>
        </p:txBody>
      </p:sp>
      <p:sp>
        <p:nvSpPr>
          <p:cNvPr name="TextBox 27" id="27"/>
          <p:cNvSpPr txBox="true"/>
          <p:nvPr/>
        </p:nvSpPr>
        <p:spPr>
          <a:xfrm rot="0">
            <a:off x="14170854" y="8251115"/>
            <a:ext cx="2268967" cy="415289"/>
          </a:xfrm>
          <a:prstGeom prst="rect">
            <a:avLst/>
          </a:prstGeom>
        </p:spPr>
        <p:txBody>
          <a:bodyPr anchor="t" rtlCol="false" tIns="0" lIns="0" bIns="0" rIns="0">
            <a:spAutoFit/>
          </a:bodyPr>
          <a:lstStyle/>
          <a:p>
            <a:pPr algn="just">
              <a:lnSpc>
                <a:spcPts val="3360"/>
              </a:lnSpc>
              <a:spcBef>
                <a:spcPct val="0"/>
              </a:spcBef>
            </a:pPr>
            <a:r>
              <a:rPr lang="en-US" sz="2400">
                <a:solidFill>
                  <a:srgbClr val="000000"/>
                </a:solidFill>
                <a:latin typeface="Times New Roman"/>
                <a:ea typeface="Times New Roman"/>
                <a:cs typeface="Times New Roman"/>
                <a:sym typeface="Times New Roman"/>
              </a:rPr>
              <a:t>Date: 15-9-2026</a:t>
            </a:r>
          </a:p>
        </p:txBody>
      </p:sp>
      <p:sp>
        <p:nvSpPr>
          <p:cNvPr name="TextBox 28" id="28"/>
          <p:cNvSpPr txBox="true"/>
          <p:nvPr/>
        </p:nvSpPr>
        <p:spPr>
          <a:xfrm rot="0">
            <a:off x="6154779" y="6188000"/>
            <a:ext cx="3964153" cy="2091690"/>
          </a:xfrm>
          <a:prstGeom prst="rect">
            <a:avLst/>
          </a:prstGeom>
        </p:spPr>
        <p:txBody>
          <a:bodyPr anchor="t" rtlCol="false" tIns="0" lIns="0" bIns="0" rIns="0">
            <a:spAutoFit/>
          </a:bodyPr>
          <a:lstStyle/>
          <a:p>
            <a:pPr algn="just">
              <a:lnSpc>
                <a:spcPts val="3359"/>
              </a:lnSpc>
            </a:pPr>
          </a:p>
          <a:p>
            <a:pPr algn="just">
              <a:lnSpc>
                <a:spcPts val="3359"/>
              </a:lnSpc>
            </a:pPr>
          </a:p>
          <a:p>
            <a:pPr algn="just">
              <a:lnSpc>
                <a:spcPts val="3359"/>
              </a:lnSpc>
            </a:pPr>
            <a:r>
              <a:rPr lang="en-US" sz="2400">
                <a:solidFill>
                  <a:srgbClr val="000000"/>
                </a:solidFill>
                <a:latin typeface="Times New Roman"/>
                <a:ea typeface="Times New Roman"/>
                <a:cs typeface="Times New Roman"/>
                <a:sym typeface="Times New Roman"/>
              </a:rPr>
              <a:t>1DS23CY059  </a:t>
            </a:r>
          </a:p>
          <a:p>
            <a:pPr algn="just">
              <a:lnSpc>
                <a:spcPts val="3359"/>
              </a:lnSpc>
            </a:pPr>
            <a:r>
              <a:rPr lang="en-US" sz="2400">
                <a:solidFill>
                  <a:srgbClr val="000000"/>
                </a:solidFill>
                <a:latin typeface="Times New Roman"/>
                <a:ea typeface="Times New Roman"/>
                <a:cs typeface="Times New Roman"/>
                <a:sym typeface="Times New Roman"/>
              </a:rPr>
              <a:t>1DS23CY035</a:t>
            </a:r>
          </a:p>
          <a:p>
            <a:pPr algn="just">
              <a:lnSpc>
                <a:spcPts val="3359"/>
              </a:lnSpc>
              <a:spcBef>
                <a:spcPct val="0"/>
              </a:spcBef>
            </a:pPr>
            <a:r>
              <a:rPr lang="en-US" sz="2400">
                <a:solidFill>
                  <a:srgbClr val="000000"/>
                </a:solidFill>
                <a:latin typeface="Times New Roman"/>
                <a:ea typeface="Times New Roman"/>
                <a:cs typeface="Times New Roman"/>
                <a:sym typeface="Times New Roman"/>
              </a:rPr>
              <a:t>1DS23CY031</a:t>
            </a:r>
            <a:r>
              <a:rPr lang="en-US" sz="2400">
                <a:solidFill>
                  <a:srgbClr val="000000"/>
                </a:solidFill>
                <a:latin typeface="Times New Roman"/>
                <a:ea typeface="Times New Roman"/>
                <a:cs typeface="Times New Roman"/>
                <a:sym typeface="Times New Roman"/>
              </a:rPr>
              <a:t>            </a:t>
            </a:r>
          </a:p>
        </p:txBody>
      </p:sp>
      <p:sp>
        <p:nvSpPr>
          <p:cNvPr name="TextBox 29" id="29"/>
          <p:cNvSpPr txBox="true"/>
          <p:nvPr/>
        </p:nvSpPr>
        <p:spPr>
          <a:xfrm rot="0">
            <a:off x="7633576" y="5211370"/>
            <a:ext cx="3252669" cy="500380"/>
          </a:xfrm>
          <a:prstGeom prst="rect">
            <a:avLst/>
          </a:prstGeom>
        </p:spPr>
        <p:txBody>
          <a:bodyPr anchor="t" rtlCol="false" tIns="0" lIns="0" bIns="0" rIns="0">
            <a:spAutoFit/>
          </a:bodyPr>
          <a:lstStyle/>
          <a:p>
            <a:pPr algn="ctr">
              <a:lnSpc>
                <a:spcPts val="3920"/>
              </a:lnSpc>
              <a:spcBef>
                <a:spcPct val="0"/>
              </a:spcBef>
            </a:pPr>
            <a:r>
              <a:rPr lang="en-US" b="true" sz="2800">
                <a:solidFill>
                  <a:srgbClr val="000000"/>
                </a:solidFill>
                <a:latin typeface="Times New Roman Bold"/>
                <a:ea typeface="Times New Roman Bold"/>
                <a:cs typeface="Times New Roman Bold"/>
                <a:sym typeface="Times New Roman Bold"/>
              </a:rPr>
              <a:t>Group number: G-13</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a:off x="16598101" y="5554"/>
            <a:ext cx="1843101" cy="10301285"/>
          </a:xfrm>
          <a:prstGeom prst="line">
            <a:avLst/>
          </a:prstGeom>
          <a:ln cap="rnd" w="9525">
            <a:solidFill>
              <a:srgbClr val="FFFFFF"/>
            </a:solidFill>
            <a:prstDash val="solid"/>
            <a:headEnd type="none" len="sm" w="sm"/>
            <a:tailEnd type="none" len="sm" w="sm"/>
          </a:ln>
        </p:spPr>
      </p:sp>
      <p:sp>
        <p:nvSpPr>
          <p:cNvPr name="AutoShape 3" id="3"/>
          <p:cNvSpPr/>
          <p:nvPr/>
        </p:nvSpPr>
        <p:spPr>
          <a:xfrm flipH="true">
            <a:off x="13679499" y="5527659"/>
            <a:ext cx="7159602" cy="4779195"/>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6320949" y="0"/>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6" id="6"/>
          <p:cNvGrpSpPr/>
          <p:nvPr/>
        </p:nvGrpSpPr>
        <p:grpSpPr>
          <a:xfrm rot="0">
            <a:off x="16953895" y="0"/>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8" id="8"/>
          <p:cNvGrpSpPr/>
          <p:nvPr/>
        </p:nvGrpSpPr>
        <p:grpSpPr>
          <a:xfrm rot="0">
            <a:off x="15947236" y="4584697"/>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0" id="10"/>
          <p:cNvGrpSpPr/>
          <p:nvPr/>
        </p:nvGrpSpPr>
        <p:grpSpPr>
          <a:xfrm rot="0">
            <a:off x="16550483" y="0"/>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2" id="12"/>
          <p:cNvGrpSpPr/>
          <p:nvPr/>
        </p:nvGrpSpPr>
        <p:grpSpPr>
          <a:xfrm rot="0">
            <a:off x="18106230" y="5397494"/>
            <a:ext cx="2725741" cy="4902203"/>
            <a:chOff x="0" y="0"/>
            <a:chExt cx="3634321" cy="6536271"/>
          </a:xfrm>
        </p:grpSpPr>
        <p:sp>
          <p:nvSpPr>
            <p:cNvPr name="Freeform 13" id="13"/>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90C226">
                <a:alpha val="63922"/>
              </a:srgbClr>
            </a:solidFill>
          </p:spPr>
        </p:sp>
      </p:grpSp>
      <p:grpSp>
        <p:nvGrpSpPr>
          <p:cNvPr name="Group 14" id="14"/>
          <p:cNvGrpSpPr/>
          <p:nvPr/>
        </p:nvGrpSpPr>
        <p:grpSpPr>
          <a:xfrm rot="0">
            <a:off x="0" y="6019800"/>
            <a:ext cx="673103" cy="4267200"/>
            <a:chOff x="0" y="0"/>
            <a:chExt cx="897471" cy="5689600"/>
          </a:xfrm>
        </p:grpSpPr>
        <p:sp>
          <p:nvSpPr>
            <p:cNvPr name="Freeform 15" id="15"/>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sp>
        <p:nvSpPr>
          <p:cNvPr name="TextBox 16" id="16"/>
          <p:cNvSpPr txBox="true"/>
          <p:nvPr/>
        </p:nvSpPr>
        <p:spPr>
          <a:xfrm rot="0">
            <a:off x="8018041" y="297180"/>
            <a:ext cx="2251918"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AGENDA</a:t>
            </a:r>
          </a:p>
        </p:txBody>
      </p:sp>
      <p:sp>
        <p:nvSpPr>
          <p:cNvPr name="TextBox 17" id="17"/>
          <p:cNvSpPr txBox="true"/>
          <p:nvPr/>
        </p:nvSpPr>
        <p:spPr>
          <a:xfrm rot="0">
            <a:off x="1352779" y="1681159"/>
            <a:ext cx="4403527" cy="251079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Abstract</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Introduction / Background </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Objectives</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Literature Review</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Research Gaps &amp; Opportunities</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Summary / Key Takeaway</a:t>
            </a:r>
          </a:p>
        </p:txBody>
      </p:sp>
      <p:grpSp>
        <p:nvGrpSpPr>
          <p:cNvPr name="Group 18" id="18"/>
          <p:cNvGrpSpPr/>
          <p:nvPr/>
        </p:nvGrpSpPr>
        <p:grpSpPr>
          <a:xfrm rot="0">
            <a:off x="1352779" y="1235452"/>
            <a:ext cx="14880637" cy="119355"/>
            <a:chOff x="0" y="0"/>
            <a:chExt cx="19840849" cy="159140"/>
          </a:xfrm>
        </p:grpSpPr>
        <p:sp>
          <p:nvSpPr>
            <p:cNvPr name="Freeform 19" id="19"/>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20" id="20"/>
          <p:cNvSpPr txBox="true"/>
          <p:nvPr/>
        </p:nvSpPr>
        <p:spPr>
          <a:xfrm rot="0">
            <a:off x="17259300" y="9467762"/>
            <a:ext cx="1524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2</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H="true">
            <a:off x="16067731" y="5770394"/>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607129"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240075"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233416"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836663"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sp>
        <p:nvSpPr>
          <p:cNvPr name="TextBox 13" id="13"/>
          <p:cNvSpPr txBox="true"/>
          <p:nvPr/>
        </p:nvSpPr>
        <p:spPr>
          <a:xfrm rot="0">
            <a:off x="7750969" y="297180"/>
            <a:ext cx="2786062"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ABSTRACT</a:t>
            </a:r>
          </a:p>
        </p:txBody>
      </p:sp>
      <p:sp>
        <p:nvSpPr>
          <p:cNvPr name="TextBox 14" id="14"/>
          <p:cNvSpPr txBox="true"/>
          <p:nvPr/>
        </p:nvSpPr>
        <p:spPr>
          <a:xfrm rot="0">
            <a:off x="1028700" y="2472086"/>
            <a:ext cx="16230600" cy="3768090"/>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This</a:t>
            </a:r>
            <a:r>
              <a:rPr lang="en-US" sz="2400">
                <a:solidFill>
                  <a:srgbClr val="000000"/>
                </a:solidFill>
                <a:latin typeface="Times New Roman"/>
                <a:ea typeface="Times New Roman"/>
                <a:cs typeface="Times New Roman"/>
                <a:sym typeface="Times New Roman"/>
              </a:rPr>
              <a:t> survey reviews existing research on TPM based hardware attestation, secure AI agent execution, and runtime integrity monitoring in edge and cloud environments. It examines current approaches to remote attestation, behavioral anomaly detection, and privacy preserving telemetry.</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Key findings show that existing solutions provide strong initial trust verification but lack continuous behavioral assessment after attestation. This gap is especially critical for AI agents operating on resource constrained edge devices.</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The survey justifies the need for a framework combining TPM assisted attestation with continuous monitoring and controlled response, forming the foundation of the proposed TrustEdge system.</a:t>
            </a:r>
          </a:p>
        </p:txBody>
      </p:sp>
      <p:grpSp>
        <p:nvGrpSpPr>
          <p:cNvPr name="Group 15" id="15"/>
          <p:cNvGrpSpPr/>
          <p:nvPr/>
        </p:nvGrpSpPr>
        <p:grpSpPr>
          <a:xfrm rot="0">
            <a:off x="1352779" y="1235452"/>
            <a:ext cx="14880637" cy="119355"/>
            <a:chOff x="0" y="0"/>
            <a:chExt cx="19840849" cy="159140"/>
          </a:xfrm>
        </p:grpSpPr>
        <p:sp>
          <p:nvSpPr>
            <p:cNvPr name="Freeform 16" id="16"/>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7" id="17"/>
          <p:cNvSpPr txBox="true"/>
          <p:nvPr/>
        </p:nvSpPr>
        <p:spPr>
          <a:xfrm rot="0">
            <a:off x="17476691" y="9467762"/>
            <a:ext cx="1524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3</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H="true">
            <a:off x="16087877" y="5819196"/>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605268"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238213"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231554"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834801"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sp>
        <p:nvSpPr>
          <p:cNvPr name="TextBox 13" id="13"/>
          <p:cNvSpPr txBox="true"/>
          <p:nvPr/>
        </p:nvSpPr>
        <p:spPr>
          <a:xfrm rot="0">
            <a:off x="7129165" y="297180"/>
            <a:ext cx="4029670"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INTRODUCTION</a:t>
            </a:r>
          </a:p>
        </p:txBody>
      </p:sp>
      <p:sp>
        <p:nvSpPr>
          <p:cNvPr name="TextBox 14" id="14"/>
          <p:cNvSpPr txBox="true"/>
          <p:nvPr/>
        </p:nvSpPr>
        <p:spPr>
          <a:xfrm rot="0">
            <a:off x="1352779" y="1979928"/>
            <a:ext cx="15885434" cy="6282690"/>
          </a:xfrm>
          <a:prstGeom prst="rect">
            <a:avLst/>
          </a:prstGeom>
        </p:spPr>
        <p:txBody>
          <a:bodyPr anchor="t" rtlCol="false" tIns="0" lIns="0" bIns="0" rIns="0">
            <a:spAutoFit/>
          </a:bodyPr>
          <a:lstStyle/>
          <a:p>
            <a:pPr algn="just">
              <a:lnSpc>
                <a:spcPts val="3359"/>
              </a:lnSpc>
              <a:spcBef>
                <a:spcPct val="0"/>
              </a:spcBef>
            </a:pPr>
            <a:r>
              <a:rPr lang="en-US" b="true" sz="2400">
                <a:solidFill>
                  <a:srgbClr val="000000"/>
                </a:solidFill>
                <a:latin typeface="Times New Roman Bold"/>
                <a:ea typeface="Times New Roman Bold"/>
                <a:cs typeface="Times New Roman Bold"/>
                <a:sym typeface="Times New Roman Bold"/>
              </a:rPr>
              <a:t>Context / Motivation:</a:t>
            </a:r>
          </a:p>
          <a:p>
            <a:pPr algn="just">
              <a:lnSpc>
                <a:spcPts val="3359"/>
              </a:lnSpc>
              <a:spcBef>
                <a:spcPct val="0"/>
              </a:spcBef>
            </a:pPr>
            <a:r>
              <a:rPr lang="en-US" sz="2400">
                <a:solidFill>
                  <a:srgbClr val="000000"/>
                </a:solidFill>
                <a:latin typeface="Times New Roman"/>
                <a:ea typeface="Times New Roman"/>
                <a:cs typeface="Times New Roman"/>
                <a:sym typeface="Times New Roman"/>
              </a:rPr>
              <a:t>AI agents are increasingly deployed in cloud and edge environments to automate sensitive operations such as file access, network communication, and system command execution. These agents operate with elevated privileges, yet no standardized mechanism exists to verify their integrity after deployment or prevent unauthorized actions at runtime.</a:t>
            </a:r>
          </a:p>
          <a:p>
            <a:pPr algn="just">
              <a:lnSpc>
                <a:spcPts val="3359"/>
              </a:lnSpc>
              <a:spcBef>
                <a:spcPct val="0"/>
              </a:spcBef>
            </a:pPr>
          </a:p>
          <a:p>
            <a:pPr algn="just">
              <a:lnSpc>
                <a:spcPts val="3359"/>
              </a:lnSpc>
              <a:spcBef>
                <a:spcPct val="0"/>
              </a:spcBef>
            </a:pPr>
            <a:r>
              <a:rPr lang="en-US" b="true" sz="2400">
                <a:solidFill>
                  <a:srgbClr val="000000"/>
                </a:solidFill>
                <a:latin typeface="Times New Roman Bold"/>
                <a:ea typeface="Times New Roman Bold"/>
                <a:cs typeface="Times New Roman Bold"/>
                <a:sym typeface="Times New Roman Bold"/>
              </a:rPr>
              <a:t>Domain Description:</a:t>
            </a:r>
          </a:p>
          <a:p>
            <a:pPr algn="just">
              <a:lnSpc>
                <a:spcPts val="3359"/>
              </a:lnSpc>
              <a:spcBef>
                <a:spcPct val="0"/>
              </a:spcBef>
            </a:pPr>
            <a:r>
              <a:rPr lang="en-US" sz="2400">
                <a:solidFill>
                  <a:srgbClr val="000000"/>
                </a:solidFill>
                <a:latin typeface="Times New Roman"/>
                <a:ea typeface="Times New Roman"/>
                <a:cs typeface="Times New Roman"/>
                <a:sym typeface="Times New Roman"/>
              </a:rPr>
              <a:t>This project lies at the intersection of hardware-assisted security using TPM, container isolation, and AI agent governance. It draws from trusted computing, remote attestation, and runtime monitoring to establish a secure execution environment for autonomous agents.</a:t>
            </a:r>
          </a:p>
          <a:p>
            <a:pPr algn="just">
              <a:lnSpc>
                <a:spcPts val="3359"/>
              </a:lnSpc>
              <a:spcBef>
                <a:spcPct val="0"/>
              </a:spcBef>
            </a:pPr>
          </a:p>
          <a:p>
            <a:pPr algn="just">
              <a:lnSpc>
                <a:spcPts val="3359"/>
              </a:lnSpc>
              <a:spcBef>
                <a:spcPct val="0"/>
              </a:spcBef>
            </a:pPr>
            <a:r>
              <a:rPr lang="en-US" b="true" sz="2400">
                <a:solidFill>
                  <a:srgbClr val="000000"/>
                </a:solidFill>
                <a:latin typeface="Times New Roman Bold"/>
                <a:ea typeface="Times New Roman Bold"/>
                <a:cs typeface="Times New Roman Bold"/>
                <a:sym typeface="Times New Roman Bold"/>
              </a:rPr>
              <a:t>Importance and Relevance:</a:t>
            </a:r>
          </a:p>
          <a:p>
            <a:pPr algn="just">
              <a:lnSpc>
                <a:spcPts val="3359"/>
              </a:lnSpc>
              <a:spcBef>
                <a:spcPct val="0"/>
              </a:spcBef>
            </a:pPr>
            <a:r>
              <a:rPr lang="en-US" sz="2400">
                <a:solidFill>
                  <a:srgbClr val="000000"/>
                </a:solidFill>
                <a:latin typeface="Times New Roman"/>
                <a:ea typeface="Times New Roman"/>
                <a:cs typeface="Times New Roman"/>
                <a:sym typeface="Times New Roman"/>
              </a:rPr>
              <a:t>A compromised or misaligned AI agent can cause irreversible damage. Existing solutions establish initial trust through attestation but do not provide continuous verification. This gap makes runtime integrity a critical and under explored area of research and justifies the need for a TPM-assisted secure attestation framework.</a:t>
            </a:r>
          </a:p>
          <a:p>
            <a:pPr algn="just">
              <a:lnSpc>
                <a:spcPts val="3359"/>
              </a:lnSpc>
              <a:spcBef>
                <a:spcPct val="0"/>
              </a:spcBef>
            </a:pPr>
          </a:p>
        </p:txBody>
      </p:sp>
      <p:grpSp>
        <p:nvGrpSpPr>
          <p:cNvPr name="Group 15" id="15"/>
          <p:cNvGrpSpPr/>
          <p:nvPr/>
        </p:nvGrpSpPr>
        <p:grpSpPr>
          <a:xfrm rot="0">
            <a:off x="1352779" y="1235452"/>
            <a:ext cx="14880637" cy="119355"/>
            <a:chOff x="0" y="0"/>
            <a:chExt cx="19840849" cy="159140"/>
          </a:xfrm>
        </p:grpSpPr>
        <p:sp>
          <p:nvSpPr>
            <p:cNvPr name="Freeform 16" id="16"/>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7" id="17"/>
          <p:cNvSpPr txBox="true"/>
          <p:nvPr/>
        </p:nvSpPr>
        <p:spPr>
          <a:xfrm rot="0">
            <a:off x="17476691" y="9467762"/>
            <a:ext cx="1524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4</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573342" y="297180"/>
            <a:ext cx="3141315"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OBJECTIVES</a:t>
            </a:r>
          </a:p>
        </p:txBody>
      </p:sp>
      <p:sp>
        <p:nvSpPr>
          <p:cNvPr name="TextBox 3" id="3"/>
          <p:cNvSpPr txBox="true"/>
          <p:nvPr/>
        </p:nvSpPr>
        <p:spPr>
          <a:xfrm rot="0">
            <a:off x="1028700" y="2183130"/>
            <a:ext cx="15543653" cy="5863590"/>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To study </a:t>
            </a:r>
            <a:r>
              <a:rPr lang="en-US" sz="2400">
                <a:solidFill>
                  <a:srgbClr val="000000"/>
                </a:solidFill>
                <a:latin typeface="Times New Roman"/>
                <a:ea typeface="Times New Roman"/>
                <a:cs typeface="Times New Roman"/>
                <a:sym typeface="Times New Roman"/>
              </a:rPr>
              <a:t>hardware-assisted security mechanisms  TPM, TEE, SGX, TrustZone, and RISC-V enclaves used for attestation and integrity verification in modern computing systems.</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To examine how existing frameworks establish trust at boot time versus their capability to sustain trust throughout runtime execution.</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To evaluate remote attestation protocols across cloud, edge, and embedded platforms, assessing their scalability, hardware dependency and integration overhead.</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To identify how current research addresses the unique security requirements of autonomous AI agents operating with elevated system privileges.</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To determine design principles for combining TPM rooted attestation with policy-driven action control and human oversight for AI agent governance.</a:t>
            </a:r>
          </a:p>
        </p:txBody>
      </p:sp>
      <p:sp>
        <p:nvSpPr>
          <p:cNvPr name="AutoShape 4" id="4"/>
          <p:cNvSpPr/>
          <p:nvPr/>
        </p:nvSpPr>
        <p:spPr>
          <a:xfrm flipH="true">
            <a:off x="16054962" y="5819196"/>
            <a:ext cx="7159602" cy="4779195"/>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16572353" y="0"/>
            <a:ext cx="4511021" cy="10299697"/>
            <a:chOff x="0" y="0"/>
            <a:chExt cx="6014695" cy="13732929"/>
          </a:xfrm>
        </p:grpSpPr>
        <p:sp>
          <p:nvSpPr>
            <p:cNvPr name="Freeform 6" id="6"/>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7" id="7"/>
          <p:cNvGrpSpPr/>
          <p:nvPr/>
        </p:nvGrpSpPr>
        <p:grpSpPr>
          <a:xfrm rot="0">
            <a:off x="17205298" y="0"/>
            <a:ext cx="3882838" cy="10299697"/>
            <a:chOff x="0" y="0"/>
            <a:chExt cx="5177117" cy="13732929"/>
          </a:xfrm>
        </p:grpSpPr>
        <p:sp>
          <p:nvSpPr>
            <p:cNvPr name="Freeform 8" id="8"/>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9" id="9"/>
          <p:cNvGrpSpPr/>
          <p:nvPr/>
        </p:nvGrpSpPr>
        <p:grpSpPr>
          <a:xfrm rot="0">
            <a:off x="16198639" y="4584697"/>
            <a:ext cx="4889497" cy="5715000"/>
            <a:chOff x="0" y="0"/>
            <a:chExt cx="6519329" cy="7620000"/>
          </a:xfrm>
        </p:grpSpPr>
        <p:sp>
          <p:nvSpPr>
            <p:cNvPr name="Freeform 10" id="10"/>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1" id="11"/>
          <p:cNvGrpSpPr/>
          <p:nvPr/>
        </p:nvGrpSpPr>
        <p:grpSpPr>
          <a:xfrm rot="0">
            <a:off x="16801886" y="0"/>
            <a:ext cx="4281488" cy="10299697"/>
            <a:chOff x="0" y="0"/>
            <a:chExt cx="5708650" cy="13732929"/>
          </a:xfrm>
        </p:grpSpPr>
        <p:sp>
          <p:nvSpPr>
            <p:cNvPr name="Freeform 12" id="12"/>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3" id="13"/>
          <p:cNvGrpSpPr/>
          <p:nvPr/>
        </p:nvGrpSpPr>
        <p:grpSpPr>
          <a:xfrm rot="0">
            <a:off x="0" y="6019800"/>
            <a:ext cx="673103" cy="4267200"/>
            <a:chOff x="0" y="0"/>
            <a:chExt cx="897471" cy="5689600"/>
          </a:xfrm>
        </p:grpSpPr>
        <p:sp>
          <p:nvSpPr>
            <p:cNvPr name="Freeform 14" id="14"/>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5" id="15"/>
          <p:cNvGrpSpPr/>
          <p:nvPr/>
        </p:nvGrpSpPr>
        <p:grpSpPr>
          <a:xfrm rot="0">
            <a:off x="1352779" y="1235452"/>
            <a:ext cx="14880637" cy="119355"/>
            <a:chOff x="0" y="0"/>
            <a:chExt cx="19840849" cy="159140"/>
          </a:xfrm>
        </p:grpSpPr>
        <p:sp>
          <p:nvSpPr>
            <p:cNvPr name="Freeform 16" id="16"/>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7" id="17"/>
          <p:cNvSpPr txBox="true"/>
          <p:nvPr/>
        </p:nvSpPr>
        <p:spPr>
          <a:xfrm rot="0">
            <a:off x="17476691" y="9467762"/>
            <a:ext cx="1524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5</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753451"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386396"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379737"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982984"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3" id="13"/>
          <p:cNvGrpSpPr/>
          <p:nvPr/>
        </p:nvGrpSpPr>
        <p:grpSpPr>
          <a:xfrm rot="0">
            <a:off x="1028700" y="1784365"/>
            <a:ext cx="16230600" cy="7840397"/>
            <a:chOff x="0" y="0"/>
            <a:chExt cx="4274726" cy="2064961"/>
          </a:xfrm>
        </p:grpSpPr>
        <p:sp>
          <p:nvSpPr>
            <p:cNvPr name="Freeform 14" id="14"/>
            <p:cNvSpPr/>
            <p:nvPr/>
          </p:nvSpPr>
          <p:spPr>
            <a:xfrm flipH="false" flipV="false" rot="0">
              <a:off x="0" y="0"/>
              <a:ext cx="4274726" cy="2064961"/>
            </a:xfrm>
            <a:custGeom>
              <a:avLst/>
              <a:gdLst/>
              <a:ahLst/>
              <a:cxnLst/>
              <a:rect r="r" b="b" t="t" l="l"/>
              <a:pathLst>
                <a:path h="2064961" w="4274726">
                  <a:moveTo>
                    <a:pt x="0" y="0"/>
                  </a:moveTo>
                  <a:lnTo>
                    <a:pt x="4274726" y="0"/>
                  </a:lnTo>
                  <a:lnTo>
                    <a:pt x="4274726" y="2064961"/>
                  </a:lnTo>
                  <a:lnTo>
                    <a:pt x="0" y="2064961"/>
                  </a:lnTo>
                  <a:close/>
                </a:path>
              </a:pathLst>
            </a:custGeom>
            <a:solidFill>
              <a:srgbClr val="FFFFFF"/>
            </a:solidFill>
          </p:spPr>
        </p:sp>
        <p:sp>
          <p:nvSpPr>
            <p:cNvPr name="TextBox 15" id="15"/>
            <p:cNvSpPr txBox="true"/>
            <p:nvPr/>
          </p:nvSpPr>
          <p:spPr>
            <a:xfrm>
              <a:off x="0" y="-38100"/>
              <a:ext cx="4274726" cy="2103061"/>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Object 16" id="16"/>
          <p:cNvGraphicFramePr/>
          <p:nvPr/>
        </p:nvGraphicFramePr>
        <p:xfrm>
          <a:off x="1028700" y="1784365"/>
          <a:ext cx="7586157" cy="4274588"/>
        </p:xfrm>
        <a:graphic>
          <a:graphicData uri="http://schemas.openxmlformats.org/presentationml/2006/ole">
            <p:oleObj imgW="9105900" imgH="579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pSp>
        <p:nvGrpSpPr>
          <p:cNvPr name="Group 17" id="17"/>
          <p:cNvGrpSpPr/>
          <p:nvPr/>
        </p:nvGrpSpPr>
        <p:grpSpPr>
          <a:xfrm rot="0">
            <a:off x="1352779" y="1235452"/>
            <a:ext cx="14880637" cy="119355"/>
            <a:chOff x="0" y="0"/>
            <a:chExt cx="19840849" cy="159140"/>
          </a:xfrm>
        </p:grpSpPr>
        <p:sp>
          <p:nvSpPr>
            <p:cNvPr name="Freeform 18" id="18"/>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9" id="19"/>
          <p:cNvSpPr txBox="true"/>
          <p:nvPr/>
        </p:nvSpPr>
        <p:spPr>
          <a:xfrm rot="0">
            <a:off x="6416948" y="297180"/>
            <a:ext cx="5454104"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LITERATURE SURVEY</a:t>
            </a:r>
          </a:p>
        </p:txBody>
      </p:sp>
      <p:sp>
        <p:nvSpPr>
          <p:cNvPr name="TextBox 20" id="20"/>
          <p:cNvSpPr txBox="true"/>
          <p:nvPr/>
        </p:nvSpPr>
        <p:spPr>
          <a:xfrm rot="0">
            <a:off x="17476691" y="9467762"/>
            <a:ext cx="1524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6</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6186622" y="5819196"/>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704013"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336958"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330299"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933546"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aphicFrame>
        <p:nvGraphicFramePr>
          <p:cNvPr name="Object 13" id="13"/>
          <p:cNvGraphicFramePr/>
          <p:nvPr/>
        </p:nvGraphicFramePr>
        <p:xfrm>
          <a:off x="889731" y="524098"/>
          <a:ext cx="16561339" cy="7962757"/>
        </p:xfrm>
        <a:graphic>
          <a:graphicData uri="http://schemas.openxmlformats.org/presentationml/2006/ole">
            <p:oleObj imgW="19862800" imgH="112776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14" id="14"/>
          <p:cNvSpPr txBox="true"/>
          <p:nvPr/>
        </p:nvSpPr>
        <p:spPr>
          <a:xfrm rot="0">
            <a:off x="17476691" y="9467762"/>
            <a:ext cx="1524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7</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905993"/>
            <a:ext cx="16084831" cy="7539990"/>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A</a:t>
            </a:r>
            <a:r>
              <a:rPr lang="en-US" sz="2400">
                <a:solidFill>
                  <a:srgbClr val="000000"/>
                </a:solidFill>
                <a:latin typeface="Times New Roman"/>
                <a:ea typeface="Times New Roman"/>
                <a:cs typeface="Times New Roman"/>
                <a:sym typeface="Times New Roman"/>
              </a:rPr>
              <a:t>ttestation frameworks overwhelmingly verify system state once, at boot or load time, and provide no mechanism to re-verify integrity continuously during execution.</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TEE-based isolation, while robust against software attacks, remains susceptible to side-channel and performance-counter-based attacks, undermining confidence in long-running secure execution.</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Remote attestation research has matured toward hardware-agnostic, cloud/edge-portable designs, but rarely incorporates a human decision point before a verified action is permitted to execute.</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AI agent security is addressed in only a small fraction of the reviewed literature, despite agents now operating with file-system, network, and command-execution privileges comparable to system administrators.</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No existing framework unifies TPM-rooted hardware trust, real-time policy enforcement, and mandatory human approval into a single control loop for AI agent actions.</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This convergence gap is hardware trust, behavioral policy, human authority which represents the core opportunity for the proposed work.</a:t>
            </a:r>
          </a:p>
          <a:p>
            <a:pPr algn="just">
              <a:lnSpc>
                <a:spcPts val="3359"/>
              </a:lnSpc>
            </a:pPr>
          </a:p>
        </p:txBody>
      </p:sp>
      <p:sp>
        <p:nvSpPr>
          <p:cNvPr name="TextBox 3" id="3"/>
          <p:cNvSpPr txBox="true"/>
          <p:nvPr/>
        </p:nvSpPr>
        <p:spPr>
          <a:xfrm rot="0">
            <a:off x="4825454" y="297180"/>
            <a:ext cx="8637091"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RESEARCH GAPS &amp; OPPORTUNITY</a:t>
            </a:r>
          </a:p>
        </p:txBody>
      </p:sp>
      <p:sp>
        <p:nvSpPr>
          <p:cNvPr name="AutoShape 4" id="4"/>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16753451" y="0"/>
            <a:ext cx="4511021" cy="10299697"/>
            <a:chOff x="0" y="0"/>
            <a:chExt cx="6014695" cy="13732929"/>
          </a:xfrm>
        </p:grpSpPr>
        <p:sp>
          <p:nvSpPr>
            <p:cNvPr name="Freeform 6" id="6"/>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7" id="7"/>
          <p:cNvGrpSpPr/>
          <p:nvPr/>
        </p:nvGrpSpPr>
        <p:grpSpPr>
          <a:xfrm rot="0">
            <a:off x="17386396" y="0"/>
            <a:ext cx="3882838" cy="10299697"/>
            <a:chOff x="0" y="0"/>
            <a:chExt cx="5177117" cy="13732929"/>
          </a:xfrm>
        </p:grpSpPr>
        <p:sp>
          <p:nvSpPr>
            <p:cNvPr name="Freeform 8" id="8"/>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9" id="9"/>
          <p:cNvGrpSpPr/>
          <p:nvPr/>
        </p:nvGrpSpPr>
        <p:grpSpPr>
          <a:xfrm rot="0">
            <a:off x="16379737" y="4584697"/>
            <a:ext cx="4889497" cy="5715000"/>
            <a:chOff x="0" y="0"/>
            <a:chExt cx="6519329" cy="7620000"/>
          </a:xfrm>
        </p:grpSpPr>
        <p:sp>
          <p:nvSpPr>
            <p:cNvPr name="Freeform 10" id="10"/>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1" id="11"/>
          <p:cNvGrpSpPr/>
          <p:nvPr/>
        </p:nvGrpSpPr>
        <p:grpSpPr>
          <a:xfrm rot="0">
            <a:off x="16982984" y="0"/>
            <a:ext cx="4281488" cy="10299697"/>
            <a:chOff x="0" y="0"/>
            <a:chExt cx="5708650" cy="13732929"/>
          </a:xfrm>
        </p:grpSpPr>
        <p:sp>
          <p:nvSpPr>
            <p:cNvPr name="Freeform 12" id="12"/>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3" id="13"/>
          <p:cNvGrpSpPr/>
          <p:nvPr/>
        </p:nvGrpSpPr>
        <p:grpSpPr>
          <a:xfrm rot="0">
            <a:off x="0" y="6019800"/>
            <a:ext cx="673103" cy="4267200"/>
            <a:chOff x="0" y="0"/>
            <a:chExt cx="897471" cy="5689600"/>
          </a:xfrm>
        </p:grpSpPr>
        <p:sp>
          <p:nvSpPr>
            <p:cNvPr name="Freeform 14" id="14"/>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5" id="15"/>
          <p:cNvGrpSpPr/>
          <p:nvPr/>
        </p:nvGrpSpPr>
        <p:grpSpPr>
          <a:xfrm rot="0">
            <a:off x="1352779" y="1235452"/>
            <a:ext cx="14880637" cy="119355"/>
            <a:chOff x="0" y="0"/>
            <a:chExt cx="19840849" cy="159140"/>
          </a:xfrm>
        </p:grpSpPr>
        <p:sp>
          <p:nvSpPr>
            <p:cNvPr name="Freeform 16" id="16"/>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7" id="17"/>
          <p:cNvSpPr txBox="true"/>
          <p:nvPr/>
        </p:nvSpPr>
        <p:spPr>
          <a:xfrm rot="0">
            <a:off x="17476691" y="9467762"/>
            <a:ext cx="1524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8</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283300" y="297180"/>
            <a:ext cx="5721400"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PROBLEM STATEMENT</a:t>
            </a:r>
          </a:p>
        </p:txBody>
      </p:sp>
      <p:sp>
        <p:nvSpPr>
          <p:cNvPr name="TextBox 3" id="3"/>
          <p:cNvSpPr txBox="true"/>
          <p:nvPr/>
        </p:nvSpPr>
        <p:spPr>
          <a:xfrm rot="0">
            <a:off x="1352779" y="3332146"/>
            <a:ext cx="15580767" cy="3348990"/>
          </a:xfrm>
          <a:prstGeom prst="rect">
            <a:avLst/>
          </a:prstGeom>
        </p:spPr>
        <p:txBody>
          <a:bodyPr anchor="t" rtlCol="false" tIns="0" lIns="0" bIns="0" rIns="0">
            <a:spAutoFit/>
          </a:bodyPr>
          <a:lstStyle/>
          <a:p>
            <a:pPr algn="just">
              <a:lnSpc>
                <a:spcPts val="3359"/>
              </a:lnSpc>
            </a:pPr>
            <a:r>
              <a:rPr lang="en-US" sz="2400">
                <a:solidFill>
                  <a:srgbClr val="000000"/>
                </a:solidFill>
                <a:latin typeface="Times New Roman"/>
                <a:ea typeface="Times New Roman"/>
                <a:cs typeface="Times New Roman"/>
                <a:sym typeface="Times New Roman"/>
              </a:rPr>
              <a:t>Modern </a:t>
            </a:r>
            <a:r>
              <a:rPr lang="en-US" sz="2400">
                <a:solidFill>
                  <a:srgbClr val="000000"/>
                </a:solidFill>
                <a:latin typeface="Times New Roman"/>
                <a:ea typeface="Times New Roman"/>
                <a:cs typeface="Times New Roman"/>
                <a:sym typeface="Times New Roman"/>
              </a:rPr>
              <a:t>AI agents operate with high-privilege access to perform file operations, network communication, and system-level command execution. However, no standardized mechanism exists to verify their integrity beyond initial deployment or to prevent unauthorized actions during runtime. Existing hardware-security research provides strong static trust guarantees through attestation but does not extend to continuous verification, leaving a critical gap in which a compromised, misconfigured, or misaligned agent can act without detection. This project addresses the absence of a runtime security control loop by proposing a framework that intercepts every agent action, validates system integrity through TPM-based attestation, evaluates each action against a defined security policy, and enforces explicit human approval—ensuring that an agent can neither bypass verification nor authorize its own actions.</a:t>
            </a:r>
          </a:p>
        </p:txBody>
      </p:sp>
      <p:sp>
        <p:nvSpPr>
          <p:cNvPr name="AutoShape 4" id="4"/>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16753451" y="0"/>
            <a:ext cx="4511021" cy="10299697"/>
            <a:chOff x="0" y="0"/>
            <a:chExt cx="6014695" cy="13732929"/>
          </a:xfrm>
        </p:grpSpPr>
        <p:sp>
          <p:nvSpPr>
            <p:cNvPr name="Freeform 6" id="6"/>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7" id="7"/>
          <p:cNvGrpSpPr/>
          <p:nvPr/>
        </p:nvGrpSpPr>
        <p:grpSpPr>
          <a:xfrm rot="0">
            <a:off x="17386396" y="0"/>
            <a:ext cx="3882838" cy="10299697"/>
            <a:chOff x="0" y="0"/>
            <a:chExt cx="5177117" cy="13732929"/>
          </a:xfrm>
        </p:grpSpPr>
        <p:sp>
          <p:nvSpPr>
            <p:cNvPr name="Freeform 8" id="8"/>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9" id="9"/>
          <p:cNvGrpSpPr/>
          <p:nvPr/>
        </p:nvGrpSpPr>
        <p:grpSpPr>
          <a:xfrm rot="0">
            <a:off x="16379737" y="4584697"/>
            <a:ext cx="4889497" cy="5715000"/>
            <a:chOff x="0" y="0"/>
            <a:chExt cx="6519329" cy="7620000"/>
          </a:xfrm>
        </p:grpSpPr>
        <p:sp>
          <p:nvSpPr>
            <p:cNvPr name="Freeform 10" id="10"/>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1" id="11"/>
          <p:cNvGrpSpPr/>
          <p:nvPr/>
        </p:nvGrpSpPr>
        <p:grpSpPr>
          <a:xfrm rot="0">
            <a:off x="16982984" y="0"/>
            <a:ext cx="4281488" cy="10299697"/>
            <a:chOff x="0" y="0"/>
            <a:chExt cx="5708650" cy="13732929"/>
          </a:xfrm>
        </p:grpSpPr>
        <p:sp>
          <p:nvSpPr>
            <p:cNvPr name="Freeform 12" id="12"/>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3" id="13"/>
          <p:cNvGrpSpPr/>
          <p:nvPr/>
        </p:nvGrpSpPr>
        <p:grpSpPr>
          <a:xfrm rot="0">
            <a:off x="0" y="6019800"/>
            <a:ext cx="673103" cy="4267200"/>
            <a:chOff x="0" y="0"/>
            <a:chExt cx="897471" cy="5689600"/>
          </a:xfrm>
        </p:grpSpPr>
        <p:sp>
          <p:nvSpPr>
            <p:cNvPr name="Freeform 14" id="14"/>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5" id="15"/>
          <p:cNvGrpSpPr/>
          <p:nvPr/>
        </p:nvGrpSpPr>
        <p:grpSpPr>
          <a:xfrm rot="0">
            <a:off x="1352779" y="1235452"/>
            <a:ext cx="14880637" cy="119355"/>
            <a:chOff x="0" y="0"/>
            <a:chExt cx="19840849" cy="159140"/>
          </a:xfrm>
        </p:grpSpPr>
        <p:sp>
          <p:nvSpPr>
            <p:cNvPr name="Freeform 16" id="16"/>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7" id="17"/>
          <p:cNvSpPr txBox="true"/>
          <p:nvPr/>
        </p:nvSpPr>
        <p:spPr>
          <a:xfrm rot="0">
            <a:off x="17476691" y="9467762"/>
            <a:ext cx="1524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9</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170042" y="297180"/>
            <a:ext cx="5947916"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PROPOSED NEXT STEPS</a:t>
            </a:r>
          </a:p>
        </p:txBody>
      </p:sp>
      <p:sp>
        <p:nvSpPr>
          <p:cNvPr name="TextBox 3" id="3"/>
          <p:cNvSpPr txBox="true"/>
          <p:nvPr/>
        </p:nvSpPr>
        <p:spPr>
          <a:xfrm rot="0">
            <a:off x="1028700" y="1696443"/>
            <a:ext cx="16230600" cy="7959090"/>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Translate survey findings int</a:t>
            </a:r>
            <a:r>
              <a:rPr lang="en-US" sz="2400">
                <a:solidFill>
                  <a:srgbClr val="000000"/>
                </a:solidFill>
                <a:latin typeface="Times New Roman"/>
                <a:ea typeface="Times New Roman"/>
                <a:cs typeface="Times New Roman"/>
                <a:sym typeface="Times New Roman"/>
              </a:rPr>
              <a:t>o a concrete system design that unifies hardware attestation, policy enforcement, and human-in-the-loop control.</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Adopt a three-component architecture: an isolated agent execution environment, a TPM-backed integrity verification module, and a policy engine that gates every action pending human confirmation.</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Build the system using containerized deployment (Docker Compose), TPM emulation for development and testing, local LLM inference for the agent, and a web-based dashboard for auditability.</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Structure the work in phases: literature consolidation and architecture finalization, module-by-module implementation, end-to-end integration, and controlled testing against simulated malicious and benign agent actions.</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Establish evaluation criteria covering attestation reliability, policy enforcement accuracy, approval-flow latency, and resistance to agent bypass attempts.</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Test with and without the TPM/approval layers to measure security gain vs. latency trade-off.</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Design the policy engine to support custom, organization-defined rule sets for broader deployment.</a:t>
            </a:r>
          </a:p>
          <a:p>
            <a:pPr algn="just">
              <a:lnSpc>
                <a:spcPts val="3359"/>
              </a:lnSpc>
            </a:pPr>
          </a:p>
        </p:txBody>
      </p:sp>
      <p:sp>
        <p:nvSpPr>
          <p:cNvPr name="AutoShape 4" id="4"/>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16753451" y="0"/>
            <a:ext cx="4511021" cy="10299697"/>
            <a:chOff x="0" y="0"/>
            <a:chExt cx="6014695" cy="13732929"/>
          </a:xfrm>
        </p:grpSpPr>
        <p:sp>
          <p:nvSpPr>
            <p:cNvPr name="Freeform 6" id="6"/>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7" id="7"/>
          <p:cNvGrpSpPr/>
          <p:nvPr/>
        </p:nvGrpSpPr>
        <p:grpSpPr>
          <a:xfrm rot="0">
            <a:off x="17386396" y="0"/>
            <a:ext cx="3882838" cy="10299697"/>
            <a:chOff x="0" y="0"/>
            <a:chExt cx="5177117" cy="13732929"/>
          </a:xfrm>
        </p:grpSpPr>
        <p:sp>
          <p:nvSpPr>
            <p:cNvPr name="Freeform 8" id="8"/>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9" id="9"/>
          <p:cNvGrpSpPr/>
          <p:nvPr/>
        </p:nvGrpSpPr>
        <p:grpSpPr>
          <a:xfrm rot="0">
            <a:off x="16379737" y="4584697"/>
            <a:ext cx="4889497" cy="5715000"/>
            <a:chOff x="0" y="0"/>
            <a:chExt cx="6519329" cy="7620000"/>
          </a:xfrm>
        </p:grpSpPr>
        <p:sp>
          <p:nvSpPr>
            <p:cNvPr name="Freeform 10" id="10"/>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1" id="11"/>
          <p:cNvGrpSpPr/>
          <p:nvPr/>
        </p:nvGrpSpPr>
        <p:grpSpPr>
          <a:xfrm rot="0">
            <a:off x="16982984" y="0"/>
            <a:ext cx="4281488" cy="10299697"/>
            <a:chOff x="0" y="0"/>
            <a:chExt cx="5708650" cy="13732929"/>
          </a:xfrm>
        </p:grpSpPr>
        <p:sp>
          <p:nvSpPr>
            <p:cNvPr name="Freeform 12" id="12"/>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3" id="13"/>
          <p:cNvGrpSpPr/>
          <p:nvPr/>
        </p:nvGrpSpPr>
        <p:grpSpPr>
          <a:xfrm rot="0">
            <a:off x="0" y="6019800"/>
            <a:ext cx="673103" cy="4267200"/>
            <a:chOff x="0" y="0"/>
            <a:chExt cx="897471" cy="5689600"/>
          </a:xfrm>
        </p:grpSpPr>
        <p:sp>
          <p:nvSpPr>
            <p:cNvPr name="Freeform 14" id="14"/>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5" id="15"/>
          <p:cNvGrpSpPr/>
          <p:nvPr/>
        </p:nvGrpSpPr>
        <p:grpSpPr>
          <a:xfrm rot="0">
            <a:off x="1352779" y="1235452"/>
            <a:ext cx="14880637" cy="119355"/>
            <a:chOff x="0" y="0"/>
            <a:chExt cx="19840849" cy="159140"/>
          </a:xfrm>
        </p:grpSpPr>
        <p:sp>
          <p:nvSpPr>
            <p:cNvPr name="Freeform 16" id="16"/>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7" id="17"/>
          <p:cNvSpPr txBox="true"/>
          <p:nvPr/>
        </p:nvSpPr>
        <p:spPr>
          <a:xfrm rot="0">
            <a:off x="17400491" y="9467762"/>
            <a:ext cx="3048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10</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639619" y="297180"/>
            <a:ext cx="7008763"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PROPOSED METHODOLOGY</a:t>
            </a:r>
          </a:p>
        </p:txBody>
      </p:sp>
      <p:sp>
        <p:nvSpPr>
          <p:cNvPr name="TextBox 3" id="3"/>
          <p:cNvSpPr txBox="true"/>
          <p:nvPr/>
        </p:nvSpPr>
        <p:spPr>
          <a:xfrm rot="0">
            <a:off x="1028700" y="1905993"/>
            <a:ext cx="16230600" cy="7539990"/>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Agent Execution </a:t>
            </a:r>
            <a:r>
              <a:rPr lang="en-US" sz="2400">
                <a:solidFill>
                  <a:srgbClr val="000000"/>
                </a:solidFill>
                <a:latin typeface="Times New Roman"/>
                <a:ea typeface="Times New Roman"/>
                <a:cs typeface="Times New Roman"/>
                <a:sym typeface="Times New Roman"/>
              </a:rPr>
              <a:t>Module (C1): Runs the AI agent in an isolated containerized environment with restricted default permissions. The agent can reason, plan, and generate actions, but has no direct execution rights on the host system every proposed action is captured at this boundary before it reaches the underlying OS.</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TPM Integrity Verification Module (C2): Uses TPM 2.0 primitives to attest the current state of the platform verifying boot integrity, container configuration, and runtime environment have not been tampered with since the last known-good state. This module generates a cryptographic proof of trust that accompanies every action request, ensuring the verification itself cannot be spoofed or bypassed by the agent.</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Policy &amp; Approval Engine (C3): Evaluates each intercepted action against a configurable rule set (e.g., blocked commands, sensitive file paths, network destinations, resource limits). Actions violating policy are auto-denied; actions within policy but above a defined risk threshold are escalated to a human operator via a desktop approval prompt, ensuring the agent cannot self-approve.</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Audit &amp; Dashboard Layer: A centralized logging and visualization component that records every proposed action, its policy evaluation result, TPM attestation status, and final human decision creating a complete, tamper-evident audit trail for post incident review and compliance reporting.</a:t>
            </a:r>
          </a:p>
          <a:p>
            <a:pPr algn="just">
              <a:lnSpc>
                <a:spcPts val="3359"/>
              </a:lnSpc>
            </a:pPr>
          </a:p>
        </p:txBody>
      </p:sp>
      <p:sp>
        <p:nvSpPr>
          <p:cNvPr name="AutoShape 4" id="4"/>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16753451" y="0"/>
            <a:ext cx="4511021" cy="10299697"/>
            <a:chOff x="0" y="0"/>
            <a:chExt cx="6014695" cy="13732929"/>
          </a:xfrm>
        </p:grpSpPr>
        <p:sp>
          <p:nvSpPr>
            <p:cNvPr name="Freeform 6" id="6"/>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7" id="7"/>
          <p:cNvGrpSpPr/>
          <p:nvPr/>
        </p:nvGrpSpPr>
        <p:grpSpPr>
          <a:xfrm rot="0">
            <a:off x="17386396" y="0"/>
            <a:ext cx="3882838" cy="10299697"/>
            <a:chOff x="0" y="0"/>
            <a:chExt cx="5177117" cy="13732929"/>
          </a:xfrm>
        </p:grpSpPr>
        <p:sp>
          <p:nvSpPr>
            <p:cNvPr name="Freeform 8" id="8"/>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9" id="9"/>
          <p:cNvGrpSpPr/>
          <p:nvPr/>
        </p:nvGrpSpPr>
        <p:grpSpPr>
          <a:xfrm rot="0">
            <a:off x="16379737" y="4584697"/>
            <a:ext cx="4889497" cy="5715000"/>
            <a:chOff x="0" y="0"/>
            <a:chExt cx="6519329" cy="7620000"/>
          </a:xfrm>
        </p:grpSpPr>
        <p:sp>
          <p:nvSpPr>
            <p:cNvPr name="Freeform 10" id="10"/>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1" id="11"/>
          <p:cNvGrpSpPr/>
          <p:nvPr/>
        </p:nvGrpSpPr>
        <p:grpSpPr>
          <a:xfrm rot="0">
            <a:off x="16982984" y="0"/>
            <a:ext cx="4281488" cy="10299697"/>
            <a:chOff x="0" y="0"/>
            <a:chExt cx="5708650" cy="13732929"/>
          </a:xfrm>
        </p:grpSpPr>
        <p:sp>
          <p:nvSpPr>
            <p:cNvPr name="Freeform 12" id="12"/>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3" id="13"/>
          <p:cNvGrpSpPr/>
          <p:nvPr/>
        </p:nvGrpSpPr>
        <p:grpSpPr>
          <a:xfrm rot="0">
            <a:off x="0" y="6019800"/>
            <a:ext cx="673103" cy="4267200"/>
            <a:chOff x="0" y="0"/>
            <a:chExt cx="897471" cy="5689600"/>
          </a:xfrm>
        </p:grpSpPr>
        <p:sp>
          <p:nvSpPr>
            <p:cNvPr name="Freeform 14" id="14"/>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5" id="15"/>
          <p:cNvGrpSpPr/>
          <p:nvPr/>
        </p:nvGrpSpPr>
        <p:grpSpPr>
          <a:xfrm rot="0">
            <a:off x="1352779" y="1235452"/>
            <a:ext cx="14880637" cy="119355"/>
            <a:chOff x="0" y="0"/>
            <a:chExt cx="19840849" cy="159140"/>
          </a:xfrm>
        </p:grpSpPr>
        <p:sp>
          <p:nvSpPr>
            <p:cNvPr name="Freeform 16" id="16"/>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7" id="17"/>
          <p:cNvSpPr txBox="true"/>
          <p:nvPr/>
        </p:nvSpPr>
        <p:spPr>
          <a:xfrm rot="0">
            <a:off x="17408885" y="9467762"/>
            <a:ext cx="288012"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11</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965552" y="297180"/>
            <a:ext cx="6356896"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SYSTEM REQUIREMENTS</a:t>
            </a:r>
          </a:p>
        </p:txBody>
      </p:sp>
      <p:sp>
        <p:nvSpPr>
          <p:cNvPr name="TextBox 3" id="3"/>
          <p:cNvSpPr txBox="true"/>
          <p:nvPr/>
        </p:nvSpPr>
        <p:spPr>
          <a:xfrm rot="0">
            <a:off x="1352779" y="1696443"/>
            <a:ext cx="7886827" cy="7959090"/>
          </a:xfrm>
          <a:prstGeom prst="rect">
            <a:avLst/>
          </a:prstGeom>
        </p:spPr>
        <p:txBody>
          <a:bodyPr anchor="t" rtlCol="false" tIns="0" lIns="0" bIns="0" rIns="0">
            <a:spAutoFit/>
          </a:bodyPr>
          <a:lstStyle/>
          <a:p>
            <a:pPr algn="l">
              <a:lnSpc>
                <a:spcPts val="3359"/>
              </a:lnSpc>
            </a:pPr>
            <a:r>
              <a:rPr lang="en-US" b="true" sz="2400">
                <a:solidFill>
                  <a:srgbClr val="000000"/>
                </a:solidFill>
                <a:latin typeface="Times New Roman Bold"/>
                <a:ea typeface="Times New Roman Bold"/>
                <a:cs typeface="Times New Roman Bold"/>
                <a:sym typeface="Times New Roman Bold"/>
              </a:rPr>
              <a:t>Hardware</a:t>
            </a:r>
            <a:r>
              <a:rPr lang="en-US" sz="2400">
                <a:solidFill>
                  <a:srgbClr val="000000"/>
                </a:solidFill>
                <a:latin typeface="Times New Roman"/>
                <a:ea typeface="Times New Roman"/>
                <a:cs typeface="Times New Roman"/>
                <a:sym typeface="Times New Roman"/>
              </a:rPr>
              <a:t>:</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Development Workstation: Lenovo LOQ 15IRX9</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CPU: Intel Core i7-14700HX </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GPU: NVIDIA GeForce RTX 4060 </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RAM: 16 GB</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Storage: 1 TB SSD </a:t>
            </a:r>
          </a:p>
          <a:p>
            <a:pPr algn="l">
              <a:lnSpc>
                <a:spcPts val="3359"/>
              </a:lnSpc>
            </a:pPr>
          </a:p>
          <a:p>
            <a:pPr algn="l">
              <a:lnSpc>
                <a:spcPts val="3359"/>
              </a:lnSpc>
            </a:pPr>
            <a:r>
              <a:rPr lang="en-US" b="true" sz="2400">
                <a:solidFill>
                  <a:srgbClr val="000000"/>
                </a:solidFill>
                <a:latin typeface="Times New Roman Bold"/>
                <a:ea typeface="Times New Roman Bold"/>
                <a:cs typeface="Times New Roman Bold"/>
                <a:sym typeface="Times New Roman Bold"/>
              </a:rPr>
              <a:t>Software</a:t>
            </a:r>
            <a:r>
              <a:rPr lang="en-US" sz="2400">
                <a:solidFill>
                  <a:srgbClr val="000000"/>
                </a:solidFill>
                <a:latin typeface="Times New Roman"/>
                <a:ea typeface="Times New Roman"/>
                <a:cs typeface="Times New Roman"/>
                <a:sym typeface="Times New Roman"/>
              </a:rPr>
              <a:t>:</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OS: Arch Linux</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Window Manager: Hyprland (Wayland)</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Containerization: Docker Engine + Docker Compose</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TPM Emulation: swtpm-arch-docker (SurendraS26).</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AI Runtime: Ollama (Mistral 7B).</a:t>
            </a:r>
          </a:p>
          <a:p>
            <a:pPr algn="l">
              <a:lnSpc>
                <a:spcPts val="3359"/>
              </a:lnSpc>
            </a:pPr>
          </a:p>
          <a:p>
            <a:pPr algn="l">
              <a:lnSpc>
                <a:spcPts val="3359"/>
              </a:lnSpc>
            </a:pPr>
            <a:r>
              <a:rPr lang="en-US" b="true" sz="2400">
                <a:solidFill>
                  <a:srgbClr val="000000"/>
                </a:solidFill>
                <a:latin typeface="Times New Roman Bold"/>
                <a:ea typeface="Times New Roman Bold"/>
                <a:cs typeface="Times New Roman Bold"/>
                <a:sym typeface="Times New Roman Bold"/>
              </a:rPr>
              <a:t>Languages</a:t>
            </a:r>
            <a:r>
              <a:rPr lang="en-US" sz="2400">
                <a:solidFill>
                  <a:srgbClr val="000000"/>
                </a:solidFill>
                <a:latin typeface="Times New Roman"/>
                <a:ea typeface="Times New Roman"/>
                <a:cs typeface="Times New Roman"/>
                <a:sym typeface="Times New Roman"/>
              </a:rPr>
              <a:t>: </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Python, Shell (Bash), Dockerfile, YAML.</a:t>
            </a:r>
          </a:p>
          <a:p>
            <a:pPr algn="l">
              <a:lnSpc>
                <a:spcPts val="3359"/>
              </a:lnSpc>
            </a:pPr>
          </a:p>
          <a:p>
            <a:pPr algn="l">
              <a:lnSpc>
                <a:spcPts val="3359"/>
              </a:lnSpc>
            </a:pPr>
            <a:r>
              <a:rPr lang="en-US" b="true" sz="2400">
                <a:solidFill>
                  <a:srgbClr val="000000"/>
                </a:solidFill>
                <a:latin typeface="Times New Roman Bold"/>
                <a:ea typeface="Times New Roman Bold"/>
                <a:cs typeface="Times New Roman Bold"/>
                <a:sym typeface="Times New Roman Bold"/>
              </a:rPr>
              <a:t>Tools</a:t>
            </a:r>
            <a:r>
              <a:rPr lang="en-US" sz="2400">
                <a:solidFill>
                  <a:srgbClr val="000000"/>
                </a:solidFill>
                <a:latin typeface="Times New Roman"/>
                <a:ea typeface="Times New Roman"/>
                <a:cs typeface="Times New Roman"/>
                <a:sym typeface="Times New Roman"/>
              </a:rPr>
              <a:t>:</a:t>
            </a:r>
          </a:p>
          <a:p>
            <a:pPr algn="l"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Git, GitHub, tpm2-tools, Zenity (GUI prompts).</a:t>
            </a:r>
          </a:p>
        </p:txBody>
      </p:sp>
      <p:sp>
        <p:nvSpPr>
          <p:cNvPr name="AutoShape 4" id="4"/>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16753451" y="0"/>
            <a:ext cx="4511021" cy="10299697"/>
            <a:chOff x="0" y="0"/>
            <a:chExt cx="6014695" cy="13732929"/>
          </a:xfrm>
        </p:grpSpPr>
        <p:sp>
          <p:nvSpPr>
            <p:cNvPr name="Freeform 6" id="6"/>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7" id="7"/>
          <p:cNvGrpSpPr/>
          <p:nvPr/>
        </p:nvGrpSpPr>
        <p:grpSpPr>
          <a:xfrm rot="0">
            <a:off x="17386396" y="0"/>
            <a:ext cx="3882838" cy="10299697"/>
            <a:chOff x="0" y="0"/>
            <a:chExt cx="5177117" cy="13732929"/>
          </a:xfrm>
        </p:grpSpPr>
        <p:sp>
          <p:nvSpPr>
            <p:cNvPr name="Freeform 8" id="8"/>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9" id="9"/>
          <p:cNvGrpSpPr/>
          <p:nvPr/>
        </p:nvGrpSpPr>
        <p:grpSpPr>
          <a:xfrm rot="0">
            <a:off x="16379737" y="4584697"/>
            <a:ext cx="4889497" cy="5715000"/>
            <a:chOff x="0" y="0"/>
            <a:chExt cx="6519329" cy="7620000"/>
          </a:xfrm>
        </p:grpSpPr>
        <p:sp>
          <p:nvSpPr>
            <p:cNvPr name="Freeform 10" id="10"/>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1" id="11"/>
          <p:cNvGrpSpPr/>
          <p:nvPr/>
        </p:nvGrpSpPr>
        <p:grpSpPr>
          <a:xfrm rot="0">
            <a:off x="16982984" y="0"/>
            <a:ext cx="4281488" cy="10299697"/>
            <a:chOff x="0" y="0"/>
            <a:chExt cx="5708650" cy="13732929"/>
          </a:xfrm>
        </p:grpSpPr>
        <p:sp>
          <p:nvSpPr>
            <p:cNvPr name="Freeform 12" id="12"/>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3" id="13"/>
          <p:cNvGrpSpPr/>
          <p:nvPr/>
        </p:nvGrpSpPr>
        <p:grpSpPr>
          <a:xfrm rot="0">
            <a:off x="0" y="6019800"/>
            <a:ext cx="673103" cy="4267200"/>
            <a:chOff x="0" y="0"/>
            <a:chExt cx="897471" cy="5689600"/>
          </a:xfrm>
        </p:grpSpPr>
        <p:sp>
          <p:nvSpPr>
            <p:cNvPr name="Freeform 14" id="14"/>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5" id="15"/>
          <p:cNvGrpSpPr/>
          <p:nvPr/>
        </p:nvGrpSpPr>
        <p:grpSpPr>
          <a:xfrm rot="0">
            <a:off x="1352779" y="1235452"/>
            <a:ext cx="14880637" cy="119355"/>
            <a:chOff x="0" y="0"/>
            <a:chExt cx="19840849" cy="159140"/>
          </a:xfrm>
        </p:grpSpPr>
        <p:sp>
          <p:nvSpPr>
            <p:cNvPr name="Freeform 16" id="16"/>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7" id="17"/>
          <p:cNvSpPr txBox="true"/>
          <p:nvPr/>
        </p:nvSpPr>
        <p:spPr>
          <a:xfrm rot="0">
            <a:off x="17400491" y="9467762"/>
            <a:ext cx="3048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12</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753451"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386396"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379737"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982984"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3" id="13"/>
          <p:cNvGrpSpPr/>
          <p:nvPr/>
        </p:nvGrpSpPr>
        <p:grpSpPr>
          <a:xfrm rot="0">
            <a:off x="1352779" y="1235452"/>
            <a:ext cx="14880637" cy="119355"/>
            <a:chOff x="0" y="0"/>
            <a:chExt cx="19840849" cy="159140"/>
          </a:xfrm>
        </p:grpSpPr>
        <p:sp>
          <p:nvSpPr>
            <p:cNvPr name="Freeform 14" id="14"/>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grpSp>
        <p:nvGrpSpPr>
          <p:cNvPr name="Group 15" id="15"/>
          <p:cNvGrpSpPr/>
          <p:nvPr/>
        </p:nvGrpSpPr>
        <p:grpSpPr>
          <a:xfrm rot="0">
            <a:off x="2842039" y="2499341"/>
            <a:ext cx="1835009" cy="841496"/>
            <a:chOff x="0" y="0"/>
            <a:chExt cx="483295" cy="221629"/>
          </a:xfrm>
        </p:grpSpPr>
        <p:sp>
          <p:nvSpPr>
            <p:cNvPr name="Freeform 16" id="16"/>
            <p:cNvSpPr/>
            <p:nvPr/>
          </p:nvSpPr>
          <p:spPr>
            <a:xfrm flipH="false" flipV="false" rot="0">
              <a:off x="0" y="0"/>
              <a:ext cx="483295" cy="221629"/>
            </a:xfrm>
            <a:custGeom>
              <a:avLst/>
              <a:gdLst/>
              <a:ahLst/>
              <a:cxnLst/>
              <a:rect r="r" b="b" t="t" l="l"/>
              <a:pathLst>
                <a:path h="221629" w="483295">
                  <a:moveTo>
                    <a:pt x="0" y="0"/>
                  </a:moveTo>
                  <a:lnTo>
                    <a:pt x="483295" y="0"/>
                  </a:lnTo>
                  <a:lnTo>
                    <a:pt x="483295" y="221629"/>
                  </a:lnTo>
                  <a:lnTo>
                    <a:pt x="0" y="221629"/>
                  </a:lnTo>
                  <a:close/>
                </a:path>
              </a:pathLst>
            </a:custGeom>
            <a:solidFill>
              <a:srgbClr val="2E5C8A"/>
            </a:solidFill>
            <a:ln cap="sq">
              <a:noFill/>
              <a:prstDash val="solid"/>
              <a:miter/>
            </a:ln>
          </p:spPr>
        </p:sp>
        <p:sp>
          <p:nvSpPr>
            <p:cNvPr name="TextBox 17" id="17"/>
            <p:cNvSpPr txBox="true"/>
            <p:nvPr/>
          </p:nvSpPr>
          <p:spPr>
            <a:xfrm>
              <a:off x="0" y="-57150"/>
              <a:ext cx="483295" cy="278779"/>
            </a:xfrm>
            <a:prstGeom prst="rect">
              <a:avLst/>
            </a:prstGeom>
          </p:spPr>
          <p:txBody>
            <a:bodyPr anchor="ctr" rtlCol="false" tIns="50800" lIns="50800" bIns="50800" rIns="50800"/>
            <a:lstStyle/>
            <a:p>
              <a:pPr algn="ctr">
                <a:lnSpc>
                  <a:spcPts val="2659"/>
                </a:lnSpc>
              </a:pPr>
              <a:r>
                <a:rPr lang="en-US" sz="1899">
                  <a:solidFill>
                    <a:srgbClr val="FFFFFF"/>
                  </a:solidFill>
                  <a:latin typeface="Times New Roman"/>
                  <a:ea typeface="Times New Roman"/>
                  <a:cs typeface="Times New Roman"/>
                  <a:sym typeface="Times New Roman"/>
                </a:rPr>
                <a:t>AI Agent</a:t>
              </a:r>
            </a:p>
          </p:txBody>
        </p:sp>
      </p:grpSp>
      <p:sp>
        <p:nvSpPr>
          <p:cNvPr name="TextBox 18" id="18"/>
          <p:cNvSpPr txBox="true"/>
          <p:nvPr/>
        </p:nvSpPr>
        <p:spPr>
          <a:xfrm rot="0">
            <a:off x="6310536" y="297180"/>
            <a:ext cx="5666929"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DATA FLOW DIAGRAM</a:t>
            </a:r>
          </a:p>
        </p:txBody>
      </p:sp>
      <p:grpSp>
        <p:nvGrpSpPr>
          <p:cNvPr name="Group 19" id="19"/>
          <p:cNvGrpSpPr/>
          <p:nvPr/>
        </p:nvGrpSpPr>
        <p:grpSpPr>
          <a:xfrm rot="0">
            <a:off x="5700529" y="2499341"/>
            <a:ext cx="1835009" cy="841496"/>
            <a:chOff x="0" y="0"/>
            <a:chExt cx="483295" cy="221629"/>
          </a:xfrm>
        </p:grpSpPr>
        <p:sp>
          <p:nvSpPr>
            <p:cNvPr name="Freeform 20" id="20"/>
            <p:cNvSpPr/>
            <p:nvPr/>
          </p:nvSpPr>
          <p:spPr>
            <a:xfrm flipH="false" flipV="false" rot="0">
              <a:off x="0" y="0"/>
              <a:ext cx="483295" cy="221629"/>
            </a:xfrm>
            <a:custGeom>
              <a:avLst/>
              <a:gdLst/>
              <a:ahLst/>
              <a:cxnLst/>
              <a:rect r="r" b="b" t="t" l="l"/>
              <a:pathLst>
                <a:path h="221629" w="483295">
                  <a:moveTo>
                    <a:pt x="0" y="0"/>
                  </a:moveTo>
                  <a:lnTo>
                    <a:pt x="483295" y="0"/>
                  </a:lnTo>
                  <a:lnTo>
                    <a:pt x="483295" y="221629"/>
                  </a:lnTo>
                  <a:lnTo>
                    <a:pt x="0" y="221629"/>
                  </a:lnTo>
                  <a:close/>
                </a:path>
              </a:pathLst>
            </a:custGeom>
            <a:solidFill>
              <a:srgbClr val="4A4A4A"/>
            </a:solidFill>
          </p:spPr>
        </p:sp>
        <p:sp>
          <p:nvSpPr>
            <p:cNvPr name="TextBox 21" id="21"/>
            <p:cNvSpPr txBox="true"/>
            <p:nvPr/>
          </p:nvSpPr>
          <p:spPr>
            <a:xfrm>
              <a:off x="0" y="-57150"/>
              <a:ext cx="483295" cy="278779"/>
            </a:xfrm>
            <a:prstGeom prst="rect">
              <a:avLst/>
            </a:prstGeom>
          </p:spPr>
          <p:txBody>
            <a:bodyPr anchor="ctr" rtlCol="false" tIns="50800" lIns="50800" bIns="50800" rIns="50800"/>
            <a:lstStyle/>
            <a:p>
              <a:pPr algn="ctr">
                <a:lnSpc>
                  <a:spcPts val="2659"/>
                </a:lnSpc>
              </a:pPr>
              <a:r>
                <a:rPr lang="en-US" sz="1899">
                  <a:solidFill>
                    <a:srgbClr val="FFFFFF"/>
                  </a:solidFill>
                  <a:latin typeface="Times New Roman"/>
                  <a:ea typeface="Times New Roman"/>
                  <a:cs typeface="Times New Roman"/>
                  <a:sym typeface="Times New Roman"/>
                </a:rPr>
                <a:t>Interceptor</a:t>
              </a:r>
            </a:p>
          </p:txBody>
        </p:sp>
      </p:grpSp>
      <p:grpSp>
        <p:nvGrpSpPr>
          <p:cNvPr name="Group 22" id="22"/>
          <p:cNvGrpSpPr/>
          <p:nvPr/>
        </p:nvGrpSpPr>
        <p:grpSpPr>
          <a:xfrm rot="0">
            <a:off x="8429714" y="2499341"/>
            <a:ext cx="1835009" cy="841496"/>
            <a:chOff x="0" y="0"/>
            <a:chExt cx="483295" cy="221629"/>
          </a:xfrm>
        </p:grpSpPr>
        <p:sp>
          <p:nvSpPr>
            <p:cNvPr name="Freeform 23" id="23"/>
            <p:cNvSpPr/>
            <p:nvPr/>
          </p:nvSpPr>
          <p:spPr>
            <a:xfrm flipH="false" flipV="false" rot="0">
              <a:off x="0" y="0"/>
              <a:ext cx="483295" cy="221629"/>
            </a:xfrm>
            <a:custGeom>
              <a:avLst/>
              <a:gdLst/>
              <a:ahLst/>
              <a:cxnLst/>
              <a:rect r="r" b="b" t="t" l="l"/>
              <a:pathLst>
                <a:path h="221629" w="483295">
                  <a:moveTo>
                    <a:pt x="0" y="0"/>
                  </a:moveTo>
                  <a:lnTo>
                    <a:pt x="483295" y="0"/>
                  </a:lnTo>
                  <a:lnTo>
                    <a:pt x="483295" y="221629"/>
                  </a:lnTo>
                  <a:lnTo>
                    <a:pt x="0" y="221629"/>
                  </a:lnTo>
                  <a:close/>
                </a:path>
              </a:pathLst>
            </a:custGeom>
            <a:solidFill>
              <a:srgbClr val="1E7A72"/>
            </a:solidFill>
          </p:spPr>
        </p:sp>
        <p:sp>
          <p:nvSpPr>
            <p:cNvPr name="TextBox 24" id="24"/>
            <p:cNvSpPr txBox="true"/>
            <p:nvPr/>
          </p:nvSpPr>
          <p:spPr>
            <a:xfrm>
              <a:off x="0" y="-57150"/>
              <a:ext cx="483295" cy="278779"/>
            </a:xfrm>
            <a:prstGeom prst="rect">
              <a:avLst/>
            </a:prstGeom>
          </p:spPr>
          <p:txBody>
            <a:bodyPr anchor="ctr" rtlCol="false" tIns="50800" lIns="50800" bIns="50800" rIns="50800"/>
            <a:lstStyle/>
            <a:p>
              <a:pPr algn="ctr">
                <a:lnSpc>
                  <a:spcPts val="2659"/>
                </a:lnSpc>
              </a:pPr>
              <a:r>
                <a:rPr lang="en-US" sz="1899">
                  <a:solidFill>
                    <a:srgbClr val="FFFFFF"/>
                  </a:solidFill>
                  <a:latin typeface="Times New Roman"/>
                  <a:ea typeface="Times New Roman"/>
                  <a:cs typeface="Times New Roman"/>
                  <a:sym typeface="Times New Roman"/>
                </a:rPr>
                <a:t>Policy Engine</a:t>
              </a:r>
            </a:p>
          </p:txBody>
        </p:sp>
      </p:grpSp>
      <p:grpSp>
        <p:nvGrpSpPr>
          <p:cNvPr name="Group 25" id="25"/>
          <p:cNvGrpSpPr/>
          <p:nvPr/>
        </p:nvGrpSpPr>
        <p:grpSpPr>
          <a:xfrm rot="0">
            <a:off x="1172211" y="6458113"/>
            <a:ext cx="1835009" cy="841496"/>
            <a:chOff x="0" y="0"/>
            <a:chExt cx="483295" cy="221629"/>
          </a:xfrm>
        </p:grpSpPr>
        <p:sp>
          <p:nvSpPr>
            <p:cNvPr name="Freeform 26" id="26"/>
            <p:cNvSpPr/>
            <p:nvPr/>
          </p:nvSpPr>
          <p:spPr>
            <a:xfrm flipH="false" flipV="false" rot="0">
              <a:off x="0" y="0"/>
              <a:ext cx="483295" cy="221629"/>
            </a:xfrm>
            <a:custGeom>
              <a:avLst/>
              <a:gdLst/>
              <a:ahLst/>
              <a:cxnLst/>
              <a:rect r="r" b="b" t="t" l="l"/>
              <a:pathLst>
                <a:path h="221629" w="483295">
                  <a:moveTo>
                    <a:pt x="0" y="0"/>
                  </a:moveTo>
                  <a:lnTo>
                    <a:pt x="483295" y="0"/>
                  </a:lnTo>
                  <a:lnTo>
                    <a:pt x="483295" y="221629"/>
                  </a:lnTo>
                  <a:lnTo>
                    <a:pt x="0" y="221629"/>
                  </a:lnTo>
                  <a:close/>
                </a:path>
              </a:pathLst>
            </a:custGeom>
            <a:solidFill>
              <a:srgbClr val="2E5C8A"/>
            </a:solidFill>
          </p:spPr>
        </p:sp>
        <p:sp>
          <p:nvSpPr>
            <p:cNvPr name="TextBox 27" id="27"/>
            <p:cNvSpPr txBox="true"/>
            <p:nvPr/>
          </p:nvSpPr>
          <p:spPr>
            <a:xfrm>
              <a:off x="0" y="-57150"/>
              <a:ext cx="483295" cy="278779"/>
            </a:xfrm>
            <a:prstGeom prst="rect">
              <a:avLst/>
            </a:prstGeom>
          </p:spPr>
          <p:txBody>
            <a:bodyPr anchor="ctr" rtlCol="false" tIns="50800" lIns="50800" bIns="50800" rIns="50800"/>
            <a:lstStyle/>
            <a:p>
              <a:pPr algn="ctr">
                <a:lnSpc>
                  <a:spcPts val="2659"/>
                </a:lnSpc>
              </a:pPr>
              <a:r>
                <a:rPr lang="en-US" sz="1899">
                  <a:solidFill>
                    <a:srgbClr val="FFFFFF"/>
                  </a:solidFill>
                  <a:latin typeface="Times New Roman"/>
                  <a:ea typeface="Times New Roman"/>
                  <a:cs typeface="Times New Roman"/>
                  <a:sym typeface="Times New Roman"/>
                </a:rPr>
                <a:t>Execute</a:t>
              </a:r>
            </a:p>
          </p:txBody>
        </p:sp>
      </p:grpSp>
      <p:grpSp>
        <p:nvGrpSpPr>
          <p:cNvPr name="Group 28" id="28"/>
          <p:cNvGrpSpPr/>
          <p:nvPr/>
        </p:nvGrpSpPr>
        <p:grpSpPr>
          <a:xfrm rot="0">
            <a:off x="11683949" y="3230032"/>
            <a:ext cx="1835009" cy="841496"/>
            <a:chOff x="0" y="0"/>
            <a:chExt cx="483295" cy="221629"/>
          </a:xfrm>
        </p:grpSpPr>
        <p:sp>
          <p:nvSpPr>
            <p:cNvPr name="Freeform 29" id="29"/>
            <p:cNvSpPr/>
            <p:nvPr/>
          </p:nvSpPr>
          <p:spPr>
            <a:xfrm flipH="false" flipV="false" rot="0">
              <a:off x="0" y="0"/>
              <a:ext cx="483295" cy="221629"/>
            </a:xfrm>
            <a:custGeom>
              <a:avLst/>
              <a:gdLst/>
              <a:ahLst/>
              <a:cxnLst/>
              <a:rect r="r" b="b" t="t" l="l"/>
              <a:pathLst>
                <a:path h="221629" w="483295">
                  <a:moveTo>
                    <a:pt x="0" y="0"/>
                  </a:moveTo>
                  <a:lnTo>
                    <a:pt x="483295" y="0"/>
                  </a:lnTo>
                  <a:lnTo>
                    <a:pt x="483295" y="221629"/>
                  </a:lnTo>
                  <a:lnTo>
                    <a:pt x="0" y="221629"/>
                  </a:lnTo>
                  <a:close/>
                </a:path>
              </a:pathLst>
            </a:custGeom>
            <a:solidFill>
              <a:srgbClr val="1E7A72"/>
            </a:solidFill>
          </p:spPr>
        </p:sp>
        <p:sp>
          <p:nvSpPr>
            <p:cNvPr name="TextBox 30" id="30"/>
            <p:cNvSpPr txBox="true"/>
            <p:nvPr/>
          </p:nvSpPr>
          <p:spPr>
            <a:xfrm>
              <a:off x="0" y="-57150"/>
              <a:ext cx="483295" cy="278779"/>
            </a:xfrm>
            <a:prstGeom prst="rect">
              <a:avLst/>
            </a:prstGeom>
          </p:spPr>
          <p:txBody>
            <a:bodyPr anchor="ctr" rtlCol="false" tIns="50800" lIns="50800" bIns="50800" rIns="50800"/>
            <a:lstStyle/>
            <a:p>
              <a:pPr algn="ctr">
                <a:lnSpc>
                  <a:spcPts val="2659"/>
                </a:lnSpc>
              </a:pPr>
              <a:r>
                <a:rPr lang="en-US" sz="1899">
                  <a:solidFill>
                    <a:srgbClr val="FFFFFF"/>
                  </a:solidFill>
                  <a:latin typeface="Times New Roman"/>
                  <a:ea typeface="Times New Roman"/>
                  <a:cs typeface="Times New Roman"/>
                  <a:sym typeface="Times New Roman"/>
                </a:rPr>
                <a:t>Check files</a:t>
              </a:r>
            </a:p>
          </p:txBody>
        </p:sp>
      </p:grpSp>
      <p:grpSp>
        <p:nvGrpSpPr>
          <p:cNvPr name="Group 31" id="31"/>
          <p:cNvGrpSpPr/>
          <p:nvPr/>
        </p:nvGrpSpPr>
        <p:grpSpPr>
          <a:xfrm rot="0">
            <a:off x="11683949" y="4769148"/>
            <a:ext cx="1835009" cy="841496"/>
            <a:chOff x="0" y="0"/>
            <a:chExt cx="483295" cy="221629"/>
          </a:xfrm>
        </p:grpSpPr>
        <p:sp>
          <p:nvSpPr>
            <p:cNvPr name="Freeform 32" id="32"/>
            <p:cNvSpPr/>
            <p:nvPr/>
          </p:nvSpPr>
          <p:spPr>
            <a:xfrm flipH="false" flipV="false" rot="0">
              <a:off x="0" y="0"/>
              <a:ext cx="483295" cy="221629"/>
            </a:xfrm>
            <a:custGeom>
              <a:avLst/>
              <a:gdLst/>
              <a:ahLst/>
              <a:cxnLst/>
              <a:rect r="r" b="b" t="t" l="l"/>
              <a:pathLst>
                <a:path h="221629" w="483295">
                  <a:moveTo>
                    <a:pt x="0" y="0"/>
                  </a:moveTo>
                  <a:lnTo>
                    <a:pt x="483295" y="0"/>
                  </a:lnTo>
                  <a:lnTo>
                    <a:pt x="483295" y="221629"/>
                  </a:lnTo>
                  <a:lnTo>
                    <a:pt x="0" y="221629"/>
                  </a:lnTo>
                  <a:close/>
                </a:path>
              </a:pathLst>
            </a:custGeom>
            <a:solidFill>
              <a:srgbClr val="5B3E8A"/>
            </a:solidFill>
          </p:spPr>
        </p:sp>
        <p:sp>
          <p:nvSpPr>
            <p:cNvPr name="TextBox 33" id="33"/>
            <p:cNvSpPr txBox="true"/>
            <p:nvPr/>
          </p:nvSpPr>
          <p:spPr>
            <a:xfrm>
              <a:off x="0" y="-57150"/>
              <a:ext cx="483295" cy="278779"/>
            </a:xfrm>
            <a:prstGeom prst="rect">
              <a:avLst/>
            </a:prstGeom>
          </p:spPr>
          <p:txBody>
            <a:bodyPr anchor="ctr" rtlCol="false" tIns="50800" lIns="50800" bIns="50800" rIns="50800"/>
            <a:lstStyle/>
            <a:p>
              <a:pPr algn="ctr">
                <a:lnSpc>
                  <a:spcPts val="2659"/>
                </a:lnSpc>
              </a:pPr>
              <a:r>
                <a:rPr lang="en-US" sz="1899">
                  <a:solidFill>
                    <a:srgbClr val="FFFFFF"/>
                  </a:solidFill>
                  <a:latin typeface="Times New Roman"/>
                  <a:ea typeface="Times New Roman"/>
                  <a:cs typeface="Times New Roman"/>
                  <a:sym typeface="Times New Roman"/>
                </a:rPr>
                <a:t>TPM check</a:t>
              </a:r>
            </a:p>
          </p:txBody>
        </p:sp>
      </p:grpSp>
      <p:grpSp>
        <p:nvGrpSpPr>
          <p:cNvPr name="Group 34" id="34"/>
          <p:cNvGrpSpPr/>
          <p:nvPr/>
        </p:nvGrpSpPr>
        <p:grpSpPr>
          <a:xfrm rot="0">
            <a:off x="11683949" y="6567931"/>
            <a:ext cx="1835009" cy="841496"/>
            <a:chOff x="0" y="0"/>
            <a:chExt cx="483295" cy="221629"/>
          </a:xfrm>
        </p:grpSpPr>
        <p:sp>
          <p:nvSpPr>
            <p:cNvPr name="Freeform 35" id="35"/>
            <p:cNvSpPr/>
            <p:nvPr/>
          </p:nvSpPr>
          <p:spPr>
            <a:xfrm flipH="false" flipV="false" rot="0">
              <a:off x="0" y="0"/>
              <a:ext cx="483295" cy="221629"/>
            </a:xfrm>
            <a:custGeom>
              <a:avLst/>
              <a:gdLst/>
              <a:ahLst/>
              <a:cxnLst/>
              <a:rect r="r" b="b" t="t" l="l"/>
              <a:pathLst>
                <a:path h="221629" w="483295">
                  <a:moveTo>
                    <a:pt x="0" y="0"/>
                  </a:moveTo>
                  <a:lnTo>
                    <a:pt x="483295" y="0"/>
                  </a:lnTo>
                  <a:lnTo>
                    <a:pt x="483295" y="221629"/>
                  </a:lnTo>
                  <a:lnTo>
                    <a:pt x="0" y="221629"/>
                  </a:lnTo>
                  <a:close/>
                </a:path>
              </a:pathLst>
            </a:custGeom>
            <a:solidFill>
              <a:srgbClr val="A67C00"/>
            </a:solidFill>
          </p:spPr>
        </p:sp>
        <p:sp>
          <p:nvSpPr>
            <p:cNvPr name="TextBox 36" id="36"/>
            <p:cNvSpPr txBox="true"/>
            <p:nvPr/>
          </p:nvSpPr>
          <p:spPr>
            <a:xfrm>
              <a:off x="0" y="-57150"/>
              <a:ext cx="483295" cy="278779"/>
            </a:xfrm>
            <a:prstGeom prst="rect">
              <a:avLst/>
            </a:prstGeom>
          </p:spPr>
          <p:txBody>
            <a:bodyPr anchor="ctr" rtlCol="false" tIns="50800" lIns="50800" bIns="50800" rIns="50800"/>
            <a:lstStyle/>
            <a:p>
              <a:pPr algn="ctr">
                <a:lnSpc>
                  <a:spcPts val="2659"/>
                </a:lnSpc>
              </a:pPr>
              <a:r>
                <a:rPr lang="en-US" sz="1899">
                  <a:solidFill>
                    <a:srgbClr val="FFFFFF"/>
                  </a:solidFill>
                  <a:latin typeface="Times New Roman"/>
                  <a:ea typeface="Times New Roman"/>
                  <a:cs typeface="Times New Roman"/>
                  <a:sym typeface="Times New Roman"/>
                </a:rPr>
                <a:t>Ask Human</a:t>
              </a:r>
            </a:p>
          </p:txBody>
        </p:sp>
      </p:grpSp>
      <p:grpSp>
        <p:nvGrpSpPr>
          <p:cNvPr name="Group 37" id="37"/>
          <p:cNvGrpSpPr/>
          <p:nvPr/>
        </p:nvGrpSpPr>
        <p:grpSpPr>
          <a:xfrm rot="0">
            <a:off x="8429714" y="6567931"/>
            <a:ext cx="1835009" cy="841496"/>
            <a:chOff x="0" y="0"/>
            <a:chExt cx="483295" cy="221629"/>
          </a:xfrm>
        </p:grpSpPr>
        <p:sp>
          <p:nvSpPr>
            <p:cNvPr name="Freeform 38" id="38"/>
            <p:cNvSpPr/>
            <p:nvPr/>
          </p:nvSpPr>
          <p:spPr>
            <a:xfrm flipH="false" flipV="false" rot="0">
              <a:off x="0" y="0"/>
              <a:ext cx="483295" cy="221629"/>
            </a:xfrm>
            <a:custGeom>
              <a:avLst/>
              <a:gdLst/>
              <a:ahLst/>
              <a:cxnLst/>
              <a:rect r="r" b="b" t="t" l="l"/>
              <a:pathLst>
                <a:path h="221629" w="483295">
                  <a:moveTo>
                    <a:pt x="0" y="0"/>
                  </a:moveTo>
                  <a:lnTo>
                    <a:pt x="483295" y="0"/>
                  </a:lnTo>
                  <a:lnTo>
                    <a:pt x="483295" y="221629"/>
                  </a:lnTo>
                  <a:lnTo>
                    <a:pt x="0" y="221629"/>
                  </a:lnTo>
                  <a:close/>
                </a:path>
              </a:pathLst>
            </a:custGeom>
            <a:solidFill>
              <a:srgbClr val="2E7D32"/>
            </a:solidFill>
          </p:spPr>
        </p:sp>
        <p:sp>
          <p:nvSpPr>
            <p:cNvPr name="TextBox 39" id="39"/>
            <p:cNvSpPr txBox="true"/>
            <p:nvPr/>
          </p:nvSpPr>
          <p:spPr>
            <a:xfrm>
              <a:off x="0" y="-57150"/>
              <a:ext cx="483295" cy="278779"/>
            </a:xfrm>
            <a:prstGeom prst="rect">
              <a:avLst/>
            </a:prstGeom>
          </p:spPr>
          <p:txBody>
            <a:bodyPr anchor="ctr" rtlCol="false" tIns="50800" lIns="50800" bIns="50800" rIns="50800"/>
            <a:lstStyle/>
            <a:p>
              <a:pPr algn="ctr">
                <a:lnSpc>
                  <a:spcPts val="2659"/>
                </a:lnSpc>
              </a:pPr>
              <a:r>
                <a:rPr lang="en-US" sz="1899">
                  <a:solidFill>
                    <a:srgbClr val="FFFFFF"/>
                  </a:solidFill>
                  <a:latin typeface="Times New Roman"/>
                  <a:ea typeface="Times New Roman"/>
                  <a:cs typeface="Times New Roman"/>
                  <a:sym typeface="Times New Roman"/>
                </a:rPr>
                <a:t>ALLOW</a:t>
              </a:r>
            </a:p>
          </p:txBody>
        </p:sp>
      </p:grpSp>
      <p:grpSp>
        <p:nvGrpSpPr>
          <p:cNvPr name="Group 40" id="40"/>
          <p:cNvGrpSpPr/>
          <p:nvPr/>
        </p:nvGrpSpPr>
        <p:grpSpPr>
          <a:xfrm rot="0">
            <a:off x="14578975" y="6567931"/>
            <a:ext cx="1835009" cy="841496"/>
            <a:chOff x="0" y="0"/>
            <a:chExt cx="483295" cy="221629"/>
          </a:xfrm>
        </p:grpSpPr>
        <p:sp>
          <p:nvSpPr>
            <p:cNvPr name="Freeform 41" id="41"/>
            <p:cNvSpPr/>
            <p:nvPr/>
          </p:nvSpPr>
          <p:spPr>
            <a:xfrm flipH="false" flipV="false" rot="0">
              <a:off x="0" y="0"/>
              <a:ext cx="483295" cy="221629"/>
            </a:xfrm>
            <a:custGeom>
              <a:avLst/>
              <a:gdLst/>
              <a:ahLst/>
              <a:cxnLst/>
              <a:rect r="r" b="b" t="t" l="l"/>
              <a:pathLst>
                <a:path h="221629" w="483295">
                  <a:moveTo>
                    <a:pt x="0" y="0"/>
                  </a:moveTo>
                  <a:lnTo>
                    <a:pt x="483295" y="0"/>
                  </a:lnTo>
                  <a:lnTo>
                    <a:pt x="483295" y="221629"/>
                  </a:lnTo>
                  <a:lnTo>
                    <a:pt x="0" y="221629"/>
                  </a:lnTo>
                  <a:close/>
                </a:path>
              </a:pathLst>
            </a:custGeom>
            <a:solidFill>
              <a:srgbClr val="B03A2E"/>
            </a:solidFill>
          </p:spPr>
        </p:sp>
        <p:sp>
          <p:nvSpPr>
            <p:cNvPr name="TextBox 42" id="42"/>
            <p:cNvSpPr txBox="true"/>
            <p:nvPr/>
          </p:nvSpPr>
          <p:spPr>
            <a:xfrm>
              <a:off x="0" y="-57150"/>
              <a:ext cx="483295" cy="278779"/>
            </a:xfrm>
            <a:prstGeom prst="rect">
              <a:avLst/>
            </a:prstGeom>
          </p:spPr>
          <p:txBody>
            <a:bodyPr anchor="ctr" rtlCol="false" tIns="50800" lIns="50800" bIns="50800" rIns="50800"/>
            <a:lstStyle/>
            <a:p>
              <a:pPr algn="ctr">
                <a:lnSpc>
                  <a:spcPts val="2659"/>
                </a:lnSpc>
              </a:pPr>
              <a:r>
                <a:rPr lang="en-US" sz="1899">
                  <a:solidFill>
                    <a:srgbClr val="FFFFFF"/>
                  </a:solidFill>
                  <a:latin typeface="Times New Roman"/>
                  <a:ea typeface="Times New Roman"/>
                  <a:cs typeface="Times New Roman"/>
                  <a:sym typeface="Times New Roman"/>
                </a:rPr>
                <a:t>BLOCK</a:t>
              </a:r>
            </a:p>
          </p:txBody>
        </p:sp>
      </p:grpSp>
      <p:grpSp>
        <p:nvGrpSpPr>
          <p:cNvPr name="Group 43" id="43"/>
          <p:cNvGrpSpPr/>
          <p:nvPr/>
        </p:nvGrpSpPr>
        <p:grpSpPr>
          <a:xfrm rot="0">
            <a:off x="8429714" y="7981372"/>
            <a:ext cx="1835009" cy="841496"/>
            <a:chOff x="0" y="0"/>
            <a:chExt cx="483295" cy="221629"/>
          </a:xfrm>
        </p:grpSpPr>
        <p:sp>
          <p:nvSpPr>
            <p:cNvPr name="Freeform 44" id="44"/>
            <p:cNvSpPr/>
            <p:nvPr/>
          </p:nvSpPr>
          <p:spPr>
            <a:xfrm flipH="false" flipV="false" rot="0">
              <a:off x="0" y="0"/>
              <a:ext cx="483295" cy="221629"/>
            </a:xfrm>
            <a:custGeom>
              <a:avLst/>
              <a:gdLst/>
              <a:ahLst/>
              <a:cxnLst/>
              <a:rect r="r" b="b" t="t" l="l"/>
              <a:pathLst>
                <a:path h="221629" w="483295">
                  <a:moveTo>
                    <a:pt x="0" y="0"/>
                  </a:moveTo>
                  <a:lnTo>
                    <a:pt x="483295" y="0"/>
                  </a:lnTo>
                  <a:lnTo>
                    <a:pt x="483295" y="221629"/>
                  </a:lnTo>
                  <a:lnTo>
                    <a:pt x="0" y="221629"/>
                  </a:lnTo>
                  <a:close/>
                </a:path>
              </a:pathLst>
            </a:custGeom>
            <a:solidFill>
              <a:srgbClr val="4A4A4A"/>
            </a:solidFill>
          </p:spPr>
        </p:sp>
        <p:sp>
          <p:nvSpPr>
            <p:cNvPr name="TextBox 45" id="45"/>
            <p:cNvSpPr txBox="true"/>
            <p:nvPr/>
          </p:nvSpPr>
          <p:spPr>
            <a:xfrm>
              <a:off x="0" y="-57150"/>
              <a:ext cx="483295" cy="278779"/>
            </a:xfrm>
            <a:prstGeom prst="rect">
              <a:avLst/>
            </a:prstGeom>
          </p:spPr>
          <p:txBody>
            <a:bodyPr anchor="ctr" rtlCol="false" tIns="50800" lIns="50800" bIns="50800" rIns="50800"/>
            <a:lstStyle/>
            <a:p>
              <a:pPr algn="ctr">
                <a:lnSpc>
                  <a:spcPts val="2659"/>
                </a:lnSpc>
              </a:pPr>
              <a:r>
                <a:rPr lang="en-US" sz="1899">
                  <a:solidFill>
                    <a:srgbClr val="FFFFFF"/>
                  </a:solidFill>
                  <a:latin typeface="Times New Roman"/>
                  <a:ea typeface="Times New Roman"/>
                  <a:cs typeface="Times New Roman"/>
                  <a:sym typeface="Times New Roman"/>
                </a:rPr>
                <a:t>Audit Log</a:t>
              </a:r>
            </a:p>
          </p:txBody>
        </p:sp>
      </p:grpSp>
      <p:grpSp>
        <p:nvGrpSpPr>
          <p:cNvPr name="Group 46" id="46"/>
          <p:cNvGrpSpPr/>
          <p:nvPr/>
        </p:nvGrpSpPr>
        <p:grpSpPr>
          <a:xfrm rot="0">
            <a:off x="1172211" y="7981372"/>
            <a:ext cx="1835009" cy="841496"/>
            <a:chOff x="0" y="0"/>
            <a:chExt cx="483295" cy="221629"/>
          </a:xfrm>
        </p:grpSpPr>
        <p:sp>
          <p:nvSpPr>
            <p:cNvPr name="Freeform 47" id="47"/>
            <p:cNvSpPr/>
            <p:nvPr/>
          </p:nvSpPr>
          <p:spPr>
            <a:xfrm flipH="false" flipV="false" rot="0">
              <a:off x="0" y="0"/>
              <a:ext cx="483295" cy="221629"/>
            </a:xfrm>
            <a:custGeom>
              <a:avLst/>
              <a:gdLst/>
              <a:ahLst/>
              <a:cxnLst/>
              <a:rect r="r" b="b" t="t" l="l"/>
              <a:pathLst>
                <a:path h="221629" w="483295">
                  <a:moveTo>
                    <a:pt x="0" y="0"/>
                  </a:moveTo>
                  <a:lnTo>
                    <a:pt x="483295" y="0"/>
                  </a:lnTo>
                  <a:lnTo>
                    <a:pt x="483295" y="221629"/>
                  </a:lnTo>
                  <a:lnTo>
                    <a:pt x="0" y="221629"/>
                  </a:lnTo>
                  <a:close/>
                </a:path>
              </a:pathLst>
            </a:custGeom>
            <a:solidFill>
              <a:srgbClr val="4A4A4A"/>
            </a:solidFill>
          </p:spPr>
        </p:sp>
        <p:sp>
          <p:nvSpPr>
            <p:cNvPr name="TextBox 48" id="48"/>
            <p:cNvSpPr txBox="true"/>
            <p:nvPr/>
          </p:nvSpPr>
          <p:spPr>
            <a:xfrm>
              <a:off x="0" y="-57150"/>
              <a:ext cx="483295" cy="278779"/>
            </a:xfrm>
            <a:prstGeom prst="rect">
              <a:avLst/>
            </a:prstGeom>
          </p:spPr>
          <p:txBody>
            <a:bodyPr anchor="ctr" rtlCol="false" tIns="50800" lIns="50800" bIns="50800" rIns="50800"/>
            <a:lstStyle/>
            <a:p>
              <a:pPr algn="ctr">
                <a:lnSpc>
                  <a:spcPts val="2659"/>
                </a:lnSpc>
              </a:pPr>
              <a:r>
                <a:rPr lang="en-US" sz="1899">
                  <a:solidFill>
                    <a:srgbClr val="FFFFFF"/>
                  </a:solidFill>
                  <a:latin typeface="Times New Roman"/>
                  <a:ea typeface="Times New Roman"/>
                  <a:cs typeface="Times New Roman"/>
                  <a:sym typeface="Times New Roman"/>
                </a:rPr>
                <a:t>Dashboard</a:t>
              </a:r>
            </a:p>
          </p:txBody>
        </p:sp>
      </p:grpSp>
      <p:sp>
        <p:nvSpPr>
          <p:cNvPr name="AutoShape 49" id="49"/>
          <p:cNvSpPr/>
          <p:nvPr/>
        </p:nvSpPr>
        <p:spPr>
          <a:xfrm>
            <a:off x="4677048" y="2920089"/>
            <a:ext cx="1023481" cy="0"/>
          </a:xfrm>
          <a:prstGeom prst="line">
            <a:avLst/>
          </a:prstGeom>
          <a:ln cap="flat" w="38100">
            <a:solidFill>
              <a:srgbClr val="000000"/>
            </a:solidFill>
            <a:prstDash val="solid"/>
            <a:headEnd type="none" len="sm" w="sm"/>
            <a:tailEnd type="triangle" len="med" w="lg"/>
          </a:ln>
        </p:spPr>
      </p:sp>
      <p:sp>
        <p:nvSpPr>
          <p:cNvPr name="AutoShape 50" id="50"/>
          <p:cNvSpPr/>
          <p:nvPr/>
        </p:nvSpPr>
        <p:spPr>
          <a:xfrm>
            <a:off x="7535539" y="2920089"/>
            <a:ext cx="894176" cy="0"/>
          </a:xfrm>
          <a:prstGeom prst="line">
            <a:avLst/>
          </a:prstGeom>
          <a:ln cap="flat" w="38100">
            <a:solidFill>
              <a:srgbClr val="000000"/>
            </a:solidFill>
            <a:prstDash val="solid"/>
            <a:headEnd type="none" len="sm" w="sm"/>
            <a:tailEnd type="triangle" len="med" w="lg"/>
          </a:ln>
        </p:spPr>
      </p:sp>
      <p:sp>
        <p:nvSpPr>
          <p:cNvPr name="Freeform 51" id="51"/>
          <p:cNvSpPr/>
          <p:nvPr/>
        </p:nvSpPr>
        <p:spPr>
          <a:xfrm>
            <a:off x="10264724" y="2920089"/>
            <a:ext cx="2336729" cy="309943"/>
          </a:xfrm>
          <a:custGeom>
            <a:avLst/>
            <a:gdLst/>
            <a:ahLst/>
            <a:cxnLst/>
            <a:rect r="r" b="b" t="t" l="l"/>
            <a:pathLst>
              <a:path h="309943" w="2336729">
                <a:moveTo>
                  <a:pt x="0" y="0"/>
                </a:moveTo>
                <a:lnTo>
                  <a:pt x="2181757" y="0"/>
                </a:lnTo>
                <a:cubicBezTo>
                  <a:pt x="2267346" y="0"/>
                  <a:pt x="2336729" y="69383"/>
                  <a:pt x="2336729" y="154972"/>
                </a:cubicBezTo>
                <a:lnTo>
                  <a:pt x="2336729" y="309943"/>
                </a:lnTo>
              </a:path>
            </a:pathLst>
          </a:custGeom>
          <a:ln cap="flat" w="38100">
            <a:solidFill>
              <a:srgbClr val="000000"/>
            </a:solidFill>
            <a:prstDash val="solid"/>
            <a:headEnd type="none" len="sm" w="sm"/>
            <a:tailEnd type="triangle" len="med" w="lg"/>
          </a:ln>
        </p:spPr>
      </p:sp>
      <p:sp>
        <p:nvSpPr>
          <p:cNvPr name="Freeform 52" id="52"/>
          <p:cNvSpPr/>
          <p:nvPr/>
        </p:nvSpPr>
        <p:spPr>
          <a:xfrm>
            <a:off x="12601453" y="4420338"/>
            <a:ext cx="0" cy="348810"/>
          </a:xfrm>
          <a:custGeom>
            <a:avLst/>
            <a:gdLst/>
            <a:ahLst/>
            <a:cxnLst/>
            <a:rect r="r" b="b" t="t" l="l"/>
            <a:pathLst>
              <a:path h="348810" w="0">
                <a:moveTo>
                  <a:pt x="0" y="0"/>
                </a:moveTo>
                <a:lnTo>
                  <a:pt x="0" y="348810"/>
                </a:lnTo>
              </a:path>
            </a:pathLst>
          </a:custGeom>
          <a:ln cap="flat" w="38100">
            <a:solidFill>
              <a:srgbClr val="000000"/>
            </a:solidFill>
            <a:prstDash val="solid"/>
            <a:headEnd type="none" len="sm" w="sm"/>
            <a:tailEnd type="triangle" len="med" w="lg"/>
          </a:ln>
        </p:spPr>
      </p:sp>
      <p:sp>
        <p:nvSpPr>
          <p:cNvPr name="Freeform 53" id="53"/>
          <p:cNvSpPr/>
          <p:nvPr/>
        </p:nvSpPr>
        <p:spPr>
          <a:xfrm>
            <a:off x="12601453" y="6089288"/>
            <a:ext cx="0" cy="478643"/>
          </a:xfrm>
          <a:custGeom>
            <a:avLst/>
            <a:gdLst/>
            <a:ahLst/>
            <a:cxnLst/>
            <a:rect r="r" b="b" t="t" l="l"/>
            <a:pathLst>
              <a:path h="478643" w="0">
                <a:moveTo>
                  <a:pt x="0" y="0"/>
                </a:moveTo>
                <a:lnTo>
                  <a:pt x="0" y="478643"/>
                </a:lnTo>
              </a:path>
            </a:pathLst>
          </a:custGeom>
          <a:ln cap="flat" w="38100">
            <a:solidFill>
              <a:srgbClr val="000000"/>
            </a:solidFill>
            <a:prstDash val="solid"/>
            <a:headEnd type="none" len="sm" w="sm"/>
            <a:tailEnd type="triangle" len="med" w="lg"/>
          </a:ln>
        </p:spPr>
      </p:sp>
      <p:sp>
        <p:nvSpPr>
          <p:cNvPr name="Freeform 54" id="54"/>
          <p:cNvSpPr/>
          <p:nvPr/>
        </p:nvSpPr>
        <p:spPr>
          <a:xfrm>
            <a:off x="2089715" y="2920089"/>
            <a:ext cx="752323" cy="3538024"/>
          </a:xfrm>
          <a:custGeom>
            <a:avLst/>
            <a:gdLst/>
            <a:ahLst/>
            <a:cxnLst/>
            <a:rect r="r" b="b" t="t" l="l"/>
            <a:pathLst>
              <a:path h="3538024" w="752323">
                <a:moveTo>
                  <a:pt x="752324" y="0"/>
                </a:moveTo>
                <a:lnTo>
                  <a:pt x="228600" y="0"/>
                </a:lnTo>
                <a:cubicBezTo>
                  <a:pt x="102348" y="0"/>
                  <a:pt x="0" y="102348"/>
                  <a:pt x="0" y="228600"/>
                </a:cubicBezTo>
                <a:lnTo>
                  <a:pt x="0" y="3538024"/>
                </a:lnTo>
              </a:path>
            </a:pathLst>
          </a:custGeom>
          <a:ln cap="flat" w="38100">
            <a:solidFill>
              <a:srgbClr val="000000"/>
            </a:solidFill>
            <a:prstDash val="solid"/>
            <a:headEnd type="none" len="sm" w="sm"/>
            <a:tailEnd type="triangle" len="med" w="lg"/>
          </a:ln>
        </p:spPr>
      </p:sp>
      <p:sp>
        <p:nvSpPr>
          <p:cNvPr name="Freeform 55" id="55"/>
          <p:cNvSpPr/>
          <p:nvPr/>
        </p:nvSpPr>
        <p:spPr>
          <a:xfrm>
            <a:off x="13518958" y="5189896"/>
            <a:ext cx="1977523" cy="1378034"/>
          </a:xfrm>
          <a:custGeom>
            <a:avLst/>
            <a:gdLst/>
            <a:ahLst/>
            <a:cxnLst/>
            <a:rect r="r" b="b" t="t" l="l"/>
            <a:pathLst>
              <a:path h="1378034" w="1977523">
                <a:moveTo>
                  <a:pt x="0" y="0"/>
                </a:moveTo>
                <a:lnTo>
                  <a:pt x="1748922" y="0"/>
                </a:lnTo>
                <a:cubicBezTo>
                  <a:pt x="1809551" y="0"/>
                  <a:pt x="1867697" y="24085"/>
                  <a:pt x="1910567" y="66956"/>
                </a:cubicBezTo>
                <a:cubicBezTo>
                  <a:pt x="1953439" y="109827"/>
                  <a:pt x="1977522" y="167972"/>
                  <a:pt x="1977522" y="228600"/>
                </a:cubicBezTo>
                <a:lnTo>
                  <a:pt x="1977522" y="1378035"/>
                </a:lnTo>
              </a:path>
            </a:pathLst>
          </a:custGeom>
          <a:ln cap="flat" w="38100">
            <a:solidFill>
              <a:srgbClr val="000000"/>
            </a:solidFill>
            <a:prstDash val="solid"/>
            <a:headEnd type="none" len="sm" w="sm"/>
            <a:tailEnd type="triangle" len="med" w="lg"/>
          </a:ln>
        </p:spPr>
      </p:sp>
      <p:sp>
        <p:nvSpPr>
          <p:cNvPr name="Freeform 56" id="56"/>
          <p:cNvSpPr/>
          <p:nvPr/>
        </p:nvSpPr>
        <p:spPr>
          <a:xfrm>
            <a:off x="14048967" y="6988679"/>
            <a:ext cx="530008" cy="0"/>
          </a:xfrm>
          <a:custGeom>
            <a:avLst/>
            <a:gdLst/>
            <a:ahLst/>
            <a:cxnLst/>
            <a:rect r="r" b="b" t="t" l="l"/>
            <a:pathLst>
              <a:path h="0" w="530008">
                <a:moveTo>
                  <a:pt x="0" y="0"/>
                </a:moveTo>
                <a:lnTo>
                  <a:pt x="530008" y="0"/>
                </a:lnTo>
              </a:path>
            </a:pathLst>
          </a:custGeom>
          <a:ln cap="flat" w="38100">
            <a:solidFill>
              <a:srgbClr val="000000"/>
            </a:solidFill>
            <a:prstDash val="solid"/>
            <a:headEnd type="none" len="sm" w="sm"/>
            <a:tailEnd type="triangle" len="med" w="lg"/>
          </a:ln>
        </p:spPr>
      </p:sp>
      <p:sp>
        <p:nvSpPr>
          <p:cNvPr name="Freeform 57" id="57"/>
          <p:cNvSpPr/>
          <p:nvPr/>
        </p:nvSpPr>
        <p:spPr>
          <a:xfrm>
            <a:off x="10264724" y="6988679"/>
            <a:ext cx="709612" cy="0"/>
          </a:xfrm>
          <a:custGeom>
            <a:avLst/>
            <a:gdLst/>
            <a:ahLst/>
            <a:cxnLst/>
            <a:rect r="r" b="b" t="t" l="l"/>
            <a:pathLst>
              <a:path h="0" w="709612">
                <a:moveTo>
                  <a:pt x="709612" y="0"/>
                </a:moveTo>
                <a:lnTo>
                  <a:pt x="0" y="0"/>
                </a:lnTo>
              </a:path>
            </a:pathLst>
          </a:custGeom>
          <a:ln cap="flat" w="38100">
            <a:solidFill>
              <a:srgbClr val="000000"/>
            </a:solidFill>
            <a:prstDash val="solid"/>
            <a:headEnd type="none" len="sm" w="sm"/>
            <a:tailEnd type="triangle" len="med" w="lg"/>
          </a:ln>
        </p:spPr>
      </p:sp>
      <p:sp>
        <p:nvSpPr>
          <p:cNvPr name="Freeform 58" id="58"/>
          <p:cNvSpPr/>
          <p:nvPr/>
        </p:nvSpPr>
        <p:spPr>
          <a:xfrm>
            <a:off x="9347219" y="7695399"/>
            <a:ext cx="0" cy="285972"/>
          </a:xfrm>
          <a:custGeom>
            <a:avLst/>
            <a:gdLst/>
            <a:ahLst/>
            <a:cxnLst/>
            <a:rect r="r" b="b" t="t" l="l"/>
            <a:pathLst>
              <a:path h="285972" w="0">
                <a:moveTo>
                  <a:pt x="0" y="0"/>
                </a:moveTo>
                <a:lnTo>
                  <a:pt x="0" y="285973"/>
                </a:lnTo>
              </a:path>
            </a:pathLst>
          </a:custGeom>
          <a:ln cap="flat" w="38100">
            <a:solidFill>
              <a:srgbClr val="000000"/>
            </a:solidFill>
            <a:prstDash val="solid"/>
            <a:headEnd type="none" len="sm" w="sm"/>
            <a:tailEnd type="triangle" len="med" w="lg"/>
          </a:ln>
        </p:spPr>
      </p:sp>
      <p:sp>
        <p:nvSpPr>
          <p:cNvPr name="Freeform 59" id="59"/>
          <p:cNvSpPr/>
          <p:nvPr/>
        </p:nvSpPr>
        <p:spPr>
          <a:xfrm>
            <a:off x="9347219" y="4954384"/>
            <a:ext cx="0" cy="1613547"/>
          </a:xfrm>
          <a:custGeom>
            <a:avLst/>
            <a:gdLst/>
            <a:ahLst/>
            <a:cxnLst/>
            <a:rect r="r" b="b" t="t" l="l"/>
            <a:pathLst>
              <a:path h="1613547" w="0">
                <a:moveTo>
                  <a:pt x="0" y="0"/>
                </a:moveTo>
                <a:lnTo>
                  <a:pt x="0" y="1613547"/>
                </a:lnTo>
              </a:path>
            </a:pathLst>
          </a:custGeom>
          <a:ln cap="flat" w="38100">
            <a:solidFill>
              <a:srgbClr val="000000"/>
            </a:solidFill>
            <a:prstDash val="solid"/>
            <a:headEnd type="none" len="sm" w="sm"/>
            <a:tailEnd type="triangle" len="med" w="lg"/>
          </a:ln>
        </p:spPr>
      </p:sp>
      <p:sp>
        <p:nvSpPr>
          <p:cNvPr name="Freeform 60" id="60"/>
          <p:cNvSpPr/>
          <p:nvPr/>
        </p:nvSpPr>
        <p:spPr>
          <a:xfrm>
            <a:off x="3007220" y="8402120"/>
            <a:ext cx="2711247" cy="0"/>
          </a:xfrm>
          <a:custGeom>
            <a:avLst/>
            <a:gdLst/>
            <a:ahLst/>
            <a:cxnLst/>
            <a:rect r="r" b="b" t="t" l="l"/>
            <a:pathLst>
              <a:path h="0" w="2711247">
                <a:moveTo>
                  <a:pt x="2711247" y="0"/>
                </a:moveTo>
                <a:lnTo>
                  <a:pt x="0" y="0"/>
                </a:lnTo>
              </a:path>
            </a:pathLst>
          </a:custGeom>
          <a:ln cap="flat" w="38100">
            <a:solidFill>
              <a:srgbClr val="000000"/>
            </a:solidFill>
            <a:prstDash val="solid"/>
            <a:headEnd type="none" len="sm" w="sm"/>
            <a:tailEnd type="triangle" len="med" w="lg"/>
          </a:ln>
        </p:spPr>
      </p:sp>
      <p:sp>
        <p:nvSpPr>
          <p:cNvPr name="Freeform 61" id="61"/>
          <p:cNvSpPr/>
          <p:nvPr/>
        </p:nvSpPr>
        <p:spPr>
          <a:xfrm>
            <a:off x="10264724" y="7409427"/>
            <a:ext cx="5231757" cy="992694"/>
          </a:xfrm>
          <a:custGeom>
            <a:avLst/>
            <a:gdLst/>
            <a:ahLst/>
            <a:cxnLst/>
            <a:rect r="r" b="b" t="t" l="l"/>
            <a:pathLst>
              <a:path h="992694" w="5231757">
                <a:moveTo>
                  <a:pt x="5231756" y="0"/>
                </a:moveTo>
                <a:lnTo>
                  <a:pt x="5231756" y="764093"/>
                </a:lnTo>
                <a:cubicBezTo>
                  <a:pt x="5231756" y="890345"/>
                  <a:pt x="5129409" y="992693"/>
                  <a:pt x="5003156" y="992693"/>
                </a:cubicBezTo>
                <a:lnTo>
                  <a:pt x="0" y="992693"/>
                </a:lnTo>
              </a:path>
            </a:pathLst>
          </a:custGeom>
          <a:ln cap="flat" w="38100">
            <a:solidFill>
              <a:srgbClr val="000000"/>
            </a:solidFill>
            <a:prstDash val="solid"/>
            <a:headEnd type="none" len="sm" w="sm"/>
            <a:tailEnd type="triangle" len="med" w="lg"/>
          </a:ln>
        </p:spPr>
      </p:sp>
      <p:sp>
        <p:nvSpPr>
          <p:cNvPr name="Freeform 62" id="62"/>
          <p:cNvSpPr/>
          <p:nvPr/>
        </p:nvSpPr>
        <p:spPr>
          <a:xfrm>
            <a:off x="13518958" y="3650781"/>
            <a:ext cx="1977523" cy="2917150"/>
          </a:xfrm>
          <a:custGeom>
            <a:avLst/>
            <a:gdLst/>
            <a:ahLst/>
            <a:cxnLst/>
            <a:rect r="r" b="b" t="t" l="l"/>
            <a:pathLst>
              <a:path h="2917150" w="1977523">
                <a:moveTo>
                  <a:pt x="0" y="0"/>
                </a:moveTo>
                <a:lnTo>
                  <a:pt x="1748922" y="0"/>
                </a:lnTo>
                <a:cubicBezTo>
                  <a:pt x="1875175" y="0"/>
                  <a:pt x="1977522" y="102347"/>
                  <a:pt x="1977522" y="228600"/>
                </a:cubicBezTo>
                <a:lnTo>
                  <a:pt x="1977522" y="2917150"/>
                </a:lnTo>
              </a:path>
            </a:pathLst>
          </a:custGeom>
          <a:ln cap="flat" w="38100">
            <a:solidFill>
              <a:srgbClr val="000000"/>
            </a:solidFill>
            <a:prstDash val="solid"/>
            <a:headEnd type="none" len="sm" w="sm"/>
            <a:tailEnd type="triangle" len="med" w="lg"/>
          </a:ln>
        </p:spPr>
      </p:sp>
      <p:sp>
        <p:nvSpPr>
          <p:cNvPr name="Freeform 63" id="63"/>
          <p:cNvSpPr/>
          <p:nvPr/>
        </p:nvSpPr>
        <p:spPr>
          <a:xfrm>
            <a:off x="3759543" y="3340837"/>
            <a:ext cx="4670171" cy="3647842"/>
          </a:xfrm>
          <a:custGeom>
            <a:avLst/>
            <a:gdLst/>
            <a:ahLst/>
            <a:cxnLst/>
            <a:rect r="r" b="b" t="t" l="l"/>
            <a:pathLst>
              <a:path h="3647842" w="4670171">
                <a:moveTo>
                  <a:pt x="4670171" y="3647842"/>
                </a:moveTo>
                <a:lnTo>
                  <a:pt x="228600" y="3647842"/>
                </a:lnTo>
                <a:cubicBezTo>
                  <a:pt x="167972" y="3647842"/>
                  <a:pt x="109827" y="3623757"/>
                  <a:pt x="66956" y="3580886"/>
                </a:cubicBezTo>
                <a:cubicBezTo>
                  <a:pt x="24085" y="3538016"/>
                  <a:pt x="0" y="3479871"/>
                  <a:pt x="0" y="3419242"/>
                </a:cubicBezTo>
                <a:lnTo>
                  <a:pt x="0" y="0"/>
                </a:lnTo>
              </a:path>
            </a:pathLst>
          </a:custGeom>
          <a:ln cap="flat" w="38100">
            <a:solidFill>
              <a:srgbClr val="000000"/>
            </a:solidFill>
            <a:prstDash val="solid"/>
            <a:headEnd type="none" len="sm" w="sm"/>
            <a:tailEnd type="triangle" len="med" w="lg"/>
          </a:ln>
        </p:spPr>
      </p:sp>
      <p:sp>
        <p:nvSpPr>
          <p:cNvPr name="TextBox 64" id="64"/>
          <p:cNvSpPr txBox="true"/>
          <p:nvPr/>
        </p:nvSpPr>
        <p:spPr>
          <a:xfrm rot="0">
            <a:off x="2271473" y="4622389"/>
            <a:ext cx="840700" cy="283210"/>
          </a:xfrm>
          <a:prstGeom prst="rect">
            <a:avLst/>
          </a:prstGeom>
        </p:spPr>
        <p:txBody>
          <a:bodyPr anchor="t" rtlCol="false" tIns="0" lIns="0" bIns="0" rIns="0">
            <a:spAutoFit/>
          </a:bodyPr>
          <a:lstStyle/>
          <a:p>
            <a:pPr algn="l">
              <a:lnSpc>
                <a:spcPts val="2239"/>
              </a:lnSpc>
            </a:pPr>
            <a:r>
              <a:rPr lang="en-US" b="true" sz="1599">
                <a:solidFill>
                  <a:srgbClr val="000000"/>
                </a:solidFill>
                <a:latin typeface="Times New Roman Bold"/>
                <a:ea typeface="Times New Roman Bold"/>
                <a:cs typeface="Times New Roman Bold"/>
                <a:sym typeface="Times New Roman Bold"/>
              </a:rPr>
              <a:t>if allowed</a:t>
            </a:r>
          </a:p>
        </p:txBody>
      </p:sp>
      <p:sp>
        <p:nvSpPr>
          <p:cNvPr name="TextBox 65" id="65"/>
          <p:cNvSpPr txBox="true"/>
          <p:nvPr/>
        </p:nvSpPr>
        <p:spPr>
          <a:xfrm rot="0">
            <a:off x="4923577" y="2362181"/>
            <a:ext cx="530423"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Times New Roman Bold"/>
                <a:ea typeface="Times New Roman Bold"/>
                <a:cs typeface="Times New Roman Bold"/>
                <a:sym typeface="Times New Roman Bold"/>
              </a:rPr>
              <a:t>action</a:t>
            </a:r>
          </a:p>
        </p:txBody>
      </p:sp>
      <p:sp>
        <p:nvSpPr>
          <p:cNvPr name="TextBox 66" id="66"/>
          <p:cNvSpPr txBox="true"/>
          <p:nvPr/>
        </p:nvSpPr>
        <p:spPr>
          <a:xfrm rot="0">
            <a:off x="10775970" y="2451716"/>
            <a:ext cx="1021318"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Times New Roman Bold"/>
                <a:ea typeface="Times New Roman Bold"/>
                <a:cs typeface="Times New Roman Bold"/>
                <a:sym typeface="Times New Roman Bold"/>
              </a:rPr>
              <a:t>risky action</a:t>
            </a:r>
          </a:p>
        </p:txBody>
      </p:sp>
      <p:sp>
        <p:nvSpPr>
          <p:cNvPr name="TextBox 67" id="67"/>
          <p:cNvSpPr txBox="true"/>
          <p:nvPr/>
        </p:nvSpPr>
        <p:spPr>
          <a:xfrm rot="0">
            <a:off x="12804698" y="4238288"/>
            <a:ext cx="451366"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Times New Roman Bold"/>
                <a:ea typeface="Times New Roman Bold"/>
                <a:cs typeface="Times New Roman Bold"/>
                <a:sym typeface="Times New Roman Bold"/>
              </a:rPr>
              <a:t>clean</a:t>
            </a:r>
          </a:p>
        </p:txBody>
      </p:sp>
      <p:sp>
        <p:nvSpPr>
          <p:cNvPr name="TextBox 68" id="68"/>
          <p:cNvSpPr txBox="true"/>
          <p:nvPr/>
        </p:nvSpPr>
        <p:spPr>
          <a:xfrm rot="0">
            <a:off x="12883398" y="5810669"/>
            <a:ext cx="372666"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Times New Roman Bold"/>
                <a:ea typeface="Times New Roman Bold"/>
                <a:cs typeface="Times New Roman Bold"/>
                <a:sym typeface="Times New Roman Bold"/>
              </a:rPr>
              <a:t>pass</a:t>
            </a:r>
          </a:p>
        </p:txBody>
      </p:sp>
      <p:sp>
        <p:nvSpPr>
          <p:cNvPr name="TextBox 69" id="69"/>
          <p:cNvSpPr txBox="true"/>
          <p:nvPr/>
        </p:nvSpPr>
        <p:spPr>
          <a:xfrm rot="0">
            <a:off x="14163387" y="3064615"/>
            <a:ext cx="831175"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Times New Roman Bold"/>
                <a:ea typeface="Times New Roman Bold"/>
                <a:cs typeface="Times New Roman Bold"/>
                <a:sym typeface="Times New Roman Bold"/>
              </a:rPr>
              <a:t>tampered</a:t>
            </a:r>
          </a:p>
        </p:txBody>
      </p:sp>
      <p:sp>
        <p:nvSpPr>
          <p:cNvPr name="TextBox 70" id="70"/>
          <p:cNvSpPr txBox="true"/>
          <p:nvPr/>
        </p:nvSpPr>
        <p:spPr>
          <a:xfrm rot="0">
            <a:off x="14437886" y="4721523"/>
            <a:ext cx="282178"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Times New Roman Bold"/>
                <a:ea typeface="Times New Roman Bold"/>
                <a:cs typeface="Times New Roman Bold"/>
                <a:sym typeface="Times New Roman Bold"/>
              </a:rPr>
              <a:t>fail</a:t>
            </a:r>
          </a:p>
        </p:txBody>
      </p:sp>
      <p:sp>
        <p:nvSpPr>
          <p:cNvPr name="TextBox 71" id="71"/>
          <p:cNvSpPr txBox="true"/>
          <p:nvPr/>
        </p:nvSpPr>
        <p:spPr>
          <a:xfrm rot="0">
            <a:off x="13897997" y="6410488"/>
            <a:ext cx="265390"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Times New Roman Bold"/>
                <a:ea typeface="Times New Roman Bold"/>
                <a:cs typeface="Times New Roman Bold"/>
                <a:sym typeface="Times New Roman Bold"/>
              </a:rPr>
              <a:t>no </a:t>
            </a:r>
          </a:p>
        </p:txBody>
      </p:sp>
      <p:sp>
        <p:nvSpPr>
          <p:cNvPr name="TextBox 72" id="72"/>
          <p:cNvSpPr txBox="true"/>
          <p:nvPr/>
        </p:nvSpPr>
        <p:spPr>
          <a:xfrm rot="0">
            <a:off x="9544745" y="4813523"/>
            <a:ext cx="919520"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Times New Roman Bold"/>
                <a:ea typeface="Times New Roman Bold"/>
                <a:cs typeface="Times New Roman Bold"/>
                <a:sym typeface="Times New Roman Bold"/>
              </a:rPr>
              <a:t>safe action</a:t>
            </a:r>
          </a:p>
        </p:txBody>
      </p:sp>
      <p:sp>
        <p:nvSpPr>
          <p:cNvPr name="TextBox 73" id="73"/>
          <p:cNvSpPr txBox="true"/>
          <p:nvPr/>
        </p:nvSpPr>
        <p:spPr>
          <a:xfrm rot="0">
            <a:off x="10775970" y="6410488"/>
            <a:ext cx="270867"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Times New Roman Bold"/>
                <a:ea typeface="Times New Roman Bold"/>
                <a:cs typeface="Times New Roman Bold"/>
                <a:sym typeface="Times New Roman Bold"/>
              </a:rPr>
              <a:t>yes</a:t>
            </a:r>
          </a:p>
        </p:txBody>
      </p:sp>
      <p:sp>
        <p:nvSpPr>
          <p:cNvPr name="TextBox 74" id="74"/>
          <p:cNvSpPr txBox="true"/>
          <p:nvPr/>
        </p:nvSpPr>
        <p:spPr>
          <a:xfrm rot="0">
            <a:off x="3961026" y="4622389"/>
            <a:ext cx="1739503" cy="283210"/>
          </a:xfrm>
          <a:prstGeom prst="rect">
            <a:avLst/>
          </a:prstGeom>
        </p:spPr>
        <p:txBody>
          <a:bodyPr anchor="t" rtlCol="false" tIns="0" lIns="0" bIns="0" rIns="0">
            <a:spAutoFit/>
          </a:bodyPr>
          <a:lstStyle/>
          <a:p>
            <a:pPr algn="ctr">
              <a:lnSpc>
                <a:spcPts val="2239"/>
              </a:lnSpc>
              <a:spcBef>
                <a:spcPct val="0"/>
              </a:spcBef>
            </a:pPr>
            <a:r>
              <a:rPr lang="en-US" b="true" sz="1599">
                <a:solidFill>
                  <a:srgbClr val="000000"/>
                </a:solidFill>
                <a:latin typeface="Times New Roman Bold"/>
                <a:ea typeface="Times New Roman Bold"/>
                <a:cs typeface="Times New Roman Bold"/>
                <a:sym typeface="Times New Roman Bold"/>
              </a:rPr>
              <a:t>tells agent the result</a:t>
            </a:r>
          </a:p>
        </p:txBody>
      </p:sp>
      <p:sp>
        <p:nvSpPr>
          <p:cNvPr name="Freeform 75" id="75"/>
          <p:cNvSpPr/>
          <p:nvPr/>
        </p:nvSpPr>
        <p:spPr>
          <a:xfrm>
            <a:off x="3818044" y="1783919"/>
            <a:ext cx="13053140" cy="5310210"/>
          </a:xfrm>
          <a:custGeom>
            <a:avLst/>
            <a:gdLst/>
            <a:ahLst/>
            <a:cxnLst/>
            <a:rect r="r" b="b" t="t" l="l"/>
            <a:pathLst>
              <a:path h="5310210" w="13053140">
                <a:moveTo>
                  <a:pt x="12722008" y="5310210"/>
                </a:moveTo>
                <a:lnTo>
                  <a:pt x="12887575" y="5310210"/>
                </a:lnTo>
                <a:cubicBezTo>
                  <a:pt x="12931486" y="5310210"/>
                  <a:pt x="12973598" y="5292767"/>
                  <a:pt x="13004647" y="5261717"/>
                </a:cubicBezTo>
                <a:cubicBezTo>
                  <a:pt x="13035696" y="5230668"/>
                  <a:pt x="13053140" y="5188555"/>
                  <a:pt x="13053140" y="5144644"/>
                </a:cubicBezTo>
                <a:lnTo>
                  <a:pt x="13053140" y="228600"/>
                </a:lnTo>
                <a:cubicBezTo>
                  <a:pt x="13053140" y="102347"/>
                  <a:pt x="12950793" y="0"/>
                  <a:pt x="12824540" y="0"/>
                </a:cubicBezTo>
                <a:lnTo>
                  <a:pt x="228600" y="0"/>
                </a:lnTo>
                <a:cubicBezTo>
                  <a:pt x="102348" y="0"/>
                  <a:pt x="0" y="102347"/>
                  <a:pt x="0" y="228600"/>
                </a:cubicBezTo>
                <a:lnTo>
                  <a:pt x="0" y="715422"/>
                </a:lnTo>
              </a:path>
            </a:pathLst>
          </a:custGeom>
          <a:ln cap="flat" w="38100">
            <a:solidFill>
              <a:srgbClr val="000000"/>
            </a:solidFill>
            <a:prstDash val="solid"/>
            <a:headEnd type="none" len="sm" w="sm"/>
            <a:tailEnd type="triangle" len="med" w="lg"/>
          </a:ln>
        </p:spPr>
      </p:sp>
      <p:sp>
        <p:nvSpPr>
          <p:cNvPr name="Freeform 76" id="76"/>
          <p:cNvSpPr/>
          <p:nvPr/>
        </p:nvSpPr>
        <p:spPr>
          <a:xfrm>
            <a:off x="9347219" y="2042141"/>
            <a:ext cx="6149261" cy="4525790"/>
          </a:xfrm>
          <a:custGeom>
            <a:avLst/>
            <a:gdLst/>
            <a:ahLst/>
            <a:cxnLst/>
            <a:rect r="r" b="b" t="t" l="l"/>
            <a:pathLst>
              <a:path h="4525790" w="6149261">
                <a:moveTo>
                  <a:pt x="0" y="457200"/>
                </a:moveTo>
                <a:lnTo>
                  <a:pt x="0" y="228600"/>
                </a:lnTo>
                <a:cubicBezTo>
                  <a:pt x="0" y="167972"/>
                  <a:pt x="24085" y="109826"/>
                  <a:pt x="66956" y="66955"/>
                </a:cubicBezTo>
                <a:cubicBezTo>
                  <a:pt x="109826" y="24085"/>
                  <a:pt x="167972" y="0"/>
                  <a:pt x="228600" y="0"/>
                </a:cubicBezTo>
                <a:lnTo>
                  <a:pt x="5920661" y="0"/>
                </a:lnTo>
                <a:cubicBezTo>
                  <a:pt x="6046914" y="0"/>
                  <a:pt x="6149261" y="102348"/>
                  <a:pt x="6149261" y="228600"/>
                </a:cubicBezTo>
                <a:lnTo>
                  <a:pt x="6149261" y="4525790"/>
                </a:lnTo>
              </a:path>
            </a:pathLst>
          </a:custGeom>
          <a:ln cap="flat" w="38100">
            <a:solidFill>
              <a:srgbClr val="000000"/>
            </a:solidFill>
            <a:prstDash val="solid"/>
            <a:headEnd type="none" len="sm" w="sm"/>
            <a:tailEnd type="triangle" len="med" w="lg"/>
          </a:ln>
        </p:spPr>
      </p:sp>
      <p:sp>
        <p:nvSpPr>
          <p:cNvPr name="TextBox 77" id="77"/>
          <p:cNvSpPr txBox="true"/>
          <p:nvPr/>
        </p:nvSpPr>
        <p:spPr>
          <a:xfrm rot="0">
            <a:off x="17400491" y="9467762"/>
            <a:ext cx="3048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13</a:t>
            </a: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H="true">
            <a:off x="16186622" y="5819196"/>
            <a:ext cx="7159602" cy="4779195"/>
          </a:xfrm>
          <a:prstGeom prst="line">
            <a:avLst/>
          </a:prstGeom>
          <a:ln cap="rnd" w="9525">
            <a:solidFill>
              <a:srgbClr val="FFFFFF"/>
            </a:solidFill>
            <a:prstDash val="solid"/>
            <a:headEnd type="none" len="sm" w="sm"/>
            <a:tailEnd type="none" len="sm" w="sm"/>
          </a:ln>
        </p:spPr>
      </p:sp>
      <p:grpSp>
        <p:nvGrpSpPr>
          <p:cNvPr name="Group 3" id="3"/>
          <p:cNvGrpSpPr/>
          <p:nvPr/>
        </p:nvGrpSpPr>
        <p:grpSpPr>
          <a:xfrm rot="0">
            <a:off x="16704013" y="0"/>
            <a:ext cx="4511021" cy="10299697"/>
            <a:chOff x="0" y="0"/>
            <a:chExt cx="6014695" cy="13732929"/>
          </a:xfrm>
        </p:grpSpPr>
        <p:sp>
          <p:nvSpPr>
            <p:cNvPr name="Freeform 4" id="4"/>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5" id="5"/>
          <p:cNvGrpSpPr/>
          <p:nvPr/>
        </p:nvGrpSpPr>
        <p:grpSpPr>
          <a:xfrm rot="0">
            <a:off x="17336958" y="0"/>
            <a:ext cx="3882838" cy="10299697"/>
            <a:chOff x="0" y="0"/>
            <a:chExt cx="5177117" cy="13732929"/>
          </a:xfrm>
        </p:grpSpPr>
        <p:sp>
          <p:nvSpPr>
            <p:cNvPr name="Freeform 6" id="6"/>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7" id="7"/>
          <p:cNvGrpSpPr/>
          <p:nvPr/>
        </p:nvGrpSpPr>
        <p:grpSpPr>
          <a:xfrm rot="0">
            <a:off x="16330299" y="4584697"/>
            <a:ext cx="4889497" cy="5715000"/>
            <a:chOff x="0" y="0"/>
            <a:chExt cx="6519329" cy="7620000"/>
          </a:xfrm>
        </p:grpSpPr>
        <p:sp>
          <p:nvSpPr>
            <p:cNvPr name="Freeform 8" id="8"/>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9" id="9"/>
          <p:cNvGrpSpPr/>
          <p:nvPr/>
        </p:nvGrpSpPr>
        <p:grpSpPr>
          <a:xfrm rot="0">
            <a:off x="16933546" y="0"/>
            <a:ext cx="4281488" cy="10299697"/>
            <a:chOff x="0" y="0"/>
            <a:chExt cx="5708650" cy="13732929"/>
          </a:xfrm>
        </p:grpSpPr>
        <p:sp>
          <p:nvSpPr>
            <p:cNvPr name="Freeform 10" id="10"/>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1" id="11"/>
          <p:cNvGrpSpPr/>
          <p:nvPr/>
        </p:nvGrpSpPr>
        <p:grpSpPr>
          <a:xfrm rot="0">
            <a:off x="0" y="6019800"/>
            <a:ext cx="673103" cy="4267200"/>
            <a:chOff x="0" y="0"/>
            <a:chExt cx="897471" cy="5689600"/>
          </a:xfrm>
        </p:grpSpPr>
        <p:sp>
          <p:nvSpPr>
            <p:cNvPr name="Freeform 12" id="12"/>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3" id="13"/>
          <p:cNvGrpSpPr/>
          <p:nvPr/>
        </p:nvGrpSpPr>
        <p:grpSpPr>
          <a:xfrm rot="0">
            <a:off x="1449662" y="1247171"/>
            <a:ext cx="14880637" cy="119355"/>
            <a:chOff x="0" y="0"/>
            <a:chExt cx="19840849" cy="159140"/>
          </a:xfrm>
        </p:grpSpPr>
        <p:sp>
          <p:nvSpPr>
            <p:cNvPr name="Freeform 14" id="14"/>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grpSp>
        <p:nvGrpSpPr>
          <p:cNvPr name="Group 15" id="15"/>
          <p:cNvGrpSpPr/>
          <p:nvPr/>
        </p:nvGrpSpPr>
        <p:grpSpPr>
          <a:xfrm rot="0">
            <a:off x="865553" y="1584997"/>
            <a:ext cx="16471405" cy="8021742"/>
            <a:chOff x="0" y="0"/>
            <a:chExt cx="4338148" cy="2112722"/>
          </a:xfrm>
        </p:grpSpPr>
        <p:sp>
          <p:nvSpPr>
            <p:cNvPr name="Freeform 16" id="16"/>
            <p:cNvSpPr/>
            <p:nvPr/>
          </p:nvSpPr>
          <p:spPr>
            <a:xfrm flipH="false" flipV="false" rot="0">
              <a:off x="0" y="0"/>
              <a:ext cx="4338148" cy="2112722"/>
            </a:xfrm>
            <a:custGeom>
              <a:avLst/>
              <a:gdLst/>
              <a:ahLst/>
              <a:cxnLst/>
              <a:rect r="r" b="b" t="t" l="l"/>
              <a:pathLst>
                <a:path h="2112722" w="4338148">
                  <a:moveTo>
                    <a:pt x="0" y="0"/>
                  </a:moveTo>
                  <a:lnTo>
                    <a:pt x="4338148" y="0"/>
                  </a:lnTo>
                  <a:lnTo>
                    <a:pt x="4338148" y="2112722"/>
                  </a:lnTo>
                  <a:lnTo>
                    <a:pt x="0" y="2112722"/>
                  </a:lnTo>
                  <a:close/>
                </a:path>
              </a:pathLst>
            </a:custGeom>
            <a:solidFill>
              <a:srgbClr val="FFFFFF"/>
            </a:solidFill>
          </p:spPr>
        </p:sp>
        <p:sp>
          <p:nvSpPr>
            <p:cNvPr name="TextBox 17" id="17"/>
            <p:cNvSpPr txBox="true"/>
            <p:nvPr/>
          </p:nvSpPr>
          <p:spPr>
            <a:xfrm>
              <a:off x="0" y="-38100"/>
              <a:ext cx="4338148" cy="2150822"/>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Object 18" id="18"/>
          <p:cNvGraphicFramePr/>
          <p:nvPr/>
        </p:nvGraphicFramePr>
        <p:xfrm>
          <a:off x="865553" y="1584997"/>
          <a:ext cx="7586157" cy="4274588"/>
        </p:xfrm>
        <a:graphic>
          <a:graphicData uri="http://schemas.openxmlformats.org/presentationml/2006/ole">
            <p:oleObj imgW="9105900" imgH="5791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19" id="19"/>
          <p:cNvSpPr txBox="true"/>
          <p:nvPr/>
        </p:nvSpPr>
        <p:spPr>
          <a:xfrm rot="0">
            <a:off x="7290643" y="297180"/>
            <a:ext cx="3706713"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GANTT CHART</a:t>
            </a:r>
          </a:p>
        </p:txBody>
      </p:sp>
      <p:sp>
        <p:nvSpPr>
          <p:cNvPr name="TextBox 20" id="20"/>
          <p:cNvSpPr txBox="true"/>
          <p:nvPr/>
        </p:nvSpPr>
        <p:spPr>
          <a:xfrm rot="0">
            <a:off x="17400491" y="9467762"/>
            <a:ext cx="3048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14</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5390629" y="297180"/>
            <a:ext cx="7506742"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SUMMARY / KEY TAKEAWAYS</a:t>
            </a:r>
          </a:p>
        </p:txBody>
      </p:sp>
      <p:sp>
        <p:nvSpPr>
          <p:cNvPr name="TextBox 3" id="3"/>
          <p:cNvSpPr txBox="true"/>
          <p:nvPr/>
        </p:nvSpPr>
        <p:spPr>
          <a:xfrm rot="0">
            <a:off x="1028700" y="2703496"/>
            <a:ext cx="16230600" cy="4606290"/>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a:t>
            </a:r>
            <a:r>
              <a:rPr lang="en-US" sz="2400">
                <a:solidFill>
                  <a:srgbClr val="000000"/>
                </a:solidFill>
                <a:latin typeface="Times New Roman"/>
                <a:ea typeface="Times New Roman"/>
                <a:cs typeface="Times New Roman"/>
                <a:sym typeface="Times New Roman"/>
              </a:rPr>
              <a:t>he reviewed literature confirms that hardware-rooted attestation and trusted-execution research is mature and well established, but almost exclusively focused on verifying trust at a single point in time.</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Continuous, runtime-level integrity verification  especially for autonomous, high-privilege AI agents  remains a significantly under-explored research direction.</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Recent 2024–2025 work signals growing recognition of AI agent security as a distinct problem space, but no unified framework yet combines hardware attestation, policy enforcement, and human oversight.</a:t>
            </a:r>
          </a:p>
          <a:p>
            <a:pPr algn="just">
              <a:lnSpc>
                <a:spcPts val="3359"/>
              </a:lnSpc>
            </a:pP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These findings directly justify the proposed system: a framework that treats trust as an ongoing, verifiable process rather than a one-time checkpoint, ensuring AI agents remain accountable and controllable throughout their operational lifetime.</a:t>
            </a:r>
          </a:p>
        </p:txBody>
      </p:sp>
      <p:sp>
        <p:nvSpPr>
          <p:cNvPr name="AutoShape 4" id="4"/>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16753451" y="0"/>
            <a:ext cx="4511021" cy="10299697"/>
            <a:chOff x="0" y="0"/>
            <a:chExt cx="6014695" cy="13732929"/>
          </a:xfrm>
        </p:grpSpPr>
        <p:sp>
          <p:nvSpPr>
            <p:cNvPr name="Freeform 6" id="6"/>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7" id="7"/>
          <p:cNvGrpSpPr/>
          <p:nvPr/>
        </p:nvGrpSpPr>
        <p:grpSpPr>
          <a:xfrm rot="0">
            <a:off x="17386396" y="0"/>
            <a:ext cx="3882838" cy="10299697"/>
            <a:chOff x="0" y="0"/>
            <a:chExt cx="5177117" cy="13732929"/>
          </a:xfrm>
        </p:grpSpPr>
        <p:sp>
          <p:nvSpPr>
            <p:cNvPr name="Freeform 8" id="8"/>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9" id="9"/>
          <p:cNvGrpSpPr/>
          <p:nvPr/>
        </p:nvGrpSpPr>
        <p:grpSpPr>
          <a:xfrm rot="0">
            <a:off x="16379737" y="4584697"/>
            <a:ext cx="4889497" cy="5715000"/>
            <a:chOff x="0" y="0"/>
            <a:chExt cx="6519329" cy="7620000"/>
          </a:xfrm>
        </p:grpSpPr>
        <p:sp>
          <p:nvSpPr>
            <p:cNvPr name="Freeform 10" id="10"/>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1" id="11"/>
          <p:cNvGrpSpPr/>
          <p:nvPr/>
        </p:nvGrpSpPr>
        <p:grpSpPr>
          <a:xfrm rot="0">
            <a:off x="16982984" y="0"/>
            <a:ext cx="4281488" cy="10299697"/>
            <a:chOff x="0" y="0"/>
            <a:chExt cx="5708650" cy="13732929"/>
          </a:xfrm>
        </p:grpSpPr>
        <p:sp>
          <p:nvSpPr>
            <p:cNvPr name="Freeform 12" id="12"/>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3" id="13"/>
          <p:cNvGrpSpPr/>
          <p:nvPr/>
        </p:nvGrpSpPr>
        <p:grpSpPr>
          <a:xfrm rot="0">
            <a:off x="0" y="6019800"/>
            <a:ext cx="673103" cy="4267200"/>
            <a:chOff x="0" y="0"/>
            <a:chExt cx="897471" cy="5689600"/>
          </a:xfrm>
        </p:grpSpPr>
        <p:sp>
          <p:nvSpPr>
            <p:cNvPr name="Freeform 14" id="14"/>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5" id="15"/>
          <p:cNvGrpSpPr/>
          <p:nvPr/>
        </p:nvGrpSpPr>
        <p:grpSpPr>
          <a:xfrm rot="0">
            <a:off x="1352779" y="1235452"/>
            <a:ext cx="14880637" cy="119355"/>
            <a:chOff x="0" y="0"/>
            <a:chExt cx="19840849" cy="159140"/>
          </a:xfrm>
        </p:grpSpPr>
        <p:sp>
          <p:nvSpPr>
            <p:cNvPr name="Freeform 16" id="16"/>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7" id="17"/>
          <p:cNvSpPr txBox="true"/>
          <p:nvPr/>
        </p:nvSpPr>
        <p:spPr>
          <a:xfrm rot="0">
            <a:off x="17400491" y="9467762"/>
            <a:ext cx="3048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15</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469386" y="297180"/>
            <a:ext cx="3349228"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REFERENCES</a:t>
            </a:r>
          </a:p>
        </p:txBody>
      </p:sp>
      <p:sp>
        <p:nvSpPr>
          <p:cNvPr name="TextBox 3" id="3"/>
          <p:cNvSpPr txBox="true"/>
          <p:nvPr/>
        </p:nvSpPr>
        <p:spPr>
          <a:xfrm rot="0">
            <a:off x="1028700" y="1764030"/>
            <a:ext cx="16230600" cy="6701790"/>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 J. M. McCune, Y. Li, N. Qu, Z. Zhou, A. Datta, V. Gligor, and A. Perrig, "TrustVisor: Efficient TCB Reduction and Attestation," Proceedings of the IEEE Symposium on Security and Privacy (S&amp;P), 2010.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[2] V. Costan and S. Devadas, "Intel SGX Explained," IACR Cryptology ePrint Archive, 2016.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[3] T. Abera et al., "C-FLAT: Control-Flow Attestation for Embedded Systems Software," IEEE, 2016.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[4] S. Arnautov et al., "SCONE: Secure Linux Containers with Intel SGX," Proceedings of the 12th USENIX Symposium on Operating Systems Design and Implementation (OSDI), 2016.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[5] V. Costan, I. Lebedev, and S. Devadas, "Sanctum: Minimal Hardware Extensions for Strong Software Isolation," Proceedings of the 25th USENIX Security Symposium, 2016.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[6] M. Lee, T. Kim, and others, "Inferring Fine-Grained Control Flow Inside SGX Enclaves with Branch Shadowing," Proceedings of the 26th USENIX Security Symposium, 2017.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[7] A. Tsai et al., "Gramine: A Library OS for Confidential Computing," Proceedings of EuroSys, 2020.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[8] D. Lee et al., "Keystone: An Open Framework for Architecting Trusted Execution Environments," Proceedings of the Fifteenth European Conference on Computer Systems (EuroSys), 2020.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[9] Trusted Computing Group, "Trusted Platform Module Library Specification, Family 2.0, Level 00, Revision 1.59," Trusted Computing Group, 2023.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[10] Runtime Integrity Verification Using TPM, IEEE, 2023. </a:t>
            </a:r>
          </a:p>
        </p:txBody>
      </p:sp>
      <p:sp>
        <p:nvSpPr>
          <p:cNvPr name="AutoShape 4" id="4"/>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5" id="5"/>
          <p:cNvGrpSpPr/>
          <p:nvPr/>
        </p:nvGrpSpPr>
        <p:grpSpPr>
          <a:xfrm rot="0">
            <a:off x="16753451" y="0"/>
            <a:ext cx="4511021" cy="10299697"/>
            <a:chOff x="0" y="0"/>
            <a:chExt cx="6014695" cy="13732929"/>
          </a:xfrm>
        </p:grpSpPr>
        <p:sp>
          <p:nvSpPr>
            <p:cNvPr name="Freeform 6" id="6"/>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7" id="7"/>
          <p:cNvGrpSpPr/>
          <p:nvPr/>
        </p:nvGrpSpPr>
        <p:grpSpPr>
          <a:xfrm rot="0">
            <a:off x="17386396" y="0"/>
            <a:ext cx="3882838" cy="10299697"/>
            <a:chOff x="0" y="0"/>
            <a:chExt cx="5177117" cy="13732929"/>
          </a:xfrm>
        </p:grpSpPr>
        <p:sp>
          <p:nvSpPr>
            <p:cNvPr name="Freeform 8" id="8"/>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9" id="9"/>
          <p:cNvGrpSpPr/>
          <p:nvPr/>
        </p:nvGrpSpPr>
        <p:grpSpPr>
          <a:xfrm rot="0">
            <a:off x="16379737" y="4584697"/>
            <a:ext cx="4889497" cy="5715000"/>
            <a:chOff x="0" y="0"/>
            <a:chExt cx="6519329" cy="7620000"/>
          </a:xfrm>
        </p:grpSpPr>
        <p:sp>
          <p:nvSpPr>
            <p:cNvPr name="Freeform 10" id="10"/>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1" id="11"/>
          <p:cNvGrpSpPr/>
          <p:nvPr/>
        </p:nvGrpSpPr>
        <p:grpSpPr>
          <a:xfrm rot="0">
            <a:off x="16982984" y="0"/>
            <a:ext cx="4281488" cy="10299697"/>
            <a:chOff x="0" y="0"/>
            <a:chExt cx="5708650" cy="13732929"/>
          </a:xfrm>
        </p:grpSpPr>
        <p:sp>
          <p:nvSpPr>
            <p:cNvPr name="Freeform 12" id="12"/>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3" id="13"/>
          <p:cNvGrpSpPr/>
          <p:nvPr/>
        </p:nvGrpSpPr>
        <p:grpSpPr>
          <a:xfrm rot="0">
            <a:off x="0" y="6019800"/>
            <a:ext cx="673103" cy="4267200"/>
            <a:chOff x="0" y="0"/>
            <a:chExt cx="897471" cy="5689600"/>
          </a:xfrm>
        </p:grpSpPr>
        <p:sp>
          <p:nvSpPr>
            <p:cNvPr name="Freeform 14" id="14"/>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5" id="15"/>
          <p:cNvGrpSpPr/>
          <p:nvPr/>
        </p:nvGrpSpPr>
        <p:grpSpPr>
          <a:xfrm rot="0">
            <a:off x="1352779" y="1235452"/>
            <a:ext cx="14880637" cy="119355"/>
            <a:chOff x="0" y="0"/>
            <a:chExt cx="19840849" cy="159140"/>
          </a:xfrm>
        </p:grpSpPr>
        <p:sp>
          <p:nvSpPr>
            <p:cNvPr name="Freeform 16" id="16"/>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7" id="17"/>
          <p:cNvSpPr txBox="true"/>
          <p:nvPr/>
        </p:nvSpPr>
        <p:spPr>
          <a:xfrm rot="0">
            <a:off x="17400491" y="9467762"/>
            <a:ext cx="3048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16</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344930"/>
            <a:ext cx="16230600" cy="7539990"/>
          </a:xfrm>
          <a:prstGeom prst="rect">
            <a:avLst/>
          </a:prstGeom>
        </p:spPr>
        <p:txBody>
          <a:bodyPr anchor="t" rtlCol="false" tIns="0" lIns="0" bIns="0" rIns="0">
            <a:spAutoFit/>
          </a:bodyPr>
          <a:lstStyle/>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[11] "Trusted Execution Environments: A Survey," ACM Computing Surveys, 2023.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[12] "Profiling with Trust: System Monitoring from Trusted Execution Environments," USENIX, 2023.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[13] "Scalable Runtime Remote Attestation for Complex Systems," IEEE, 2023.</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[14] S. Ott, M. Kamhuber, J. Pecholt, and S. Wessel, "Universal Remote Attestation for Cloud and Edge Platforms," Proceedings of the 18th International Conference on Availability, Reliability and Security (ARES), 2023.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[15] M. Ambrosin, M. Conti, A. Ibrahim, G. Neven, and M. Sadeghi-Yekta, "A Survey on Remote Attestation," IEEE Communications Surveys &amp; Tutorials, 2024.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[16] Confidential Computing Consortium, "Confidential Computing Architecture," Linux Foundation, 2024.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[17] "Hardware Roots of Trust for Secure Systems," ACM, 2024.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[18] Y. Xu et al., "WATZ: A Trusted WebAssembly Runtime Environment with Remote Attestation for TrustZone," IEEE, 2024.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[19] K. Shang, J. Lin, Y. Qin, M. Shen, H. Ma, W. Feng, and D. Feng, "CCxTrust: Confidential Computing Platform Based on TEE and TPM Collaborative Trust," 2024.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[20] "Separate but Together: Integrating Remote Attestation into TLS," IEEE, 2024.</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[21] "Hardware-Assisted Security for AI Agents," IEEE, 2025.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[22] "Agent Security Bench," arXiv, 2025.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[23] "AI Supply Chain Security: Threats and Defenses," IEEE, 2025.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[24] "TEEcorrelate: An Information-Preserving Defense against Performance-Counter Attacks on TEEs," IEEE, 2025. </a:t>
            </a:r>
          </a:p>
          <a:p>
            <a:pPr algn="just" marL="518160" indent="-259080" lvl="1">
              <a:lnSpc>
                <a:spcPts val="3359"/>
              </a:lnSpc>
              <a:buFont typeface="Arial"/>
              <a:buChar char="•"/>
            </a:pPr>
            <a:r>
              <a:rPr lang="en-US" sz="2400">
                <a:solidFill>
                  <a:srgbClr val="000000"/>
                </a:solidFill>
                <a:latin typeface="Times New Roman"/>
                <a:ea typeface="Times New Roman"/>
                <a:cs typeface="Times New Roman"/>
                <a:sym typeface="Times New Roman"/>
              </a:rPr>
              <a:t>[25] "A Survey on Confidential Computing," IEEE, 2025.</a:t>
            </a:r>
          </a:p>
        </p:txBody>
      </p:sp>
      <p:sp>
        <p:nvSpPr>
          <p:cNvPr name="AutoShape 3" id="3"/>
          <p:cNvSpPr/>
          <p:nvPr/>
        </p:nvSpPr>
        <p:spPr>
          <a:xfrm flipH="true">
            <a:off x="16186622" y="5819196"/>
            <a:ext cx="7159602" cy="4779195"/>
          </a:xfrm>
          <a:prstGeom prst="line">
            <a:avLst/>
          </a:prstGeom>
          <a:ln cap="rnd" w="9525">
            <a:solidFill>
              <a:srgbClr val="FFFFFF"/>
            </a:solidFill>
            <a:prstDash val="solid"/>
            <a:headEnd type="none" len="sm" w="sm"/>
            <a:tailEnd type="none" len="sm" w="sm"/>
          </a:ln>
        </p:spPr>
      </p:sp>
      <p:grpSp>
        <p:nvGrpSpPr>
          <p:cNvPr name="Group 4" id="4"/>
          <p:cNvGrpSpPr/>
          <p:nvPr/>
        </p:nvGrpSpPr>
        <p:grpSpPr>
          <a:xfrm rot="0">
            <a:off x="16704013" y="0"/>
            <a:ext cx="4511021" cy="10299697"/>
            <a:chOff x="0" y="0"/>
            <a:chExt cx="6014695" cy="13732929"/>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6" id="6"/>
          <p:cNvGrpSpPr/>
          <p:nvPr/>
        </p:nvGrpSpPr>
        <p:grpSpPr>
          <a:xfrm rot="0">
            <a:off x="17336958" y="0"/>
            <a:ext cx="3882838" cy="10299697"/>
            <a:chOff x="0" y="0"/>
            <a:chExt cx="5177117" cy="13732929"/>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8" id="8"/>
          <p:cNvGrpSpPr/>
          <p:nvPr/>
        </p:nvGrpSpPr>
        <p:grpSpPr>
          <a:xfrm rot="0">
            <a:off x="16330299" y="4584697"/>
            <a:ext cx="4889497" cy="5715000"/>
            <a:chOff x="0" y="0"/>
            <a:chExt cx="6519329"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0" id="10"/>
          <p:cNvGrpSpPr/>
          <p:nvPr/>
        </p:nvGrpSpPr>
        <p:grpSpPr>
          <a:xfrm rot="0">
            <a:off x="16933546" y="0"/>
            <a:ext cx="4281488" cy="10299697"/>
            <a:chOff x="0" y="0"/>
            <a:chExt cx="5708650" cy="13732929"/>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2" id="12"/>
          <p:cNvGrpSpPr/>
          <p:nvPr/>
        </p:nvGrpSpPr>
        <p:grpSpPr>
          <a:xfrm rot="0">
            <a:off x="0" y="6019800"/>
            <a:ext cx="673103" cy="4267200"/>
            <a:chOff x="0" y="0"/>
            <a:chExt cx="897471" cy="5689600"/>
          </a:xfrm>
        </p:grpSpPr>
        <p:sp>
          <p:nvSpPr>
            <p:cNvPr name="Freeform 13" id="13"/>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sp>
        <p:nvSpPr>
          <p:cNvPr name="TextBox 14" id="14"/>
          <p:cNvSpPr txBox="true"/>
          <p:nvPr/>
        </p:nvSpPr>
        <p:spPr>
          <a:xfrm rot="0">
            <a:off x="17400491" y="9467762"/>
            <a:ext cx="3048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17</a:t>
            </a: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show="false">
  <p:cSld>
    <p:spTree>
      <p:nvGrpSpPr>
        <p:cNvPr id="1" name=""/>
        <p:cNvGrpSpPr/>
        <p:nvPr/>
      </p:nvGrpSpPr>
      <p:grpSpPr>
        <a:xfrm>
          <a:off x="0" y="0"/>
          <a:ext cx="0" cy="0"/>
          <a:chOff x="0" y="0"/>
          <a:chExt cx="0" cy="0"/>
        </a:xfrm>
      </p:grpSpPr>
      <p:sp>
        <p:nvSpPr>
          <p:cNvPr name="TextBox 2" id="2"/>
          <p:cNvSpPr txBox="true"/>
          <p:nvPr/>
        </p:nvSpPr>
        <p:spPr>
          <a:xfrm rot="0">
            <a:off x="6097488" y="297180"/>
            <a:ext cx="6093023" cy="731520"/>
          </a:xfrm>
          <a:prstGeom prst="rect">
            <a:avLst/>
          </a:prstGeom>
        </p:spPr>
        <p:txBody>
          <a:bodyPr anchor="t" rtlCol="false" tIns="0" lIns="0" bIns="0" rIns="0">
            <a:spAutoFit/>
          </a:bodyPr>
          <a:lstStyle/>
          <a:p>
            <a:pPr algn="ctr">
              <a:lnSpc>
                <a:spcPts val="5880"/>
              </a:lnSpc>
              <a:spcBef>
                <a:spcPct val="0"/>
              </a:spcBef>
            </a:pPr>
            <a:r>
              <a:rPr lang="en-US" sz="4200">
                <a:solidFill>
                  <a:srgbClr val="000000"/>
                </a:solidFill>
                <a:latin typeface="Times New Roman"/>
                <a:ea typeface="Times New Roman"/>
                <a:cs typeface="Times New Roman"/>
                <a:sym typeface="Times New Roman"/>
              </a:rPr>
              <a:t>PROOF OF ACCEPTANCE</a:t>
            </a:r>
          </a:p>
        </p:txBody>
      </p:sp>
      <p:sp>
        <p:nvSpPr>
          <p:cNvPr name="TextBox 3" id="3"/>
          <p:cNvSpPr txBox="true"/>
          <p:nvPr/>
        </p:nvSpPr>
        <p:spPr>
          <a:xfrm rot="0">
            <a:off x="690786" y="1564814"/>
            <a:ext cx="12076063" cy="3209925"/>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000000"/>
                </a:solidFill>
                <a:latin typeface="Times New Roman"/>
                <a:ea typeface="Times New Roman"/>
                <a:cs typeface="Times New Roman"/>
                <a:sym typeface="Times New Roman"/>
              </a:rPr>
              <a:t>Journal Name: Journal of Emerging Technologies and Innovative Research</a:t>
            </a:r>
          </a:p>
          <a:p>
            <a:pPr algn="l" marL="647700" indent="-323850" lvl="1">
              <a:lnSpc>
                <a:spcPts val="4200"/>
              </a:lnSpc>
              <a:buFont typeface="Arial"/>
              <a:buChar char="•"/>
            </a:pPr>
            <a:r>
              <a:rPr lang="en-US" sz="3000">
                <a:solidFill>
                  <a:srgbClr val="000000"/>
                </a:solidFill>
                <a:latin typeface="Times New Roman"/>
                <a:ea typeface="Times New Roman"/>
                <a:cs typeface="Times New Roman"/>
                <a:sym typeface="Times New Roman"/>
              </a:rPr>
              <a:t>Year of Consideration: 2021</a:t>
            </a:r>
          </a:p>
          <a:p>
            <a:pPr algn="l" marL="647700" indent="-323850" lvl="1">
              <a:lnSpc>
                <a:spcPts val="4200"/>
              </a:lnSpc>
              <a:buFont typeface="Arial"/>
              <a:buChar char="•"/>
            </a:pPr>
            <a:r>
              <a:rPr lang="en-US" sz="3000">
                <a:solidFill>
                  <a:srgbClr val="000000"/>
                </a:solidFill>
                <a:latin typeface="Times New Roman"/>
                <a:ea typeface="Times New Roman"/>
                <a:cs typeface="Times New Roman"/>
                <a:sym typeface="Times New Roman"/>
              </a:rPr>
              <a:t>Impact Factor: 7.95</a:t>
            </a:r>
          </a:p>
          <a:p>
            <a:pPr algn="l" marL="647700" indent="-323850" lvl="1">
              <a:lnSpc>
                <a:spcPts val="4200"/>
              </a:lnSpc>
              <a:buFont typeface="Arial"/>
              <a:buChar char="•"/>
            </a:pPr>
            <a:r>
              <a:rPr lang="en-US" sz="3000">
                <a:solidFill>
                  <a:srgbClr val="000000"/>
                </a:solidFill>
                <a:latin typeface="Times New Roman"/>
                <a:ea typeface="Times New Roman"/>
                <a:cs typeface="Times New Roman"/>
                <a:sym typeface="Times New Roman"/>
              </a:rPr>
              <a:t>Publication Frequency: - 2 per year</a:t>
            </a:r>
          </a:p>
          <a:p>
            <a:pPr algn="l" marL="647700" indent="-323850" lvl="1">
              <a:lnSpc>
                <a:spcPts val="4200"/>
              </a:lnSpc>
              <a:buFont typeface="Arial"/>
              <a:buChar char="•"/>
            </a:pPr>
            <a:r>
              <a:rPr lang="en-US" sz="3000">
                <a:solidFill>
                  <a:srgbClr val="000000"/>
                </a:solidFill>
                <a:latin typeface="Times New Roman"/>
                <a:ea typeface="Times New Roman"/>
                <a:cs typeface="Times New Roman"/>
                <a:sym typeface="Times New Roman"/>
              </a:rPr>
              <a:t>Paper Title: REVIEW ON DETECTION OF SQLi AND XSS ATTACKS</a:t>
            </a:r>
          </a:p>
          <a:p>
            <a:pPr algn="l" marL="647700" indent="-323850" lvl="1">
              <a:lnSpc>
                <a:spcPts val="4200"/>
              </a:lnSpc>
              <a:buFont typeface="Arial"/>
              <a:buChar char="•"/>
            </a:pPr>
            <a:r>
              <a:rPr lang="en-US" sz="3000">
                <a:solidFill>
                  <a:srgbClr val="000000"/>
                </a:solidFill>
                <a:latin typeface="Times New Roman"/>
                <a:ea typeface="Times New Roman"/>
                <a:cs typeface="Times New Roman"/>
                <a:sym typeface="Times New Roman"/>
              </a:rPr>
              <a:t>Published Date with DOI number: 2021/05/12 DOI:123456789632</a:t>
            </a:r>
          </a:p>
        </p:txBody>
      </p:sp>
      <p:sp>
        <p:nvSpPr>
          <p:cNvPr name="TextBox 4" id="4"/>
          <p:cNvSpPr txBox="true"/>
          <p:nvPr/>
        </p:nvSpPr>
        <p:spPr>
          <a:xfrm rot="0">
            <a:off x="3515385" y="6042651"/>
            <a:ext cx="11140560" cy="1474470"/>
          </a:xfrm>
          <a:prstGeom prst="rect">
            <a:avLst/>
          </a:prstGeom>
        </p:spPr>
        <p:txBody>
          <a:bodyPr anchor="t" rtlCol="false" tIns="0" lIns="0" bIns="0" rIns="0">
            <a:spAutoFit/>
          </a:bodyPr>
          <a:lstStyle/>
          <a:p>
            <a:pPr algn="ctr">
              <a:lnSpc>
                <a:spcPts val="5880"/>
              </a:lnSpc>
            </a:pPr>
            <a:r>
              <a:rPr lang="en-US" sz="4200">
                <a:solidFill>
                  <a:srgbClr val="000000"/>
                </a:solidFill>
                <a:latin typeface="Times New Roman"/>
                <a:ea typeface="Times New Roman"/>
                <a:cs typeface="Times New Roman"/>
                <a:sym typeface="Times New Roman"/>
              </a:rPr>
              <a:t>No Paper published , Can skip if no paper published</a:t>
            </a:r>
          </a:p>
          <a:p>
            <a:pPr algn="ctr">
              <a:lnSpc>
                <a:spcPts val="5880"/>
              </a:lnSpc>
              <a:spcBef>
                <a:spcPct val="0"/>
              </a:spcBef>
            </a:pPr>
            <a:r>
              <a:rPr lang="en-US" sz="4200">
                <a:solidFill>
                  <a:srgbClr val="000000"/>
                </a:solidFill>
                <a:latin typeface="Times New Roman"/>
                <a:ea typeface="Times New Roman"/>
                <a:cs typeface="Times New Roman"/>
                <a:sym typeface="Times New Roman"/>
              </a:rPr>
              <a:t>so i hid it.</a:t>
            </a:r>
          </a:p>
        </p:txBody>
      </p:sp>
      <p:sp>
        <p:nvSpPr>
          <p:cNvPr name="AutoShape 5" id="5"/>
          <p:cNvSpPr/>
          <p:nvPr/>
        </p:nvSpPr>
        <p:spPr>
          <a:xfrm flipH="true">
            <a:off x="16236060" y="5819196"/>
            <a:ext cx="7159602" cy="4779195"/>
          </a:xfrm>
          <a:prstGeom prst="line">
            <a:avLst/>
          </a:prstGeom>
          <a:ln cap="rnd" w="9525">
            <a:solidFill>
              <a:srgbClr val="FFFFFF"/>
            </a:solidFill>
            <a:prstDash val="solid"/>
            <a:headEnd type="none" len="sm" w="sm"/>
            <a:tailEnd type="none" len="sm" w="sm"/>
          </a:ln>
        </p:spPr>
      </p:sp>
      <p:grpSp>
        <p:nvGrpSpPr>
          <p:cNvPr name="Group 6" id="6"/>
          <p:cNvGrpSpPr/>
          <p:nvPr/>
        </p:nvGrpSpPr>
        <p:grpSpPr>
          <a:xfrm rot="0">
            <a:off x="16753451" y="0"/>
            <a:ext cx="4511021" cy="10299697"/>
            <a:chOff x="0" y="0"/>
            <a:chExt cx="6014695" cy="13732929"/>
          </a:xfrm>
        </p:grpSpPr>
        <p:sp>
          <p:nvSpPr>
            <p:cNvPr name="Freeform 7" id="7"/>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8" id="8"/>
          <p:cNvGrpSpPr/>
          <p:nvPr/>
        </p:nvGrpSpPr>
        <p:grpSpPr>
          <a:xfrm rot="0">
            <a:off x="17386396" y="0"/>
            <a:ext cx="3882838" cy="10299697"/>
            <a:chOff x="0" y="0"/>
            <a:chExt cx="5177117" cy="13732929"/>
          </a:xfrm>
        </p:grpSpPr>
        <p:sp>
          <p:nvSpPr>
            <p:cNvPr name="Freeform 9" id="9"/>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10" id="10"/>
          <p:cNvGrpSpPr/>
          <p:nvPr/>
        </p:nvGrpSpPr>
        <p:grpSpPr>
          <a:xfrm rot="0">
            <a:off x="16379737" y="4584697"/>
            <a:ext cx="4889497" cy="5715000"/>
            <a:chOff x="0" y="0"/>
            <a:chExt cx="6519329" cy="7620000"/>
          </a:xfrm>
        </p:grpSpPr>
        <p:sp>
          <p:nvSpPr>
            <p:cNvPr name="Freeform 11" id="11"/>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2" id="12"/>
          <p:cNvGrpSpPr/>
          <p:nvPr/>
        </p:nvGrpSpPr>
        <p:grpSpPr>
          <a:xfrm rot="0">
            <a:off x="16982984" y="0"/>
            <a:ext cx="4281488" cy="10299697"/>
            <a:chOff x="0" y="0"/>
            <a:chExt cx="5708650" cy="13732929"/>
          </a:xfrm>
        </p:grpSpPr>
        <p:sp>
          <p:nvSpPr>
            <p:cNvPr name="Freeform 13" id="13"/>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4" id="14"/>
          <p:cNvGrpSpPr/>
          <p:nvPr/>
        </p:nvGrpSpPr>
        <p:grpSpPr>
          <a:xfrm rot="0">
            <a:off x="0" y="6019800"/>
            <a:ext cx="673103" cy="4267200"/>
            <a:chOff x="0" y="0"/>
            <a:chExt cx="897471" cy="5689600"/>
          </a:xfrm>
        </p:grpSpPr>
        <p:sp>
          <p:nvSpPr>
            <p:cNvPr name="Freeform 15" id="15"/>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6" id="16"/>
          <p:cNvGrpSpPr/>
          <p:nvPr/>
        </p:nvGrpSpPr>
        <p:grpSpPr>
          <a:xfrm rot="0">
            <a:off x="1352779" y="1235452"/>
            <a:ext cx="14880637" cy="119355"/>
            <a:chOff x="0" y="0"/>
            <a:chExt cx="19840849" cy="159140"/>
          </a:xfrm>
        </p:grpSpPr>
        <p:sp>
          <p:nvSpPr>
            <p:cNvPr name="Freeform 17" id="17"/>
            <p:cNvSpPr/>
            <p:nvPr/>
          </p:nvSpPr>
          <p:spPr>
            <a:xfrm flipH="false" flipV="false" rot="0">
              <a:off x="0" y="0"/>
              <a:ext cx="19840888" cy="159178"/>
            </a:xfrm>
            <a:custGeom>
              <a:avLst/>
              <a:gdLst/>
              <a:ahLst/>
              <a:cxnLst/>
              <a:rect r="r" b="b" t="t" l="l"/>
              <a:pathLst>
                <a:path h="159178" w="19840888">
                  <a:moveTo>
                    <a:pt x="0" y="0"/>
                  </a:moveTo>
                  <a:lnTo>
                    <a:pt x="19840888" y="0"/>
                  </a:lnTo>
                  <a:lnTo>
                    <a:pt x="19840888" y="159178"/>
                  </a:lnTo>
                  <a:lnTo>
                    <a:pt x="0" y="159178"/>
                  </a:lnTo>
                  <a:close/>
                </a:path>
              </a:pathLst>
            </a:custGeom>
            <a:solidFill>
              <a:srgbClr val="2C4A6E"/>
            </a:solidFill>
            <a:ln w="25400" cap="sq">
              <a:solidFill>
                <a:srgbClr val="2C4A6E"/>
              </a:solidFill>
              <a:prstDash val="solid"/>
              <a:miter/>
            </a:ln>
          </p:spPr>
        </p:sp>
      </p:grpSp>
      <p:sp>
        <p:nvSpPr>
          <p:cNvPr name="TextBox 18" id="18"/>
          <p:cNvSpPr txBox="true"/>
          <p:nvPr/>
        </p:nvSpPr>
        <p:spPr>
          <a:xfrm rot="0">
            <a:off x="17400491" y="9467762"/>
            <a:ext cx="304800" cy="415290"/>
          </a:xfrm>
          <a:prstGeom prst="rect">
            <a:avLst/>
          </a:prstGeom>
        </p:spPr>
        <p:txBody>
          <a:bodyPr anchor="t" rtlCol="false" tIns="0" lIns="0" bIns="0" rIns="0">
            <a:spAutoFit/>
          </a:bodyPr>
          <a:lstStyle/>
          <a:p>
            <a:pPr algn="ctr">
              <a:lnSpc>
                <a:spcPts val="3359"/>
              </a:lnSpc>
              <a:spcBef>
                <a:spcPct val="0"/>
              </a:spcBef>
            </a:pPr>
            <a:r>
              <a:rPr lang="en-US" b="true" sz="2400">
                <a:solidFill>
                  <a:srgbClr val="FFFFFF"/>
                </a:solidFill>
                <a:latin typeface="Times New Roman Bold"/>
                <a:ea typeface="Times New Roman Bold"/>
                <a:cs typeface="Times New Roman Bold"/>
                <a:sym typeface="Times New Roman Bold"/>
              </a:rPr>
              <a:t>18</a:t>
            </a: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p:cSld>
    <p:bg>
      <p:bgPr>
        <a:solidFill>
          <a:srgbClr val="1A2E4A"/>
        </a:solidFill>
      </p:bgPr>
    </p:bg>
    <p:spTree>
      <p:nvGrpSpPr>
        <p:cNvPr id="1" name=""/>
        <p:cNvGrpSpPr/>
        <p:nvPr/>
      </p:nvGrpSpPr>
      <p:grpSpPr>
        <a:xfrm>
          <a:off x="0" y="0"/>
          <a:ext cx="0" cy="0"/>
          <a:chOff x="0" y="0"/>
          <a:chExt cx="0" cy="0"/>
        </a:xfrm>
      </p:grpSpPr>
      <p:sp>
        <p:nvSpPr>
          <p:cNvPr name="TextBox 2" id="2"/>
          <p:cNvSpPr txBox="true"/>
          <p:nvPr/>
        </p:nvSpPr>
        <p:spPr>
          <a:xfrm rot="0">
            <a:off x="5919341" y="3181668"/>
            <a:ext cx="6449318" cy="1123315"/>
          </a:xfrm>
          <a:prstGeom prst="rect">
            <a:avLst/>
          </a:prstGeom>
        </p:spPr>
        <p:txBody>
          <a:bodyPr anchor="t" rtlCol="false" tIns="0" lIns="0" bIns="0" rIns="0">
            <a:spAutoFit/>
          </a:bodyPr>
          <a:lstStyle/>
          <a:p>
            <a:pPr algn="ctr">
              <a:lnSpc>
                <a:spcPts val="8959"/>
              </a:lnSpc>
              <a:spcBef>
                <a:spcPct val="0"/>
              </a:spcBef>
            </a:pPr>
            <a:r>
              <a:rPr lang="en-US" sz="6399">
                <a:solidFill>
                  <a:srgbClr val="FFFFFF"/>
                </a:solidFill>
                <a:latin typeface="Times New Roman"/>
                <a:ea typeface="Times New Roman"/>
                <a:cs typeface="Times New Roman"/>
                <a:sym typeface="Times New Roman"/>
              </a:rPr>
              <a:t>ANY QUESTIONS</a:t>
            </a:r>
          </a:p>
        </p:txBody>
      </p:sp>
      <p:sp>
        <p:nvSpPr>
          <p:cNvPr name="TextBox 3" id="3"/>
          <p:cNvSpPr txBox="true"/>
          <p:nvPr/>
        </p:nvSpPr>
        <p:spPr>
          <a:xfrm rot="0">
            <a:off x="7053709" y="4892341"/>
            <a:ext cx="4180582" cy="991235"/>
          </a:xfrm>
          <a:prstGeom prst="rect">
            <a:avLst/>
          </a:prstGeom>
        </p:spPr>
        <p:txBody>
          <a:bodyPr anchor="t" rtlCol="false" tIns="0" lIns="0" bIns="0" rIns="0">
            <a:spAutoFit/>
          </a:bodyPr>
          <a:lstStyle/>
          <a:p>
            <a:pPr algn="ctr">
              <a:lnSpc>
                <a:spcPts val="7840"/>
              </a:lnSpc>
              <a:spcBef>
                <a:spcPct val="0"/>
              </a:spcBef>
            </a:pPr>
            <a:r>
              <a:rPr lang="en-US" sz="5600">
                <a:solidFill>
                  <a:srgbClr val="FFFFFF"/>
                </a:solidFill>
                <a:latin typeface="Times New Roman"/>
                <a:ea typeface="Times New Roman"/>
                <a:cs typeface="Times New Roman"/>
                <a:sym typeface="Times New Roman"/>
              </a:rPr>
              <a:t>THANK YOU</a:t>
            </a:r>
          </a:p>
        </p:txBody>
      </p:sp>
      <p:grpSp>
        <p:nvGrpSpPr>
          <p:cNvPr name="Group 4" id="4"/>
          <p:cNvGrpSpPr/>
          <p:nvPr/>
        </p:nvGrpSpPr>
        <p:grpSpPr>
          <a:xfrm rot="0">
            <a:off x="0" y="6019800"/>
            <a:ext cx="673103" cy="4267200"/>
            <a:chOff x="0" y="0"/>
            <a:chExt cx="897471" cy="5689600"/>
          </a:xfrm>
        </p:grpSpPr>
        <p:sp>
          <p:nvSpPr>
            <p:cNvPr name="Freeform 5" id="5"/>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sp>
        <p:nvSpPr>
          <p:cNvPr name="AutoShape 6" id="6"/>
          <p:cNvSpPr/>
          <p:nvPr/>
        </p:nvSpPr>
        <p:spPr>
          <a:xfrm flipH="true">
            <a:off x="16186622" y="5819196"/>
            <a:ext cx="7159602" cy="4779195"/>
          </a:xfrm>
          <a:prstGeom prst="line">
            <a:avLst/>
          </a:prstGeom>
          <a:ln cap="rnd" w="9525">
            <a:solidFill>
              <a:srgbClr val="FFFFFF"/>
            </a:solidFill>
            <a:prstDash val="solid"/>
            <a:headEnd type="none" len="sm" w="sm"/>
            <a:tailEnd type="none" len="sm" w="sm"/>
          </a:ln>
        </p:spPr>
      </p:sp>
      <p:grpSp>
        <p:nvGrpSpPr>
          <p:cNvPr name="Group 7" id="7"/>
          <p:cNvGrpSpPr/>
          <p:nvPr/>
        </p:nvGrpSpPr>
        <p:grpSpPr>
          <a:xfrm rot="0">
            <a:off x="16704013" y="0"/>
            <a:ext cx="4511021" cy="10299697"/>
            <a:chOff x="0" y="0"/>
            <a:chExt cx="6014695" cy="13732929"/>
          </a:xfrm>
        </p:grpSpPr>
        <p:sp>
          <p:nvSpPr>
            <p:cNvPr name="Freeform 8" id="8"/>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90C226">
                <a:alpha val="8627"/>
              </a:srgbClr>
            </a:solidFill>
          </p:spPr>
        </p:sp>
      </p:grpSp>
      <p:grpSp>
        <p:nvGrpSpPr>
          <p:cNvPr name="Group 9" id="9"/>
          <p:cNvGrpSpPr/>
          <p:nvPr/>
        </p:nvGrpSpPr>
        <p:grpSpPr>
          <a:xfrm rot="0">
            <a:off x="17336958" y="0"/>
            <a:ext cx="3882838" cy="10299697"/>
            <a:chOff x="0" y="0"/>
            <a:chExt cx="5177117" cy="13732929"/>
          </a:xfrm>
        </p:grpSpPr>
        <p:sp>
          <p:nvSpPr>
            <p:cNvPr name="Freeform 10" id="10"/>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90C226">
                <a:alpha val="3922"/>
              </a:srgbClr>
            </a:solidFill>
          </p:spPr>
        </p:sp>
      </p:grpSp>
      <p:grpSp>
        <p:nvGrpSpPr>
          <p:cNvPr name="Group 11" id="11"/>
          <p:cNvGrpSpPr/>
          <p:nvPr/>
        </p:nvGrpSpPr>
        <p:grpSpPr>
          <a:xfrm rot="0">
            <a:off x="16330299" y="4584697"/>
            <a:ext cx="4889497" cy="5715000"/>
            <a:chOff x="0" y="0"/>
            <a:chExt cx="6519329" cy="7620000"/>
          </a:xfrm>
        </p:grpSpPr>
        <p:sp>
          <p:nvSpPr>
            <p:cNvPr name="Freeform 12" id="12"/>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54A021">
                <a:alpha val="51765"/>
              </a:srgbClr>
            </a:solidFill>
          </p:spPr>
        </p:sp>
      </p:grpSp>
      <p:grpSp>
        <p:nvGrpSpPr>
          <p:cNvPr name="Group 13" id="13"/>
          <p:cNvGrpSpPr/>
          <p:nvPr/>
        </p:nvGrpSpPr>
        <p:grpSpPr>
          <a:xfrm rot="0">
            <a:off x="16933546" y="0"/>
            <a:ext cx="4281488" cy="10299697"/>
            <a:chOff x="0" y="0"/>
            <a:chExt cx="5708650" cy="13732929"/>
          </a:xfrm>
        </p:grpSpPr>
        <p:sp>
          <p:nvSpPr>
            <p:cNvPr name="Freeform 14" id="14"/>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3F7819">
                <a:alpha val="48627"/>
              </a:srgbClr>
            </a:solidFill>
          </p:spPr>
        </p:sp>
      </p:grpSp>
      <p:grpSp>
        <p:nvGrpSpPr>
          <p:cNvPr name="Group 15" id="15"/>
          <p:cNvGrpSpPr/>
          <p:nvPr/>
        </p:nvGrpSpPr>
        <p:grpSpPr>
          <a:xfrm rot="0">
            <a:off x="0" y="6019800"/>
            <a:ext cx="673103" cy="4267200"/>
            <a:chOff x="0" y="0"/>
            <a:chExt cx="897471" cy="5689600"/>
          </a:xfrm>
        </p:grpSpPr>
        <p:sp>
          <p:nvSpPr>
            <p:cNvPr name="Freeform 16" id="16"/>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90C226">
                <a:alpha val="72157"/>
              </a:srgbClr>
            </a:solidFill>
          </p:spPr>
        </p:sp>
      </p:grpSp>
      <p:grpSp>
        <p:nvGrpSpPr>
          <p:cNvPr name="Group 17" id="17"/>
          <p:cNvGrpSpPr/>
          <p:nvPr/>
        </p:nvGrpSpPr>
        <p:grpSpPr>
          <a:xfrm rot="0">
            <a:off x="4140859" y="4543029"/>
            <a:ext cx="10006283" cy="119355"/>
            <a:chOff x="0" y="0"/>
            <a:chExt cx="13341710" cy="159140"/>
          </a:xfrm>
        </p:grpSpPr>
        <p:sp>
          <p:nvSpPr>
            <p:cNvPr name="Freeform 18" id="18"/>
            <p:cNvSpPr/>
            <p:nvPr/>
          </p:nvSpPr>
          <p:spPr>
            <a:xfrm flipH="false" flipV="false" rot="0">
              <a:off x="0" y="0"/>
              <a:ext cx="13341748" cy="159178"/>
            </a:xfrm>
            <a:custGeom>
              <a:avLst/>
              <a:gdLst/>
              <a:ahLst/>
              <a:cxnLst/>
              <a:rect r="r" b="b" t="t" l="l"/>
              <a:pathLst>
                <a:path h="159178" w="13341748">
                  <a:moveTo>
                    <a:pt x="0" y="0"/>
                  </a:moveTo>
                  <a:lnTo>
                    <a:pt x="13341748" y="0"/>
                  </a:lnTo>
                  <a:lnTo>
                    <a:pt x="13341748" y="159178"/>
                  </a:lnTo>
                  <a:lnTo>
                    <a:pt x="0" y="159178"/>
                  </a:lnTo>
                  <a:close/>
                </a:path>
              </a:pathLst>
            </a:custGeom>
            <a:solidFill>
              <a:srgbClr val="2C4A6E"/>
            </a:solidFill>
            <a:ln w="25400" cap="sq">
              <a:solidFill>
                <a:srgbClr val="2C4A6E"/>
              </a:solidFill>
              <a:prstDash val="solid"/>
              <a:miter/>
            </a:ln>
          </p:spPr>
        </p:sp>
      </p:gr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DAHU6DL5Sio</dc:identifier>
  <dcterms:modified xsi:type="dcterms:W3CDTF">2011-08-01T06:04:30Z</dcterms:modified>
  <cp:revision>1</cp:revision>
  <dc:title>Literature Survey Presentation - Trustedge</dc:title>
</cp:coreProperties>
</file>