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mbria Bold" charset="1" panose="02040803050406030204"/>
      <p:regular r:id="rId21"/>
    </p:embeddedFont>
    <p:embeddedFont>
      <p:font typeface="Cambria Italics" charset="1" panose="020405030504060A0204"/>
      <p:regular r:id="rId22"/>
    </p:embeddedFont>
    <p:embeddedFont>
      <p:font typeface="Calibri (MS)" charset="1" panose="020F0502020204030204"/>
      <p:regular r:id="rId23"/>
    </p:embeddedFont>
    <p:embeddedFont>
      <p:font typeface="Trebuchet MS" charset="1" panose="020B0603020202020204"/>
      <p:regular r:id="rId24"/>
    </p:embeddedFont>
    <p:embeddedFont>
      <p:font typeface="Arial Italics" charset="1" panose="020B0604020202090204"/>
      <p:regular r:id="rId25"/>
    </p:embeddedFont>
    <p:embeddedFont>
      <p:font typeface="Arial Bold" charset="1" panose="020B0704020202020204"/>
      <p:regular r:id="rId26"/>
    </p:embeddedFont>
    <p:embeddedFont>
      <p:font typeface="Calibri (MS) Bold Italics" charset="1" panose="020F07020304040A0204"/>
      <p:regular r:id="rId27"/>
    </p:embeddedFont>
    <p:embeddedFont>
      <p:font typeface="Calibri (MS) Bold" charset="1" panose="020F0702030404030204"/>
      <p:regular r:id="rId29"/>
    </p:embeddedFont>
    <p:embeddedFont>
      <p:font typeface="Calibri (MS) Italics" charset="1" panose="020F05020202040A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12697" y="-12697"/>
            <a:ext cx="208283" cy="10312403"/>
            <a:chOff x="0" y="0"/>
            <a:chExt cx="277711" cy="137498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774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277749">
                  <a:moveTo>
                    <a:pt x="0" y="0"/>
                  </a:moveTo>
                  <a:lnTo>
                    <a:pt x="277749" y="0"/>
                  </a:lnTo>
                  <a:lnTo>
                    <a:pt x="27774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1E6FB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2171" y="2922356"/>
            <a:ext cx="16459200" cy="2377440"/>
            <a:chOff x="0" y="0"/>
            <a:chExt cx="21945600" cy="3169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6" r="0" b="-848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1945600" cy="3179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00"/>
                </a:lnSpc>
              </a:pPr>
              <a:r>
                <a:rPr lang="en-US" sz="12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TrustEdge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98290" y="4989852"/>
            <a:ext cx="16093440" cy="1554480"/>
            <a:chOff x="0" y="0"/>
            <a:chExt cx="21457920" cy="2072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457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727" r="0" b="-15172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1457920" cy="2082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i="true">
                  <a:solidFill>
                    <a:srgbClr val="CADCFC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Event-Triggered Hardware Attestation Framework</a:t>
              </a:r>
            </a:p>
            <a:p>
              <a:pPr algn="l">
                <a:lnSpc>
                  <a:spcPts val="4799"/>
                </a:lnSpc>
              </a:pPr>
              <a:r>
                <a:rPr lang="en-US" sz="3999" i="true">
                  <a:solidFill>
                    <a:srgbClr val="CADCFC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for Secure AI Agents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52354" y="7282796"/>
            <a:ext cx="13819775" cy="124016"/>
            <a:chOff x="0" y="0"/>
            <a:chExt cx="18426366" cy="16535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426430" cy="165354"/>
            </a:xfrm>
            <a:custGeom>
              <a:avLst/>
              <a:gdLst/>
              <a:ahLst/>
              <a:cxnLst/>
              <a:rect r="r" b="b" t="t" l="l"/>
              <a:pathLst>
                <a:path h="165354" w="18426430">
                  <a:moveTo>
                    <a:pt x="0" y="165354"/>
                  </a:moveTo>
                  <a:lnTo>
                    <a:pt x="18426430" y="165354"/>
                  </a:lnTo>
                  <a:lnTo>
                    <a:pt x="184264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5282"/>
            </a:solidFill>
            <a:ln w="25400" cap="sq">
              <a:solidFill>
                <a:srgbClr val="2C528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79567" y="7607084"/>
            <a:ext cx="7315200" cy="548640"/>
            <a:chOff x="0" y="0"/>
            <a:chExt cx="975360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Manyu Simha Ravi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232367" y="7542400"/>
            <a:ext cx="4389120" cy="548640"/>
            <a:chOff x="0" y="0"/>
            <a:chExt cx="585216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58521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1DS23CY035                       	                       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65051" y="8130759"/>
            <a:ext cx="7315200" cy="548640"/>
            <a:chOff x="0" y="0"/>
            <a:chExt cx="975360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Letitia Gilbert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232367" y="8066084"/>
            <a:ext cx="4389120" cy="548640"/>
            <a:chOff x="0" y="0"/>
            <a:chExt cx="585216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58521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1DS23CY031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14400" y="8732663"/>
            <a:ext cx="7315200" cy="548640"/>
            <a:chOff x="0" y="0"/>
            <a:chExt cx="975360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Surendra 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232367" y="8732663"/>
            <a:ext cx="4389120" cy="548640"/>
            <a:chOff x="0" y="0"/>
            <a:chExt cx="585216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8521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1DS23CY059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/ 11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911401" y="393811"/>
            <a:ext cx="13187934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1"/>
              </a:lnSpc>
            </a:pPr>
            <a:r>
              <a:rPr lang="en-US" sz="4859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Dayananda Sagar College Of Engineering</a:t>
            </a:r>
          </a:p>
          <a:p>
            <a:pPr algn="ctr">
              <a:lnSpc>
                <a:spcPts val="2375"/>
              </a:lnSpc>
            </a:pPr>
            <a:r>
              <a:rPr lang="en-US" sz="1979" i="true">
                <a:solidFill>
                  <a:srgbClr val="90C226"/>
                </a:solidFill>
                <a:latin typeface="Arial Italics"/>
                <a:ea typeface="Arial Italics"/>
                <a:cs typeface="Arial Italics"/>
                <a:sym typeface="Arial Italics"/>
              </a:rPr>
              <a:t>(An Autonomous Institution Affiliated to VTU, Belagavi)</a:t>
            </a:r>
          </a:p>
          <a:p>
            <a:pPr algn="ctr">
              <a:lnSpc>
                <a:spcPts val="2375"/>
              </a:lnSpc>
            </a:pPr>
            <a:r>
              <a:rPr lang="en-US" sz="1979" b="true">
                <a:solidFill>
                  <a:srgbClr val="90C226"/>
                </a:solidFill>
                <a:latin typeface="Arial Bold"/>
                <a:ea typeface="Arial Bold"/>
                <a:cs typeface="Arial Bold"/>
                <a:sym typeface="Arial Bold"/>
              </a:rPr>
              <a:t>SHAVIGE MALLESHWARA HILLS, K.S.LAYOUT, BANGALORE-560078</a:t>
            </a:r>
          </a:p>
          <a:p>
            <a:pPr algn="ctr">
              <a:lnSpc>
                <a:spcPts val="2160"/>
              </a:lnSpc>
            </a:pPr>
          </a:p>
          <a:p>
            <a:pPr algn="ctr">
              <a:lnSpc>
                <a:spcPts val="3455"/>
              </a:lnSpc>
            </a:pPr>
            <a:r>
              <a:rPr lang="en-US" sz="2879" b="true">
                <a:solidFill>
                  <a:srgbClr val="6C921D"/>
                </a:solidFill>
                <a:latin typeface="Arial Bold"/>
                <a:ea typeface="Arial Bold"/>
                <a:cs typeface="Arial Bold"/>
                <a:sym typeface="Arial Bold"/>
              </a:rPr>
              <a:t>DEPARTMENT OF COMPUTER SCIENCE &amp; ENGINEERING </a:t>
            </a:r>
          </a:p>
          <a:p>
            <a:pPr algn="ctr">
              <a:lnSpc>
                <a:spcPts val="3455"/>
              </a:lnSpc>
            </a:pPr>
            <a:r>
              <a:rPr lang="en-US" sz="2879" b="true">
                <a:solidFill>
                  <a:srgbClr val="6C921D"/>
                </a:solidFill>
                <a:latin typeface="Arial Bold"/>
                <a:ea typeface="Arial Bold"/>
                <a:cs typeface="Arial Bold"/>
                <a:sym typeface="Arial Bold"/>
              </a:rPr>
              <a:t>(CYBER SECURITY)</a:t>
            </a:r>
          </a:p>
          <a:p>
            <a:pPr algn="ctr">
              <a:lnSpc>
                <a:spcPts val="4320"/>
              </a:lnSpc>
            </a:pPr>
          </a:p>
          <a:p>
            <a:pPr algn="ctr">
              <a:lnSpc>
                <a:spcPts val="2375"/>
              </a:lnSpc>
            </a:pPr>
          </a:p>
        </p:txBody>
      </p:sp>
      <p:grpSp>
        <p:nvGrpSpPr>
          <p:cNvPr name="Group 52" id="52"/>
          <p:cNvGrpSpPr/>
          <p:nvPr/>
        </p:nvGrpSpPr>
        <p:grpSpPr>
          <a:xfrm rot="0">
            <a:off x="943661" y="420405"/>
            <a:ext cx="1752600" cy="1581150"/>
            <a:chOff x="0" y="0"/>
            <a:chExt cx="2336800" cy="2108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36800" cy="2108200"/>
            </a:xfrm>
            <a:custGeom>
              <a:avLst/>
              <a:gdLst/>
              <a:ahLst/>
              <a:cxnLst/>
              <a:rect r="r" b="b" t="t" l="l"/>
              <a:pathLst>
                <a:path h="21082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108200"/>
                  </a:lnTo>
                  <a:lnTo>
                    <a:pt x="0" y="210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88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9827628" y="7519216"/>
            <a:ext cx="7222303" cy="145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i="true">
                <a:solidFill>
                  <a:srgbClr val="A0AEC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Guided by: Dr Pallavi Kulkarni</a:t>
            </a:r>
          </a:p>
          <a:p>
            <a:pPr algn="l">
              <a:lnSpc>
                <a:spcPts val="3359"/>
              </a:lnSpc>
            </a:pPr>
            <a:r>
              <a:rPr lang="en-US" b="true" sz="2799" i="true">
                <a:solidFill>
                  <a:srgbClr val="A0AEC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Assistant Professor</a:t>
            </a:r>
          </a:p>
          <a:p>
            <a:pPr algn="l">
              <a:lnSpc>
                <a:spcPts val="3359"/>
              </a:lnSpc>
            </a:pPr>
            <a:r>
              <a:rPr lang="en-US" b="true" sz="2799" i="true">
                <a:solidFill>
                  <a:srgbClr val="A0AEC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Dept Of CSCY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19456"/>
            <a:ext cx="16459200" cy="402336"/>
            <a:chOff x="0" y="0"/>
            <a:chExt cx="21945600" cy="5364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19456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spc="399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STATEMENT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2E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Trust Gap in Deployed AI Agents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1703" y="2511047"/>
            <a:ext cx="16484603" cy="2000507"/>
            <a:chOff x="0" y="0"/>
            <a:chExt cx="21979471" cy="26673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79510" cy="2667381"/>
            </a:xfrm>
            <a:custGeom>
              <a:avLst/>
              <a:gdLst/>
              <a:ahLst/>
              <a:cxnLst/>
              <a:rect r="r" b="b" t="t" l="l"/>
              <a:pathLst>
                <a:path h="2667381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2667381"/>
                  </a:lnTo>
                  <a:lnTo>
                    <a:pt x="0" y="2667381"/>
                  </a:lnTo>
                  <a:close/>
                </a:path>
              </a:pathLst>
            </a:custGeom>
            <a:solidFill>
              <a:srgbClr val="F5F7FA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01703" y="2511047"/>
            <a:ext cx="1579883" cy="2000507"/>
            <a:chOff x="0" y="0"/>
            <a:chExt cx="2106511" cy="26673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06549" cy="2667381"/>
            </a:xfrm>
            <a:custGeom>
              <a:avLst/>
              <a:gdLst/>
              <a:ahLst/>
              <a:cxnLst/>
              <a:rect r="r" b="b" t="t" l="l"/>
              <a:pathLst>
                <a:path h="2667381" w="2106549">
                  <a:moveTo>
                    <a:pt x="0" y="0"/>
                  </a:moveTo>
                  <a:lnTo>
                    <a:pt x="2106549" y="0"/>
                  </a:lnTo>
                  <a:lnTo>
                    <a:pt x="2106549" y="2667381"/>
                  </a:lnTo>
                  <a:lnTo>
                    <a:pt x="0" y="2667381"/>
                  </a:lnTo>
                  <a:close/>
                </a:path>
              </a:pathLst>
            </a:custGeom>
            <a:solidFill>
              <a:srgbClr val="1A2E4A"/>
            </a:solidFill>
            <a:ln w="25400" cap="sq">
              <a:solidFill>
                <a:srgbClr val="1A2E4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2523744"/>
            <a:ext cx="1554480" cy="1975104"/>
            <a:chOff x="0" y="0"/>
            <a:chExt cx="2072640" cy="26334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72640" cy="2633472"/>
            </a:xfrm>
            <a:custGeom>
              <a:avLst/>
              <a:gdLst/>
              <a:ahLst/>
              <a:cxnLst/>
              <a:rect r="r" b="b" t="t" l="l"/>
              <a:pathLst>
                <a:path h="26334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021" t="0" r="-11302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072640" cy="2642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651760" y="2670048"/>
            <a:ext cx="14447520" cy="548640"/>
            <a:chOff x="0" y="0"/>
            <a:chExt cx="1926336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92633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Expanded Attack Surface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651760" y="3255264"/>
            <a:ext cx="14356080" cy="1133856"/>
            <a:chOff x="0" y="0"/>
            <a:chExt cx="19141440" cy="15118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141439" cy="1511808"/>
            </a:xfrm>
            <a:custGeom>
              <a:avLst/>
              <a:gdLst/>
              <a:ahLst/>
              <a:cxnLst/>
              <a:rect r="r" b="b" t="t" l="l"/>
              <a:pathLst>
                <a:path h="1511808" w="19141439">
                  <a:moveTo>
                    <a:pt x="0" y="0"/>
                  </a:moveTo>
                  <a:lnTo>
                    <a:pt x="19141439" y="0"/>
                  </a:lnTo>
                  <a:lnTo>
                    <a:pt x="19141439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705" r="0" b="-19670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914144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AI agents autonomously access files, execute tools, query databases, and call cloud APIs — often without per-action human oversight.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1703" y="4669031"/>
            <a:ext cx="16484603" cy="2000507"/>
            <a:chOff x="0" y="0"/>
            <a:chExt cx="21979471" cy="266734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79510" cy="2667381"/>
            </a:xfrm>
            <a:custGeom>
              <a:avLst/>
              <a:gdLst/>
              <a:ahLst/>
              <a:cxnLst/>
              <a:rect r="r" b="b" t="t" l="l"/>
              <a:pathLst>
                <a:path h="2667381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2667381"/>
                  </a:lnTo>
                  <a:lnTo>
                    <a:pt x="0" y="2667381"/>
                  </a:lnTo>
                  <a:close/>
                </a:path>
              </a:pathLst>
            </a:custGeom>
            <a:solidFill>
              <a:srgbClr val="F5F7FA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01703" y="4669031"/>
            <a:ext cx="1579883" cy="2000507"/>
            <a:chOff x="0" y="0"/>
            <a:chExt cx="2106511" cy="266734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06549" cy="2667381"/>
            </a:xfrm>
            <a:custGeom>
              <a:avLst/>
              <a:gdLst/>
              <a:ahLst/>
              <a:cxnLst/>
              <a:rect r="r" b="b" t="t" l="l"/>
              <a:pathLst>
                <a:path h="2667381" w="2106549">
                  <a:moveTo>
                    <a:pt x="0" y="0"/>
                  </a:moveTo>
                  <a:lnTo>
                    <a:pt x="2106549" y="0"/>
                  </a:lnTo>
                  <a:lnTo>
                    <a:pt x="2106549" y="2667381"/>
                  </a:lnTo>
                  <a:lnTo>
                    <a:pt x="0" y="2667381"/>
                  </a:lnTo>
                  <a:close/>
                </a:path>
              </a:pathLst>
            </a:custGeom>
            <a:solidFill>
              <a:srgbClr val="1A2E4A"/>
            </a:solidFill>
            <a:ln w="25400" cap="sq">
              <a:solidFill>
                <a:srgbClr val="1A2E4A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14400" y="4681728"/>
            <a:ext cx="1554480" cy="1975104"/>
            <a:chOff x="0" y="0"/>
            <a:chExt cx="2072640" cy="26334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72640" cy="2633472"/>
            </a:xfrm>
            <a:custGeom>
              <a:avLst/>
              <a:gdLst/>
              <a:ahLst/>
              <a:cxnLst/>
              <a:rect r="r" b="b" t="t" l="l"/>
              <a:pathLst>
                <a:path h="26334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021" t="0" r="-113021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2072640" cy="2642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651760" y="4828032"/>
            <a:ext cx="14447520" cy="548640"/>
            <a:chOff x="0" y="0"/>
            <a:chExt cx="1926336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92633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Authentication Establishes Identity, Not Runtime Trust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651760" y="5413248"/>
            <a:ext cx="14356080" cy="1133856"/>
            <a:chOff x="0" y="0"/>
            <a:chExt cx="19141440" cy="15118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141439" cy="1511808"/>
            </a:xfrm>
            <a:custGeom>
              <a:avLst/>
              <a:gdLst/>
              <a:ahLst/>
              <a:cxnLst/>
              <a:rect r="r" b="b" t="t" l="l"/>
              <a:pathLst>
                <a:path h="1511808" w="19141439">
                  <a:moveTo>
                    <a:pt x="0" y="0"/>
                  </a:moveTo>
                  <a:lnTo>
                    <a:pt x="19141439" y="0"/>
                  </a:lnTo>
                  <a:lnTo>
                    <a:pt x="19141439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705" r="0" b="-19670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914144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Existing access controls verify who an agent is at deployment time. They cannot detect post-deployment compromise of the agent binary, model weights, or execution environment.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01703" y="6827015"/>
            <a:ext cx="16484603" cy="2000507"/>
            <a:chOff x="0" y="0"/>
            <a:chExt cx="21979471" cy="26673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979510" cy="2667381"/>
            </a:xfrm>
            <a:custGeom>
              <a:avLst/>
              <a:gdLst/>
              <a:ahLst/>
              <a:cxnLst/>
              <a:rect r="r" b="b" t="t" l="l"/>
              <a:pathLst>
                <a:path h="2667381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2667381"/>
                  </a:lnTo>
                  <a:lnTo>
                    <a:pt x="0" y="2667381"/>
                  </a:lnTo>
                  <a:close/>
                </a:path>
              </a:pathLst>
            </a:custGeom>
            <a:solidFill>
              <a:srgbClr val="F5F7FA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01703" y="6827015"/>
            <a:ext cx="1579883" cy="2000507"/>
            <a:chOff x="0" y="0"/>
            <a:chExt cx="2106511" cy="266734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06549" cy="2667381"/>
            </a:xfrm>
            <a:custGeom>
              <a:avLst/>
              <a:gdLst/>
              <a:ahLst/>
              <a:cxnLst/>
              <a:rect r="r" b="b" t="t" l="l"/>
              <a:pathLst>
                <a:path h="2667381" w="2106549">
                  <a:moveTo>
                    <a:pt x="0" y="0"/>
                  </a:moveTo>
                  <a:lnTo>
                    <a:pt x="2106549" y="0"/>
                  </a:lnTo>
                  <a:lnTo>
                    <a:pt x="2106549" y="2667381"/>
                  </a:lnTo>
                  <a:lnTo>
                    <a:pt x="0" y="2667381"/>
                  </a:lnTo>
                  <a:close/>
                </a:path>
              </a:pathLst>
            </a:custGeom>
            <a:solidFill>
              <a:srgbClr val="1A2E4A"/>
            </a:solidFill>
            <a:ln w="25400" cap="sq">
              <a:solidFill>
                <a:srgbClr val="1A2E4A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" y="6839712"/>
            <a:ext cx="1554480" cy="1975104"/>
            <a:chOff x="0" y="0"/>
            <a:chExt cx="2072640" cy="26334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72640" cy="2633472"/>
            </a:xfrm>
            <a:custGeom>
              <a:avLst/>
              <a:gdLst/>
              <a:ahLst/>
              <a:cxnLst/>
              <a:rect r="r" b="b" t="t" l="l"/>
              <a:pathLst>
                <a:path h="26334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021" t="0" r="-11302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2072640" cy="2642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651760" y="6986016"/>
            <a:ext cx="14447520" cy="548640"/>
            <a:chOff x="0" y="0"/>
            <a:chExt cx="192633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92633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Demonstrated Precedent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651760" y="7571232"/>
            <a:ext cx="14356080" cy="1133856"/>
            <a:chOff x="0" y="0"/>
            <a:chExt cx="19141440" cy="151180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9141439" cy="1511808"/>
            </a:xfrm>
            <a:custGeom>
              <a:avLst/>
              <a:gdLst/>
              <a:ahLst/>
              <a:cxnLst/>
              <a:rect r="r" b="b" t="t" l="l"/>
              <a:pathLst>
                <a:path h="1511808" w="19141439">
                  <a:moveTo>
                    <a:pt x="0" y="0"/>
                  </a:moveTo>
                  <a:lnTo>
                    <a:pt x="19141439" y="0"/>
                  </a:lnTo>
                  <a:lnTo>
                    <a:pt x="19141439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705" r="0" b="-19670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914144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Hugging Face (2025): malicious models executed on download from a trusted repository.  XZ Utils (2024): backdoor inserted into a widely distributed library, undetected until execution.  MOVEit (2023): trusted enterprise software exploited to exfiltrate data across hundreds of organisations.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4400" y="9326880"/>
            <a:ext cx="16459200" cy="621792"/>
            <a:chOff x="0" y="0"/>
            <a:chExt cx="21945600" cy="82905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945600" cy="829056"/>
            </a:xfrm>
            <a:custGeom>
              <a:avLst/>
              <a:gdLst/>
              <a:ahLst/>
              <a:cxnLst/>
              <a:rect r="r" b="b" t="t" l="l"/>
              <a:pathLst>
                <a:path h="82905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780" r="0" b="-46578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21945600" cy="838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i="true">
                  <a:solidFill>
                    <a:srgbClr val="1E6FBF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"How can we continuously establish trust in an AI agent before it performs privileged actions?"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/ 11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2E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Real-World Incidents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2511047"/>
            <a:ext cx="5237483" cy="7249163"/>
            <a:chOff x="0" y="0"/>
            <a:chExt cx="6983311" cy="96655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83349" cy="9665589"/>
            </a:xfrm>
            <a:custGeom>
              <a:avLst/>
              <a:gdLst/>
              <a:ahLst/>
              <a:cxnLst/>
              <a:rect r="r" b="b" t="t" l="l"/>
              <a:pathLst>
                <a:path h="9665589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9665589"/>
                  </a:lnTo>
                  <a:lnTo>
                    <a:pt x="0" y="9665589"/>
                  </a:lnTo>
                  <a:close/>
                </a:path>
              </a:pathLst>
            </a:custGeom>
            <a:solidFill>
              <a:srgbClr val="F5F7FA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01703" y="2511047"/>
            <a:ext cx="5237483" cy="135131"/>
            <a:chOff x="0" y="0"/>
            <a:chExt cx="6983311" cy="1801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83349" cy="180213"/>
            </a:xfrm>
            <a:custGeom>
              <a:avLst/>
              <a:gdLst/>
              <a:ahLst/>
              <a:cxnLst/>
              <a:rect r="r" b="b" t="t" l="l"/>
              <a:pathLst>
                <a:path h="180213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1E6FB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33856" y="2688336"/>
            <a:ext cx="4937760" cy="402336"/>
            <a:chOff x="0" y="0"/>
            <a:chExt cx="6583680" cy="5364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583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99">
                  <a:solidFill>
                    <a:srgbClr val="1E6F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2025 / 2026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33856" y="3072384"/>
            <a:ext cx="4846320" cy="950976"/>
            <a:chOff x="0" y="0"/>
            <a:chExt cx="6461760" cy="12679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617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98" r="0" b="-4929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646176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Hugging Face Supply-Chain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33856" y="4059936"/>
            <a:ext cx="4846320" cy="2834640"/>
            <a:chOff x="0" y="0"/>
            <a:chExt cx="6461760" cy="3779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617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045" t="0" r="-2504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6461760" cy="3827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Malicious models uploaded to a public repository executed harmful code on download. The source appeared trusted, but organisations had no mechanism to verify what was actually running inside the agent.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33856" y="6986016"/>
            <a:ext cx="4846320" cy="365760"/>
            <a:chOff x="0" y="0"/>
            <a:chExt cx="6461760" cy="487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61760" cy="487680"/>
            </a:xfrm>
            <a:custGeom>
              <a:avLst/>
              <a:gdLst/>
              <a:ahLst/>
              <a:cxnLst/>
              <a:rect r="r" b="b" t="t" l="l"/>
              <a:pathLst>
                <a:path h="4876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461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b="true" sz="1700" spc="200">
                  <a:solidFill>
                    <a:srgbClr val="1E6F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IT MATTERS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33856" y="7370064"/>
            <a:ext cx="4846320" cy="2103120"/>
            <a:chOff x="0" y="0"/>
            <a:chExt cx="6461760" cy="2804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617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78" t="0" r="-5678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461760" cy="2851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1A2E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Runtime attestation of the execution environment, not just the downloaded artefact, would have detected this before execution.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525263" y="2511047"/>
            <a:ext cx="5237483" cy="7249163"/>
            <a:chOff x="0" y="0"/>
            <a:chExt cx="6983311" cy="966555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983349" cy="9665589"/>
            </a:xfrm>
            <a:custGeom>
              <a:avLst/>
              <a:gdLst/>
              <a:ahLst/>
              <a:cxnLst/>
              <a:rect r="r" b="b" t="t" l="l"/>
              <a:pathLst>
                <a:path h="9665589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9665589"/>
                  </a:lnTo>
                  <a:lnTo>
                    <a:pt x="0" y="9665589"/>
                  </a:lnTo>
                  <a:close/>
                </a:path>
              </a:pathLst>
            </a:custGeom>
            <a:solidFill>
              <a:srgbClr val="F5F7FA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525263" y="2511047"/>
            <a:ext cx="5237483" cy="135131"/>
            <a:chOff x="0" y="0"/>
            <a:chExt cx="6983311" cy="1801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83349" cy="180213"/>
            </a:xfrm>
            <a:custGeom>
              <a:avLst/>
              <a:gdLst/>
              <a:ahLst/>
              <a:cxnLst/>
              <a:rect r="r" b="b" t="t" l="l"/>
              <a:pathLst>
                <a:path h="180213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1A2E4A"/>
            </a:solidFill>
            <a:ln w="25400" cap="sq">
              <a:solidFill>
                <a:srgbClr val="1A2E4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757416" y="2688336"/>
            <a:ext cx="4937760" cy="402336"/>
            <a:chOff x="0" y="0"/>
            <a:chExt cx="6583680" cy="5364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6583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99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757416" y="3072384"/>
            <a:ext cx="4846320" cy="950976"/>
            <a:chOff x="0" y="0"/>
            <a:chExt cx="6461760" cy="126796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617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98" r="0" b="-4929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646176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XZ Utils Backdoor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757416" y="4059936"/>
            <a:ext cx="4846320" cy="2834640"/>
            <a:chOff x="0" y="0"/>
            <a:chExt cx="6461760" cy="3779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4617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045" t="0" r="-25045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6461760" cy="3827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backdoor was staged into the XZ compression library through a series of legitimate-looking commits. The software passed normal inspection and the modification went undetected until weeks after distribution.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757416" y="6986016"/>
            <a:ext cx="4846320" cy="365760"/>
            <a:chOff x="0" y="0"/>
            <a:chExt cx="6461760" cy="4876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461760" cy="487680"/>
            </a:xfrm>
            <a:custGeom>
              <a:avLst/>
              <a:gdLst/>
              <a:ahLst/>
              <a:cxnLst/>
              <a:rect r="r" b="b" t="t" l="l"/>
              <a:pathLst>
                <a:path h="4876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6461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b="true" sz="1700" spc="200">
                  <a:solidFill>
                    <a:srgbClr val="1E6F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IT MATTERS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757416" y="7370064"/>
            <a:ext cx="4846320" cy="2103120"/>
            <a:chOff x="0" y="0"/>
            <a:chExt cx="6461760" cy="28041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4617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78" t="0" r="-5678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6461760" cy="2851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1A2E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Continuous integrity monitoring and TPM-backed attestation would detect execution in a modified environment before a privileged action proceeds.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148823" y="2511047"/>
            <a:ext cx="5237483" cy="7249163"/>
            <a:chOff x="0" y="0"/>
            <a:chExt cx="6983311" cy="966555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983349" cy="9665589"/>
            </a:xfrm>
            <a:custGeom>
              <a:avLst/>
              <a:gdLst/>
              <a:ahLst/>
              <a:cxnLst/>
              <a:rect r="r" b="b" t="t" l="l"/>
              <a:pathLst>
                <a:path h="9665589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9665589"/>
                  </a:lnTo>
                  <a:lnTo>
                    <a:pt x="0" y="9665589"/>
                  </a:lnTo>
                  <a:close/>
                </a:path>
              </a:pathLst>
            </a:custGeom>
            <a:solidFill>
              <a:srgbClr val="F5F7FA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2148823" y="2511047"/>
            <a:ext cx="5237483" cy="135131"/>
            <a:chOff x="0" y="0"/>
            <a:chExt cx="6983311" cy="18017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983349" cy="180213"/>
            </a:xfrm>
            <a:custGeom>
              <a:avLst/>
              <a:gdLst/>
              <a:ahLst/>
              <a:cxnLst/>
              <a:rect r="r" b="b" t="t" l="l"/>
              <a:pathLst>
                <a:path h="180213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C53030"/>
            </a:solidFill>
            <a:ln w="25400" cap="sq">
              <a:solidFill>
                <a:srgbClr val="C5303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380976" y="2688336"/>
            <a:ext cx="4937760" cy="402336"/>
            <a:chOff x="0" y="0"/>
            <a:chExt cx="6583680" cy="5364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583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99">
                  <a:solidFill>
                    <a:srgbClr val="C530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380976" y="3072384"/>
            <a:ext cx="4846320" cy="950976"/>
            <a:chOff x="0" y="0"/>
            <a:chExt cx="6461760" cy="12679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4617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98" r="0" b="-4929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646176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MOVEit Transfer Exploitation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380976" y="4059936"/>
            <a:ext cx="4846320" cy="2834640"/>
            <a:chOff x="0" y="0"/>
            <a:chExt cx="6461760" cy="3779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4617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045" t="0" r="-25045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461760" cy="3827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zero-day in MOVEit file transfer software was exploited to exfiltrate data from hundreds of organisations. Attackers abused a trusted enterprise application to access sensitive resources it was authorised to handle.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380976" y="6986016"/>
            <a:ext cx="4846320" cy="365760"/>
            <a:chOff x="0" y="0"/>
            <a:chExt cx="6461760" cy="4876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461760" cy="487680"/>
            </a:xfrm>
            <a:custGeom>
              <a:avLst/>
              <a:gdLst/>
              <a:ahLst/>
              <a:cxnLst/>
              <a:rect r="r" b="b" t="t" l="l"/>
              <a:pathLst>
                <a:path h="4876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461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b="true" sz="1700" spc="200">
                  <a:solidFill>
                    <a:srgbClr val="1E6F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IT MATTERS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380976" y="7370064"/>
            <a:ext cx="4846320" cy="2103120"/>
            <a:chOff x="0" y="0"/>
            <a:chExt cx="6461760" cy="28041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4617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78" t="0" r="-5678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461760" cy="2851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1A2E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Policy-driven verification of system integrity before privileged access is granted would block exploitation at the enforcement layer.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01703" y="9533639"/>
            <a:ext cx="16484603" cy="519179"/>
            <a:chOff x="0" y="0"/>
            <a:chExt cx="21979471" cy="69223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979510" cy="692277"/>
            </a:xfrm>
            <a:custGeom>
              <a:avLst/>
              <a:gdLst/>
              <a:ahLst/>
              <a:cxnLst/>
              <a:rect r="r" b="b" t="t" l="l"/>
              <a:pathLst>
                <a:path h="692277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692277"/>
                  </a:lnTo>
                  <a:lnTo>
                    <a:pt x="0" y="692277"/>
                  </a:lnTo>
                  <a:close/>
                </a:path>
              </a:pathLst>
            </a:custGeom>
            <a:solidFill>
              <a:srgbClr val="1A2E4A"/>
            </a:solidFill>
            <a:ln w="25400" cap="sq">
              <a:solidFill>
                <a:srgbClr val="1A2E4A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914400" y="9546336"/>
            <a:ext cx="16459200" cy="493776"/>
            <a:chOff x="0" y="0"/>
            <a:chExt cx="21945600" cy="65836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945600" cy="658368"/>
            </a:xfrm>
            <a:custGeom>
              <a:avLst/>
              <a:gdLst/>
              <a:ahLst/>
              <a:cxnLst/>
              <a:rect r="r" b="b" t="t" l="l"/>
              <a:pathLst>
                <a:path h="6583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19456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Authentication alone is insufficient. AI agents require continuous runtime trust verification before executing security-sensitive actions.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/ 11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19456"/>
            <a:ext cx="16459200" cy="402336"/>
            <a:chOff x="0" y="0"/>
            <a:chExt cx="21945600" cy="5364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19456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spc="399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LITERATURE SURVEY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620001"/>
            <a:ext cx="14400000" cy="1499997"/>
            <a:chOff x="0" y="0"/>
            <a:chExt cx="19200000" cy="19999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200000" cy="2000000"/>
            </a:xfrm>
            <a:custGeom>
              <a:avLst/>
              <a:gdLst/>
              <a:ahLst/>
              <a:cxnLst/>
              <a:rect r="r" b="b" t="t" l="l"/>
              <a:pathLst>
                <a:path h="2000000" w="19200000">
                  <a:moveTo>
                    <a:pt x="0" y="0"/>
                  </a:moveTo>
                  <a:lnTo>
                    <a:pt x="19200000" y="0"/>
                  </a:lnTo>
                  <a:lnTo>
                    <a:pt x="19200000" y="2000000"/>
                  </a:lnTo>
                  <a:lnTo>
                    <a:pt x="0" y="20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200000" cy="2009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2E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Literature Survey</a:t>
              </a:r>
            </a:p>
          </p:txBody>
        </p:sp>
      </p:grp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914400" y="2340000"/>
          <a:ext cx="16408400" cy="6172200"/>
        </p:xfrm>
        <a:graphic>
          <a:graphicData uri="http://schemas.openxmlformats.org/drawingml/2006/table">
            <a:tbl>
              <a:tblPr/>
              <a:tblGrid>
                <a:gridCol w="4785185"/>
                <a:gridCol w="2791358"/>
                <a:gridCol w="4386420"/>
                <a:gridCol w="4445437"/>
              </a:tblGrid>
              <a:tr h="6912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Representative Papers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Focus Area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Strengths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Limitations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913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1A2E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TCG TPM 2.0 Spec, Flicker, TrustVisor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1E6FB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Hardware Root of Trust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8"/>
                        </a:lnSpc>
                        <a:defRPr/>
                      </a:pPr>
                      <a:r>
                        <a:rPr lang="en-US" sz="1640">
                          <a:solidFill>
                            <a:srgbClr val="4A55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Strong hardware-backed integrity verification via PCR measurements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8"/>
                        </a:lnSpc>
                        <a:defRPr/>
                      </a:pPr>
                      <a:r>
                        <a:rPr lang="en-US" sz="1640">
                          <a:solidFill>
                            <a:srgbClr val="4A55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Boot-time only; not designed for runtime AI agent verification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3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1A2E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Intel SGX Explained, Keystone, WATZ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1E6FB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Trusted Execution Environments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8"/>
                        </a:lnSpc>
                        <a:defRPr/>
                      </a:pPr>
                      <a:r>
                        <a:rPr lang="en-US" sz="1640">
                          <a:solidFill>
                            <a:srgbClr val="4A55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Hardware-isolated secure execution with remote attestation support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8"/>
                        </a:lnSpc>
                        <a:defRPr/>
                      </a:pPr>
                      <a:r>
                        <a:rPr lang="en-US" sz="1640">
                          <a:solidFill>
                            <a:srgbClr val="4A55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Limited runtime policy enforcement; no AI agent tool-chain awareness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913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1A2E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C-FLAT, Scalable Runtime Remote Attestation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1E6FB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Runtime Attestation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8"/>
                        </a:lnSpc>
                        <a:defRPr/>
                      </a:pPr>
                      <a:r>
                        <a:rPr lang="en-US" sz="1640">
                          <a:solidFill>
                            <a:srgbClr val="4A55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Detects control-flow and binary modifications at runtime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8"/>
                        </a:lnSpc>
                        <a:defRPr/>
                      </a:pPr>
                      <a:r>
                        <a:rPr lang="en-US" sz="1640">
                          <a:solidFill>
                            <a:srgbClr val="4A55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 integrated with AI agent workflows or tool-execution events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3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1A2E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CCxTrust, CCC Confidential Computing Survey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1E6FB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Confidential Computing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8"/>
                        </a:lnSpc>
                        <a:defRPr/>
                      </a:pPr>
                      <a:r>
                        <a:rPr lang="en-US" sz="1640">
                          <a:solidFill>
                            <a:srgbClr val="4A55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Protects workloads in untrusted cloud environments via TEE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8"/>
                        </a:lnSpc>
                        <a:defRPr/>
                      </a:pPr>
                      <a:r>
                        <a:rPr lang="en-US" sz="1640">
                          <a:solidFill>
                            <a:srgbClr val="4A55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Targets static workloads; limited support for dynamic AI agents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913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1A2E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Agent Security Bench, AI Supply Chain Security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1E6FB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AI Agent Security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8"/>
                        </a:lnSpc>
                        <a:defRPr/>
                      </a:pPr>
                      <a:r>
                        <a:rPr lang="en-US" sz="1640">
                          <a:solidFill>
                            <a:srgbClr val="4A55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Catalogues attack vectors: injection, manipulation, supply-chain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8"/>
                        </a:lnSpc>
                        <a:defRPr/>
                      </a:pPr>
                      <a:r>
                        <a:rPr lang="en-US" sz="1640">
                          <a:solidFill>
                            <a:srgbClr val="4A55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hardware-rooted enforcement or runtime integrity mechanism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3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1A2E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SCONE, Gramine, SGX-based Container Shielding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1E6FB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Secure Containers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8"/>
                        </a:lnSpc>
                        <a:defRPr/>
                      </a:pPr>
                      <a:r>
                        <a:rPr lang="en-US" sz="1640">
                          <a:solidFill>
                            <a:srgbClr val="4A55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Extends TEE protection to containerised workloads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8"/>
                        </a:lnSpc>
                        <a:defRPr/>
                      </a:pPr>
                      <a:r>
                        <a:rPr lang="en-US" sz="1640">
                          <a:solidFill>
                            <a:srgbClr val="4A55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event-triggered attestation; no policy-driven access control</a:t>
                      </a:r>
                      <a:endParaRPr lang="en-US" sz="1100"/>
                    </a:p>
                  </a:txBody>
                  <a:tcPr marL="45720" marR="45720" marT="45720" marB="4572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pSp>
        <p:nvGrpSpPr>
          <p:cNvPr name="Group 27" id="27"/>
          <p:cNvGrpSpPr/>
          <p:nvPr/>
        </p:nvGrpSpPr>
        <p:grpSpPr>
          <a:xfrm rot="0">
            <a:off x="914400" y="8609762"/>
            <a:ext cx="14200003" cy="731520"/>
            <a:chOff x="0" y="0"/>
            <a:chExt cx="18933338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933333" cy="975360"/>
            </a:xfrm>
            <a:custGeom>
              <a:avLst/>
              <a:gdLst/>
              <a:ahLst/>
              <a:cxnLst/>
              <a:rect r="r" b="b" t="t" l="l"/>
              <a:pathLst>
                <a:path h="975360" w="18933333">
                  <a:moveTo>
                    <a:pt x="0" y="0"/>
                  </a:moveTo>
                  <a:lnTo>
                    <a:pt x="18933333" y="0"/>
                  </a:lnTo>
                  <a:lnTo>
                    <a:pt x="18933333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236" r="0" b="-32823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8933338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1E6FBF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Existing work addresses individual aspects of trust and attestation; however, no unified framework combines policy-driven, event-triggered hardware attestation for autonomous AI agents.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/ 1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2E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TrustEdge: Framework Overview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2596896"/>
            <a:ext cx="8229600" cy="3017520"/>
            <a:chOff x="0" y="0"/>
            <a:chExt cx="10972800" cy="4023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4070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TrustEdge is a lightweight enforcement layer positioned between an AI agent and the resources it accesses. On any sensitive action, it collects hardware-backed attestation evidence before privileged execution, evaluates the evidence against a known-good baseline, and permits or denies the request.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1703" y="5876039"/>
            <a:ext cx="4048763" cy="1122683"/>
            <a:chOff x="0" y="0"/>
            <a:chExt cx="5398351" cy="1496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98389" cy="1496949"/>
            </a:xfrm>
            <a:custGeom>
              <a:avLst/>
              <a:gdLst/>
              <a:ahLst/>
              <a:cxnLst/>
              <a:rect r="r" b="b" t="t" l="l"/>
              <a:pathLst>
                <a:path h="149694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D6E8FA"/>
            </a:solidFill>
            <a:ln w="25400" cap="sq">
              <a:solidFill>
                <a:srgbClr val="B8D4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33856" y="5888736"/>
            <a:ext cx="3657600" cy="1097280"/>
            <a:chOff x="0" y="0"/>
            <a:chExt cx="487680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7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8768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Policy-driven access control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199383" y="5876039"/>
            <a:ext cx="4048763" cy="1122683"/>
            <a:chOff x="0" y="0"/>
            <a:chExt cx="5398351" cy="14969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98389" cy="1496949"/>
            </a:xfrm>
            <a:custGeom>
              <a:avLst/>
              <a:gdLst/>
              <a:ahLst/>
              <a:cxnLst/>
              <a:rect r="r" b="b" t="t" l="l"/>
              <a:pathLst>
                <a:path h="149694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D6E8FA"/>
            </a:solidFill>
            <a:ln w="25400" cap="sq">
              <a:solidFill>
                <a:srgbClr val="B8D4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5431536" y="5888736"/>
            <a:ext cx="3657600" cy="1097280"/>
            <a:chOff x="0" y="0"/>
            <a:chExt cx="4876800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7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48768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Continuous binary integrity monitoring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1703" y="7192775"/>
            <a:ext cx="4048763" cy="1122683"/>
            <a:chOff x="0" y="0"/>
            <a:chExt cx="5398351" cy="14969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8389" cy="1496949"/>
            </a:xfrm>
            <a:custGeom>
              <a:avLst/>
              <a:gdLst/>
              <a:ahLst/>
              <a:cxnLst/>
              <a:rect r="r" b="b" t="t" l="l"/>
              <a:pathLst>
                <a:path h="149694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D6E8FA"/>
            </a:solidFill>
            <a:ln w="25400" cap="sq">
              <a:solidFill>
                <a:srgbClr val="B8D4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33856" y="7205472"/>
            <a:ext cx="3657600" cy="1097280"/>
            <a:chOff x="0" y="0"/>
            <a:chExt cx="4876800" cy="1463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7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8768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Event-triggered TPM attestation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199383" y="7192775"/>
            <a:ext cx="4048763" cy="1122683"/>
            <a:chOff x="0" y="0"/>
            <a:chExt cx="5398351" cy="14969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98389" cy="1496949"/>
            </a:xfrm>
            <a:custGeom>
              <a:avLst/>
              <a:gdLst/>
              <a:ahLst/>
              <a:cxnLst/>
              <a:rect r="r" b="b" t="t" l="l"/>
              <a:pathLst>
                <a:path h="149694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D6E8FA"/>
            </a:solidFill>
            <a:ln w="25400" cap="sq">
              <a:solidFill>
                <a:srgbClr val="B8D4F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5431536" y="7205472"/>
            <a:ext cx="3657600" cy="1097280"/>
            <a:chOff x="0" y="0"/>
            <a:chExt cx="487680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7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48768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Evidence-based allow / deny decision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79943" y="2584199"/>
            <a:ext cx="7614923" cy="976379"/>
            <a:chOff x="0" y="0"/>
            <a:chExt cx="10153231" cy="130183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15326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0153269">
                  <a:moveTo>
                    <a:pt x="0" y="0"/>
                  </a:moveTo>
                  <a:lnTo>
                    <a:pt x="10153269" y="0"/>
                  </a:lnTo>
                  <a:lnTo>
                    <a:pt x="1015326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692640" y="2596896"/>
            <a:ext cx="7589520" cy="950976"/>
            <a:chOff x="0" y="0"/>
            <a:chExt cx="10119360" cy="12679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119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505" r="0" b="-10550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011936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Agent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447271" y="3535175"/>
            <a:ext cx="80267" cy="537467"/>
            <a:chOff x="0" y="0"/>
            <a:chExt cx="107023" cy="71662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061" cy="716661"/>
            </a:xfrm>
            <a:custGeom>
              <a:avLst/>
              <a:gdLst/>
              <a:ahLst/>
              <a:cxnLst/>
              <a:rect r="r" b="b" t="t" l="l"/>
              <a:pathLst>
                <a:path h="716661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679943" y="4230119"/>
            <a:ext cx="7614923" cy="976379"/>
            <a:chOff x="0" y="0"/>
            <a:chExt cx="10153231" cy="130183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15326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0153269">
                  <a:moveTo>
                    <a:pt x="0" y="0"/>
                  </a:moveTo>
                  <a:lnTo>
                    <a:pt x="10153269" y="0"/>
                  </a:lnTo>
                  <a:lnTo>
                    <a:pt x="1015326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692640" y="4242816"/>
            <a:ext cx="7589520" cy="950976"/>
            <a:chOff x="0" y="0"/>
            <a:chExt cx="10119360" cy="126796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119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505" r="0" b="-10550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011936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TrustEdge Framework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447271" y="5181095"/>
            <a:ext cx="80267" cy="537467"/>
            <a:chOff x="0" y="0"/>
            <a:chExt cx="107023" cy="71662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061" cy="716661"/>
            </a:xfrm>
            <a:custGeom>
              <a:avLst/>
              <a:gdLst/>
              <a:ahLst/>
              <a:cxnLst/>
              <a:rect r="r" b="b" t="t" l="l"/>
              <a:pathLst>
                <a:path h="716661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679943" y="5876039"/>
            <a:ext cx="7614923" cy="976379"/>
            <a:chOff x="0" y="0"/>
            <a:chExt cx="10153231" cy="130183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15326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0153269">
                  <a:moveTo>
                    <a:pt x="0" y="0"/>
                  </a:moveTo>
                  <a:lnTo>
                    <a:pt x="10153269" y="0"/>
                  </a:lnTo>
                  <a:lnTo>
                    <a:pt x="1015326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1A2E4A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692640" y="5888736"/>
            <a:ext cx="7589520" cy="950976"/>
            <a:chOff x="0" y="0"/>
            <a:chExt cx="10119360" cy="12679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119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505" r="0" b="-10550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11936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 TPM (swtpm)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447271" y="6827015"/>
            <a:ext cx="80267" cy="537467"/>
            <a:chOff x="0" y="0"/>
            <a:chExt cx="107023" cy="71662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7061" cy="716661"/>
            </a:xfrm>
            <a:custGeom>
              <a:avLst/>
              <a:gdLst/>
              <a:ahLst/>
              <a:cxnLst/>
              <a:rect r="r" b="b" t="t" l="l"/>
              <a:pathLst>
                <a:path h="716661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9679943" y="7521959"/>
            <a:ext cx="7614923" cy="976379"/>
            <a:chOff x="0" y="0"/>
            <a:chExt cx="10153231" cy="130183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15326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0153269">
                  <a:moveTo>
                    <a:pt x="0" y="0"/>
                  </a:moveTo>
                  <a:lnTo>
                    <a:pt x="10153269" y="0"/>
                  </a:lnTo>
                  <a:lnTo>
                    <a:pt x="1015326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692640" y="7534656"/>
            <a:ext cx="7589520" cy="950976"/>
            <a:chOff x="0" y="0"/>
            <a:chExt cx="10119360" cy="126796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119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505" r="0" b="-10550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1011936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Protected Resources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/ 11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216533" y="496643"/>
            <a:ext cx="4592326" cy="368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0AEC0"/>
                </a:solidFill>
                <a:latin typeface="Calibri (MS)"/>
                <a:ea typeface="Calibri (MS)"/>
                <a:cs typeface="Calibri (MS)"/>
                <a:sym typeface="Calibri (MS)"/>
              </a:rPr>
              <a:t>A B S T R A C 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2E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System Architecture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730503" y="2639063"/>
            <a:ext cx="13009883" cy="610619"/>
            <a:chOff x="0" y="0"/>
            <a:chExt cx="17346511" cy="8141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346549" cy="814197"/>
            </a:xfrm>
            <a:custGeom>
              <a:avLst/>
              <a:gdLst/>
              <a:ahLst/>
              <a:cxnLst/>
              <a:rect r="r" b="b" t="t" l="l"/>
              <a:pathLst>
                <a:path h="814197" w="17346549">
                  <a:moveTo>
                    <a:pt x="0" y="0"/>
                  </a:moveTo>
                  <a:lnTo>
                    <a:pt x="17346549" y="0"/>
                  </a:lnTo>
                  <a:lnTo>
                    <a:pt x="1734654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743200" y="2651760"/>
            <a:ext cx="12984480" cy="585216"/>
            <a:chOff x="0" y="0"/>
            <a:chExt cx="17312640" cy="7802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312639" cy="780288"/>
            </a:xfrm>
            <a:custGeom>
              <a:avLst/>
              <a:gdLst/>
              <a:ahLst/>
              <a:cxnLst/>
              <a:rect r="r" b="b" t="t" l="l"/>
              <a:pathLst>
                <a:path h="780288" w="17312639">
                  <a:moveTo>
                    <a:pt x="0" y="0"/>
                  </a:moveTo>
                  <a:lnTo>
                    <a:pt x="17312639" y="0"/>
                  </a:lnTo>
                  <a:lnTo>
                    <a:pt x="17312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324" r="0" b="-38232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73126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67879" y="3224279"/>
            <a:ext cx="80267" cy="281435"/>
            <a:chOff x="0" y="0"/>
            <a:chExt cx="107023" cy="37524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061" cy="375285"/>
            </a:xfrm>
            <a:custGeom>
              <a:avLst/>
              <a:gdLst/>
              <a:ahLst/>
              <a:cxnLst/>
              <a:rect r="r" b="b" t="t" l="l"/>
              <a:pathLst>
                <a:path h="375285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375285"/>
                  </a:lnTo>
                  <a:lnTo>
                    <a:pt x="0" y="375285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2584199" y="3480311"/>
            <a:ext cx="13302491" cy="4377947"/>
            <a:chOff x="0" y="0"/>
            <a:chExt cx="17736655" cy="58372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736693" cy="5837301"/>
            </a:xfrm>
            <a:custGeom>
              <a:avLst/>
              <a:gdLst/>
              <a:ahLst/>
              <a:cxnLst/>
              <a:rect r="r" b="b" t="t" l="l"/>
              <a:pathLst>
                <a:path h="5837301" w="17736693">
                  <a:moveTo>
                    <a:pt x="0" y="0"/>
                  </a:moveTo>
                  <a:lnTo>
                    <a:pt x="17736693" y="0"/>
                  </a:lnTo>
                  <a:lnTo>
                    <a:pt x="17736693" y="5837301"/>
                  </a:lnTo>
                  <a:lnTo>
                    <a:pt x="0" y="5837301"/>
                  </a:lnTo>
                  <a:close/>
                </a:path>
              </a:pathLst>
            </a:custGeom>
            <a:solidFill>
              <a:srgbClr val="EBF4FF"/>
            </a:solidFill>
            <a:ln w="25400" cap="sq">
              <a:solidFill>
                <a:srgbClr val="1E6FB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2743200" y="3566160"/>
            <a:ext cx="12984480" cy="402336"/>
            <a:chOff x="0" y="0"/>
            <a:chExt cx="17312640" cy="5364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312639" cy="536448"/>
            </a:xfrm>
            <a:custGeom>
              <a:avLst/>
              <a:gdLst/>
              <a:ahLst/>
              <a:cxnLst/>
              <a:rect r="r" b="b" t="t" l="l"/>
              <a:pathLst>
                <a:path h="536448" w="17312639">
                  <a:moveTo>
                    <a:pt x="0" y="0"/>
                  </a:moveTo>
                  <a:lnTo>
                    <a:pt x="17312639" y="0"/>
                  </a:lnTo>
                  <a:lnTo>
                    <a:pt x="173126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835" r="0" b="-57883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7312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1E6F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TrustEdge Container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949959" y="4028951"/>
            <a:ext cx="12570971" cy="610619"/>
            <a:chOff x="0" y="0"/>
            <a:chExt cx="16761295" cy="8141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761333" cy="814197"/>
            </a:xfrm>
            <a:custGeom>
              <a:avLst/>
              <a:gdLst/>
              <a:ahLst/>
              <a:cxnLst/>
              <a:rect r="r" b="b" t="t" l="l"/>
              <a:pathLst>
                <a:path h="814197" w="16761333">
                  <a:moveTo>
                    <a:pt x="0" y="0"/>
                  </a:moveTo>
                  <a:lnTo>
                    <a:pt x="16761333" y="0"/>
                  </a:lnTo>
                  <a:lnTo>
                    <a:pt x="16761333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2962656" y="4041648"/>
            <a:ext cx="12545568" cy="585216"/>
            <a:chOff x="0" y="0"/>
            <a:chExt cx="16727424" cy="780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727424" cy="780288"/>
            </a:xfrm>
            <a:custGeom>
              <a:avLst/>
              <a:gdLst/>
              <a:ahLst/>
              <a:cxnLst/>
              <a:rect r="r" b="b" t="t" l="l"/>
              <a:pathLst>
                <a:path h="780288" w="16727424">
                  <a:moveTo>
                    <a:pt x="0" y="0"/>
                  </a:moveTo>
                  <a:lnTo>
                    <a:pt x="16727424" y="0"/>
                  </a:lnTo>
                  <a:lnTo>
                    <a:pt x="16727424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710" r="0" b="-36771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6727424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Agent  (Ollama + 3B model)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67879" y="4614167"/>
            <a:ext cx="80267" cy="281435"/>
            <a:chOff x="0" y="0"/>
            <a:chExt cx="107023" cy="37524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061" cy="375285"/>
            </a:xfrm>
            <a:custGeom>
              <a:avLst/>
              <a:gdLst/>
              <a:ahLst/>
              <a:cxnLst/>
              <a:rect r="r" b="b" t="t" l="l"/>
              <a:pathLst>
                <a:path h="375285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375285"/>
                  </a:lnTo>
                  <a:lnTo>
                    <a:pt x="0" y="375285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3352295" y="4906775"/>
            <a:ext cx="2878331" cy="1762763"/>
            <a:chOff x="0" y="0"/>
            <a:chExt cx="3837775" cy="235035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37813" cy="2350389"/>
            </a:xfrm>
            <a:custGeom>
              <a:avLst/>
              <a:gdLst/>
              <a:ahLst/>
              <a:cxnLst/>
              <a:rect r="r" b="b" t="t" l="l"/>
              <a:pathLst>
                <a:path h="2350389" w="3837813">
                  <a:moveTo>
                    <a:pt x="0" y="0"/>
                  </a:moveTo>
                  <a:lnTo>
                    <a:pt x="3837813" y="0"/>
                  </a:lnTo>
                  <a:lnTo>
                    <a:pt x="3837813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1558A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3364992" y="4919472"/>
            <a:ext cx="2852928" cy="1737360"/>
            <a:chOff x="0" y="0"/>
            <a:chExt cx="3803904" cy="2316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03904" cy="2316480"/>
            </a:xfrm>
            <a:custGeom>
              <a:avLst/>
              <a:gdLst/>
              <a:ahLst/>
              <a:cxnLst/>
              <a:rect r="r" b="b" t="t" l="l"/>
              <a:pathLst>
                <a:path h="231648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133" t="0" r="-2813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803904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Policy Engine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314951" y="4906775"/>
            <a:ext cx="2878331" cy="1762763"/>
            <a:chOff x="0" y="0"/>
            <a:chExt cx="3837775" cy="23503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837813" cy="2350389"/>
            </a:xfrm>
            <a:custGeom>
              <a:avLst/>
              <a:gdLst/>
              <a:ahLst/>
              <a:cxnLst/>
              <a:rect r="r" b="b" t="t" l="l"/>
              <a:pathLst>
                <a:path h="2350389" w="3837813">
                  <a:moveTo>
                    <a:pt x="0" y="0"/>
                  </a:moveTo>
                  <a:lnTo>
                    <a:pt x="3837813" y="0"/>
                  </a:lnTo>
                  <a:lnTo>
                    <a:pt x="3837813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1558A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6327648" y="4919472"/>
            <a:ext cx="2852928" cy="1737360"/>
            <a:chOff x="0" y="0"/>
            <a:chExt cx="3803904" cy="23164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803904" cy="2316480"/>
            </a:xfrm>
            <a:custGeom>
              <a:avLst/>
              <a:gdLst/>
              <a:ahLst/>
              <a:cxnLst/>
              <a:rect r="r" b="b" t="t" l="l"/>
              <a:pathLst>
                <a:path h="231648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133" t="0" r="-2813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803904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Integrity Monitor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277607" y="4906775"/>
            <a:ext cx="2878331" cy="1762763"/>
            <a:chOff x="0" y="0"/>
            <a:chExt cx="3837775" cy="235035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837813" cy="2350389"/>
            </a:xfrm>
            <a:custGeom>
              <a:avLst/>
              <a:gdLst/>
              <a:ahLst/>
              <a:cxnLst/>
              <a:rect r="r" b="b" t="t" l="l"/>
              <a:pathLst>
                <a:path h="2350389" w="3837813">
                  <a:moveTo>
                    <a:pt x="0" y="0"/>
                  </a:moveTo>
                  <a:lnTo>
                    <a:pt x="3837813" y="0"/>
                  </a:lnTo>
                  <a:lnTo>
                    <a:pt x="3837813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1558A0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290304" y="4919472"/>
            <a:ext cx="2852928" cy="1737360"/>
            <a:chOff x="0" y="0"/>
            <a:chExt cx="3803904" cy="23164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803904" cy="2316480"/>
            </a:xfrm>
            <a:custGeom>
              <a:avLst/>
              <a:gdLst/>
              <a:ahLst/>
              <a:cxnLst/>
              <a:rect r="r" b="b" t="t" l="l"/>
              <a:pathLst>
                <a:path h="231648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133" t="0" r="-2813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803904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Attestation Manager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240263" y="4906775"/>
            <a:ext cx="2878331" cy="1762763"/>
            <a:chOff x="0" y="0"/>
            <a:chExt cx="3837775" cy="235035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837813" cy="2350389"/>
            </a:xfrm>
            <a:custGeom>
              <a:avLst/>
              <a:gdLst/>
              <a:ahLst/>
              <a:cxnLst/>
              <a:rect r="r" b="b" t="t" l="l"/>
              <a:pathLst>
                <a:path h="2350389" w="3837813">
                  <a:moveTo>
                    <a:pt x="0" y="0"/>
                  </a:moveTo>
                  <a:lnTo>
                    <a:pt x="3837813" y="0"/>
                  </a:lnTo>
                  <a:lnTo>
                    <a:pt x="3837813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1558A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2252960" y="4919472"/>
            <a:ext cx="2852928" cy="1737360"/>
            <a:chOff x="0" y="0"/>
            <a:chExt cx="3803904" cy="23164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803904" cy="2316480"/>
            </a:xfrm>
            <a:custGeom>
              <a:avLst/>
              <a:gdLst/>
              <a:ahLst/>
              <a:cxnLst/>
              <a:rect r="r" b="b" t="t" l="l"/>
              <a:pathLst>
                <a:path h="231648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133" t="0" r="-2813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803904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Verifier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167879" y="7832855"/>
            <a:ext cx="80267" cy="354587"/>
            <a:chOff x="0" y="0"/>
            <a:chExt cx="107023" cy="47278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7061" cy="472821"/>
            </a:xfrm>
            <a:custGeom>
              <a:avLst/>
              <a:gdLst/>
              <a:ahLst/>
              <a:cxnLst/>
              <a:rect r="r" b="b" t="t" l="l"/>
              <a:pathLst>
                <a:path h="472821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884664" y="7882128"/>
            <a:ext cx="2926080" cy="329184"/>
            <a:chOff x="0" y="0"/>
            <a:chExt cx="3901440" cy="43891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901440" cy="438912"/>
            </a:xfrm>
            <a:custGeom>
              <a:avLst/>
              <a:gdLst/>
              <a:ahLst/>
              <a:cxnLst/>
              <a:rect r="r" b="b" t="t" l="l"/>
              <a:pathLst>
                <a:path h="43891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39014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i="true">
                  <a:solidFill>
                    <a:srgbClr val="A0AEC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TPM2 socket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584199" y="8162039"/>
            <a:ext cx="13302491" cy="720347"/>
            <a:chOff x="0" y="0"/>
            <a:chExt cx="17736655" cy="96046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7736693" cy="960501"/>
            </a:xfrm>
            <a:custGeom>
              <a:avLst/>
              <a:gdLst/>
              <a:ahLst/>
              <a:cxnLst/>
              <a:rect r="r" b="b" t="t" l="l"/>
              <a:pathLst>
                <a:path h="960501" w="17736693">
                  <a:moveTo>
                    <a:pt x="0" y="0"/>
                  </a:moveTo>
                  <a:lnTo>
                    <a:pt x="17736693" y="0"/>
                  </a:lnTo>
                  <a:lnTo>
                    <a:pt x="17736693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2E4A"/>
            </a:solidFill>
            <a:ln w="25400" cap="sq">
              <a:solidFill>
                <a:srgbClr val="11203A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2743200" y="8174736"/>
            <a:ext cx="12984480" cy="694944"/>
            <a:chOff x="0" y="0"/>
            <a:chExt cx="17312640" cy="9265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7312639" cy="926592"/>
            </a:xfrm>
            <a:custGeom>
              <a:avLst/>
              <a:gdLst/>
              <a:ahLst/>
              <a:cxnLst/>
              <a:rect r="r" b="b" t="t" l="l"/>
              <a:pathLst>
                <a:path h="926592" w="17312639">
                  <a:moveTo>
                    <a:pt x="0" y="0"/>
                  </a:moveTo>
                  <a:lnTo>
                    <a:pt x="17312639" y="0"/>
                  </a:lnTo>
                  <a:lnTo>
                    <a:pt x="173126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62" r="0" b="-31406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7312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swtpm Container  —  Software TPM 2.0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121140" y="8890359"/>
            <a:ext cx="80267" cy="354587"/>
            <a:chOff x="0" y="0"/>
            <a:chExt cx="107023" cy="47278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061" cy="472821"/>
            </a:xfrm>
            <a:custGeom>
              <a:avLst/>
              <a:gdLst/>
              <a:ahLst/>
              <a:cxnLst/>
              <a:rect r="r" b="b" t="t" l="l"/>
              <a:pathLst>
                <a:path h="472821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2840231" y="9186167"/>
            <a:ext cx="5877563" cy="683771"/>
            <a:chOff x="0" y="0"/>
            <a:chExt cx="7836751" cy="9116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836789" cy="911733"/>
            </a:xfrm>
            <a:custGeom>
              <a:avLst/>
              <a:gdLst/>
              <a:ahLst/>
              <a:cxnLst/>
              <a:rect r="r" b="b" t="t" l="l"/>
              <a:pathLst>
                <a:path h="911733" w="7836789">
                  <a:moveTo>
                    <a:pt x="0" y="0"/>
                  </a:moveTo>
                  <a:lnTo>
                    <a:pt x="7836789" y="0"/>
                  </a:lnTo>
                  <a:lnTo>
                    <a:pt x="783678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2852928" y="9198864"/>
            <a:ext cx="5852160" cy="658368"/>
            <a:chOff x="0" y="0"/>
            <a:chExt cx="7802880" cy="87782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802880" cy="877824"/>
            </a:xfrm>
            <a:custGeom>
              <a:avLst/>
              <a:gdLst/>
              <a:ahLst/>
              <a:cxnLst/>
              <a:rect r="r" b="b" t="t" l="l"/>
              <a:pathLst>
                <a:path h="87782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78028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Local Resources  (files, DB, tools)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753095" y="9186167"/>
            <a:ext cx="5877563" cy="683771"/>
            <a:chOff x="0" y="0"/>
            <a:chExt cx="7836751" cy="91169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836789" cy="911733"/>
            </a:xfrm>
            <a:custGeom>
              <a:avLst/>
              <a:gdLst/>
              <a:ahLst/>
              <a:cxnLst/>
              <a:rect r="r" b="b" t="t" l="l"/>
              <a:pathLst>
                <a:path h="911733" w="7836789">
                  <a:moveTo>
                    <a:pt x="0" y="0"/>
                  </a:moveTo>
                  <a:lnTo>
                    <a:pt x="7836789" y="0"/>
                  </a:lnTo>
                  <a:lnTo>
                    <a:pt x="783678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765792" y="9198864"/>
            <a:ext cx="5852160" cy="658368"/>
            <a:chOff x="0" y="0"/>
            <a:chExt cx="7802880" cy="87782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802880" cy="877824"/>
            </a:xfrm>
            <a:custGeom>
              <a:avLst/>
              <a:gdLst/>
              <a:ahLst/>
              <a:cxnLst/>
              <a:rect r="r" b="b" t="t" l="l"/>
              <a:pathLst>
                <a:path h="87782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78028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 Services  (optional)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/ 11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005840" y="342319"/>
            <a:ext cx="6479181" cy="368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0AEC0"/>
                </a:solidFill>
                <a:latin typeface="Calibri (MS)"/>
                <a:ea typeface="Calibri (MS)"/>
                <a:cs typeface="Calibri (MS)"/>
                <a:sym typeface="Calibri (MS)"/>
              </a:rPr>
              <a:t>A R C H I T E C T U R 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2E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Request Verification Workflow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839463" y="2273303"/>
            <a:ext cx="6609083" cy="683771"/>
            <a:chOff x="0" y="0"/>
            <a:chExt cx="8812111" cy="9116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812149" cy="911733"/>
            </a:xfrm>
            <a:custGeom>
              <a:avLst/>
              <a:gdLst/>
              <a:ahLst/>
              <a:cxnLst/>
              <a:rect r="r" b="b" t="t" l="l"/>
              <a:pathLst>
                <a:path h="911733" w="8812149">
                  <a:moveTo>
                    <a:pt x="0" y="0"/>
                  </a:moveTo>
                  <a:lnTo>
                    <a:pt x="8812149" y="0"/>
                  </a:lnTo>
                  <a:lnTo>
                    <a:pt x="881214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852160" y="2286000"/>
            <a:ext cx="6583680" cy="658368"/>
            <a:chOff x="0" y="0"/>
            <a:chExt cx="8778240" cy="8778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7782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Issues Request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03871" y="2931671"/>
            <a:ext cx="80267" cy="263147"/>
            <a:chOff x="0" y="0"/>
            <a:chExt cx="107023" cy="3508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061" cy="350901"/>
            </a:xfrm>
            <a:custGeom>
              <a:avLst/>
              <a:gdLst/>
              <a:ahLst/>
              <a:cxnLst/>
              <a:rect r="r" b="b" t="t" l="l"/>
              <a:pathLst>
                <a:path h="350901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350901"/>
                  </a:lnTo>
                  <a:lnTo>
                    <a:pt x="0" y="350901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839463" y="3169415"/>
            <a:ext cx="6609083" cy="683771"/>
            <a:chOff x="0" y="0"/>
            <a:chExt cx="8812111" cy="91169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12149" cy="911733"/>
            </a:xfrm>
            <a:custGeom>
              <a:avLst/>
              <a:gdLst/>
              <a:ahLst/>
              <a:cxnLst/>
              <a:rect r="r" b="b" t="t" l="l"/>
              <a:pathLst>
                <a:path h="911733" w="8812149">
                  <a:moveTo>
                    <a:pt x="0" y="0"/>
                  </a:moveTo>
                  <a:lnTo>
                    <a:pt x="8812149" y="0"/>
                  </a:lnTo>
                  <a:lnTo>
                    <a:pt x="881214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852160" y="3182112"/>
            <a:ext cx="6583680" cy="658368"/>
            <a:chOff x="0" y="0"/>
            <a:chExt cx="8778240" cy="8778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7782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Agent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03871" y="3827783"/>
            <a:ext cx="80267" cy="263147"/>
            <a:chOff x="0" y="0"/>
            <a:chExt cx="107023" cy="3508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061" cy="350901"/>
            </a:xfrm>
            <a:custGeom>
              <a:avLst/>
              <a:gdLst/>
              <a:ahLst/>
              <a:cxnLst/>
              <a:rect r="r" b="b" t="t" l="l"/>
              <a:pathLst>
                <a:path h="350901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350901"/>
                  </a:lnTo>
                  <a:lnTo>
                    <a:pt x="0" y="350901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839463" y="4065527"/>
            <a:ext cx="6609083" cy="683771"/>
            <a:chOff x="0" y="0"/>
            <a:chExt cx="8812111" cy="91169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812149" cy="911733"/>
            </a:xfrm>
            <a:custGeom>
              <a:avLst/>
              <a:gdLst/>
              <a:ahLst/>
              <a:cxnLst/>
              <a:rect r="r" b="b" t="t" l="l"/>
              <a:pathLst>
                <a:path h="911733" w="8812149">
                  <a:moveTo>
                    <a:pt x="0" y="0"/>
                  </a:moveTo>
                  <a:lnTo>
                    <a:pt x="8812149" y="0"/>
                  </a:lnTo>
                  <a:lnTo>
                    <a:pt x="881214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D6E8FA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5852160" y="4078224"/>
            <a:ext cx="6583680" cy="658368"/>
            <a:chOff x="0" y="0"/>
            <a:chExt cx="8778240" cy="8778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87782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Policy Engine: Sensitive Action?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103871" y="4723895"/>
            <a:ext cx="80267" cy="263147"/>
            <a:chOff x="0" y="0"/>
            <a:chExt cx="107023" cy="35086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061" cy="350901"/>
            </a:xfrm>
            <a:custGeom>
              <a:avLst/>
              <a:gdLst/>
              <a:ahLst/>
              <a:cxnLst/>
              <a:rect r="r" b="b" t="t" l="l"/>
              <a:pathLst>
                <a:path h="350901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350901"/>
                  </a:lnTo>
                  <a:lnTo>
                    <a:pt x="0" y="350901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5839463" y="4961639"/>
            <a:ext cx="6609083" cy="683771"/>
            <a:chOff x="0" y="0"/>
            <a:chExt cx="8812111" cy="91169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812149" cy="911733"/>
            </a:xfrm>
            <a:custGeom>
              <a:avLst/>
              <a:gdLst/>
              <a:ahLst/>
              <a:cxnLst/>
              <a:rect r="r" b="b" t="t" l="l"/>
              <a:pathLst>
                <a:path h="911733" w="8812149">
                  <a:moveTo>
                    <a:pt x="0" y="0"/>
                  </a:moveTo>
                  <a:lnTo>
                    <a:pt x="8812149" y="0"/>
                  </a:lnTo>
                  <a:lnTo>
                    <a:pt x="881214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5852160" y="4974336"/>
            <a:ext cx="6583680" cy="658368"/>
            <a:chOff x="0" y="0"/>
            <a:chExt cx="8778240" cy="8778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7782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Integrity Monitor: Hash Check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03871" y="5620007"/>
            <a:ext cx="80267" cy="263147"/>
            <a:chOff x="0" y="0"/>
            <a:chExt cx="107023" cy="35086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7061" cy="350901"/>
            </a:xfrm>
            <a:custGeom>
              <a:avLst/>
              <a:gdLst/>
              <a:ahLst/>
              <a:cxnLst/>
              <a:rect r="r" b="b" t="t" l="l"/>
              <a:pathLst>
                <a:path h="350901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350901"/>
                  </a:lnTo>
                  <a:lnTo>
                    <a:pt x="0" y="350901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5839463" y="5857751"/>
            <a:ext cx="6609083" cy="683771"/>
            <a:chOff x="0" y="0"/>
            <a:chExt cx="8812111" cy="91169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812149" cy="911733"/>
            </a:xfrm>
            <a:custGeom>
              <a:avLst/>
              <a:gdLst/>
              <a:ahLst/>
              <a:cxnLst/>
              <a:rect r="r" b="b" t="t" l="l"/>
              <a:pathLst>
                <a:path h="911733" w="8812149">
                  <a:moveTo>
                    <a:pt x="0" y="0"/>
                  </a:moveTo>
                  <a:lnTo>
                    <a:pt x="8812149" y="0"/>
                  </a:lnTo>
                  <a:lnTo>
                    <a:pt x="881214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5852160" y="5870448"/>
            <a:ext cx="6583680" cy="658368"/>
            <a:chOff x="0" y="0"/>
            <a:chExt cx="8778240" cy="8778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87782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Attestation Manager: Collect PCRs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03871" y="6516119"/>
            <a:ext cx="80267" cy="263147"/>
            <a:chOff x="0" y="0"/>
            <a:chExt cx="107023" cy="35086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061" cy="350901"/>
            </a:xfrm>
            <a:custGeom>
              <a:avLst/>
              <a:gdLst/>
              <a:ahLst/>
              <a:cxnLst/>
              <a:rect r="r" b="b" t="t" l="l"/>
              <a:pathLst>
                <a:path h="350901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350901"/>
                  </a:lnTo>
                  <a:lnTo>
                    <a:pt x="0" y="350901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5839463" y="6753863"/>
            <a:ext cx="6609083" cy="683771"/>
            <a:chOff x="0" y="0"/>
            <a:chExt cx="8812111" cy="91169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812149" cy="911733"/>
            </a:xfrm>
            <a:custGeom>
              <a:avLst/>
              <a:gdLst/>
              <a:ahLst/>
              <a:cxnLst/>
              <a:rect r="r" b="b" t="t" l="l"/>
              <a:pathLst>
                <a:path h="911733" w="8812149">
                  <a:moveTo>
                    <a:pt x="0" y="0"/>
                  </a:moveTo>
                  <a:lnTo>
                    <a:pt x="8812149" y="0"/>
                  </a:lnTo>
                  <a:lnTo>
                    <a:pt x="881214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1A2E4A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5852160" y="6766560"/>
            <a:ext cx="6583680" cy="658368"/>
            <a:chOff x="0" y="0"/>
            <a:chExt cx="8778240" cy="8778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87782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swtpm: Sign TPM Quote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103871" y="7412231"/>
            <a:ext cx="80267" cy="263147"/>
            <a:chOff x="0" y="0"/>
            <a:chExt cx="107023" cy="35086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7061" cy="350901"/>
            </a:xfrm>
            <a:custGeom>
              <a:avLst/>
              <a:gdLst/>
              <a:ahLst/>
              <a:cxnLst/>
              <a:rect r="r" b="b" t="t" l="l"/>
              <a:pathLst>
                <a:path h="350901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350901"/>
                  </a:lnTo>
                  <a:lnTo>
                    <a:pt x="0" y="350901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5839463" y="7649975"/>
            <a:ext cx="6609083" cy="683771"/>
            <a:chOff x="0" y="0"/>
            <a:chExt cx="8812111" cy="91169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812149" cy="911733"/>
            </a:xfrm>
            <a:custGeom>
              <a:avLst/>
              <a:gdLst/>
              <a:ahLst/>
              <a:cxnLst/>
              <a:rect r="r" b="b" t="t" l="l"/>
              <a:pathLst>
                <a:path h="911733" w="8812149">
                  <a:moveTo>
                    <a:pt x="0" y="0"/>
                  </a:moveTo>
                  <a:lnTo>
                    <a:pt x="8812149" y="0"/>
                  </a:lnTo>
                  <a:lnTo>
                    <a:pt x="881214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5852160" y="7662672"/>
            <a:ext cx="6583680" cy="658368"/>
            <a:chOff x="0" y="0"/>
            <a:chExt cx="8778240" cy="87782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87782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Verifier: Quote vs Baseline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3462023" y="8527799"/>
            <a:ext cx="10998203" cy="71123"/>
            <a:chOff x="0" y="0"/>
            <a:chExt cx="14664271" cy="9483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664310" cy="94869"/>
            </a:xfrm>
            <a:custGeom>
              <a:avLst/>
              <a:gdLst/>
              <a:ahLst/>
              <a:cxnLst/>
              <a:rect r="r" b="b" t="t" l="l"/>
              <a:pathLst>
                <a:path h="94869" w="14664310">
                  <a:moveTo>
                    <a:pt x="0" y="0"/>
                  </a:moveTo>
                  <a:lnTo>
                    <a:pt x="14664310" y="0"/>
                  </a:lnTo>
                  <a:lnTo>
                    <a:pt x="14664310" y="94869"/>
                  </a:lnTo>
                  <a:lnTo>
                    <a:pt x="0" y="94869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3434591" y="8527799"/>
            <a:ext cx="80267" cy="427739"/>
            <a:chOff x="0" y="0"/>
            <a:chExt cx="107023" cy="57031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061" cy="570357"/>
            </a:xfrm>
            <a:custGeom>
              <a:avLst/>
              <a:gdLst/>
              <a:ahLst/>
              <a:cxnLst/>
              <a:rect r="r" b="b" t="t" l="l"/>
              <a:pathLst>
                <a:path h="570357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4407391" y="8527799"/>
            <a:ext cx="80267" cy="427739"/>
            <a:chOff x="0" y="0"/>
            <a:chExt cx="107023" cy="57031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7061" cy="570357"/>
            </a:xfrm>
            <a:custGeom>
              <a:avLst/>
              <a:gdLst/>
              <a:ahLst/>
              <a:cxnLst/>
              <a:rect r="r" b="b" t="t" l="l"/>
              <a:pathLst>
                <a:path h="570357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2364743" y="8930135"/>
            <a:ext cx="2768603" cy="756923"/>
            <a:chOff x="0" y="0"/>
            <a:chExt cx="3691471" cy="100923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91509" cy="1009269"/>
            </a:xfrm>
            <a:custGeom>
              <a:avLst/>
              <a:gdLst/>
              <a:ahLst/>
              <a:cxnLst/>
              <a:rect r="r" b="b" t="t" l="l"/>
              <a:pathLst>
                <a:path h="1009269" w="3691509">
                  <a:moveTo>
                    <a:pt x="0" y="0"/>
                  </a:moveTo>
                  <a:lnTo>
                    <a:pt x="3691509" y="0"/>
                  </a:lnTo>
                  <a:lnTo>
                    <a:pt x="369150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276749"/>
            </a:solidFill>
            <a:ln w="25400" cap="sq">
              <a:solidFill>
                <a:srgbClr val="276749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2377440" y="8942832"/>
            <a:ext cx="2743200" cy="731520"/>
            <a:chOff x="0" y="0"/>
            <a:chExt cx="3657600" cy="9753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57600" cy="975360"/>
            </a:xfrm>
            <a:custGeom>
              <a:avLst/>
              <a:gdLst/>
              <a:ahLst/>
              <a:cxnLst/>
              <a:rect r="r" b="b" t="t" l="l"/>
              <a:pathLst>
                <a:path h="9753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36576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ALLOW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337543" y="8930135"/>
            <a:ext cx="2768603" cy="756923"/>
            <a:chOff x="0" y="0"/>
            <a:chExt cx="3691471" cy="100923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91509" cy="1009269"/>
            </a:xfrm>
            <a:custGeom>
              <a:avLst/>
              <a:gdLst/>
              <a:ahLst/>
              <a:cxnLst/>
              <a:rect r="r" b="b" t="t" l="l"/>
              <a:pathLst>
                <a:path h="1009269" w="3691509">
                  <a:moveTo>
                    <a:pt x="0" y="0"/>
                  </a:moveTo>
                  <a:lnTo>
                    <a:pt x="3691509" y="0"/>
                  </a:lnTo>
                  <a:lnTo>
                    <a:pt x="369150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C53030"/>
            </a:solidFill>
            <a:ln w="25400" cap="sq">
              <a:solidFill>
                <a:srgbClr val="C53030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3350240" y="8942832"/>
            <a:ext cx="2743200" cy="731520"/>
            <a:chOff x="0" y="0"/>
            <a:chExt cx="3657600" cy="9753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657600" cy="975360"/>
            </a:xfrm>
            <a:custGeom>
              <a:avLst/>
              <a:gdLst/>
              <a:ahLst/>
              <a:cxnLst/>
              <a:rect r="r" b="b" t="t" l="l"/>
              <a:pathLst>
                <a:path h="9753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36576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DENY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/ 11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795528"/>
            <a:ext cx="16459200" cy="1280160"/>
            <a:chOff x="0" y="0"/>
            <a:chExt cx="2194560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2E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Module Breakdown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2511047"/>
            <a:ext cx="16484603" cy="610619"/>
            <a:chOff x="0" y="0"/>
            <a:chExt cx="21979471" cy="8141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79510" cy="814197"/>
            </a:xfrm>
            <a:custGeom>
              <a:avLst/>
              <a:gdLst/>
              <a:ahLst/>
              <a:cxnLst/>
              <a:rect r="r" b="b" t="t" l="l"/>
              <a:pathLst>
                <a:path h="814197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1A2E4A"/>
            </a:solidFill>
            <a:ln w="25400" cap="sq">
              <a:solidFill>
                <a:srgbClr val="1A2E4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05840" y="2523744"/>
            <a:ext cx="4754880" cy="585216"/>
            <a:chOff x="0" y="0"/>
            <a:chExt cx="6339840" cy="7802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943600" y="2523744"/>
            <a:ext cx="1920240" cy="585216"/>
            <a:chOff x="0" y="0"/>
            <a:chExt cx="2560320" cy="7802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60320" cy="780288"/>
            </a:xfrm>
            <a:custGeom>
              <a:avLst/>
              <a:gdLst/>
              <a:ahLst/>
              <a:cxnLst/>
              <a:rect r="r" b="b" t="t" l="l"/>
              <a:pathLst>
                <a:path h="78028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35" r="0" b="-1393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5603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Layer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046720" y="2523744"/>
            <a:ext cx="9144000" cy="585216"/>
            <a:chOff x="0" y="0"/>
            <a:chExt cx="1219200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0" cy="780288"/>
            </a:xfrm>
            <a:custGeom>
              <a:avLst/>
              <a:gdLst/>
              <a:ahLst/>
              <a:cxnLst/>
              <a:rect r="r" b="b" t="t" l="l"/>
              <a:pathLst>
                <a:path h="78028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192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1703" y="3096263"/>
            <a:ext cx="16484603" cy="1122683"/>
            <a:chOff x="0" y="0"/>
            <a:chExt cx="21979471" cy="14969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79510" cy="1496949"/>
            </a:xfrm>
            <a:custGeom>
              <a:avLst/>
              <a:gdLst/>
              <a:ahLst/>
              <a:cxnLst/>
              <a:rect r="r" b="b" t="t" l="l"/>
              <a:pathLst>
                <a:path h="1496949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05840" y="3108960"/>
            <a:ext cx="4754880" cy="1097280"/>
            <a:chOff x="0" y="0"/>
            <a:chExt cx="6339840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Agent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930903" y="3352295"/>
            <a:ext cx="1671323" cy="574043"/>
            <a:chOff x="0" y="0"/>
            <a:chExt cx="2228431" cy="7653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28469" cy="765429"/>
            </a:xfrm>
            <a:custGeom>
              <a:avLst/>
              <a:gdLst/>
              <a:ahLst/>
              <a:cxnLst/>
              <a:rect r="r" b="b" t="t" l="l"/>
              <a:pathLst>
                <a:path h="765429" w="2228469">
                  <a:moveTo>
                    <a:pt x="0" y="0"/>
                  </a:moveTo>
                  <a:lnTo>
                    <a:pt x="2228469" y="0"/>
                  </a:lnTo>
                  <a:lnTo>
                    <a:pt x="222846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5943600" y="3364992"/>
            <a:ext cx="1645920" cy="548640"/>
            <a:chOff x="0" y="0"/>
            <a:chExt cx="21945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046720" y="3108960"/>
            <a:ext cx="9052560" cy="1097280"/>
            <a:chOff x="0" y="0"/>
            <a:chExt cx="12070080" cy="1463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070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20700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Autonomous executor built on Ollama with a 3B parameter model. Issues tool calls, file requests, and API calls on behalf of the user.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01703" y="4230119"/>
            <a:ext cx="16484603" cy="1122683"/>
            <a:chOff x="0" y="0"/>
            <a:chExt cx="21979471" cy="14969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79510" cy="1496949"/>
            </a:xfrm>
            <a:custGeom>
              <a:avLst/>
              <a:gdLst/>
              <a:ahLst/>
              <a:cxnLst/>
              <a:rect r="r" b="b" t="t" l="l"/>
              <a:pathLst>
                <a:path h="1496949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5F7FA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05840" y="4242816"/>
            <a:ext cx="4754880" cy="1097280"/>
            <a:chOff x="0" y="0"/>
            <a:chExt cx="6339840" cy="14630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Policy Engine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930903" y="4486151"/>
            <a:ext cx="1671323" cy="574043"/>
            <a:chOff x="0" y="0"/>
            <a:chExt cx="2228431" cy="76539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28469" cy="765429"/>
            </a:xfrm>
            <a:custGeom>
              <a:avLst/>
              <a:gdLst/>
              <a:ahLst/>
              <a:cxnLst/>
              <a:rect r="r" b="b" t="t" l="l"/>
              <a:pathLst>
                <a:path h="765429" w="2228469">
                  <a:moveTo>
                    <a:pt x="0" y="0"/>
                  </a:moveTo>
                  <a:lnTo>
                    <a:pt x="2228469" y="0"/>
                  </a:lnTo>
                  <a:lnTo>
                    <a:pt x="222846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1E6FBF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5943600" y="4498848"/>
            <a:ext cx="1645920" cy="548640"/>
            <a:chOff x="0" y="0"/>
            <a:chExt cx="219456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TrustEdge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046720" y="4242816"/>
            <a:ext cx="9052560" cy="1097280"/>
            <a:chOff x="0" y="0"/>
            <a:chExt cx="12070080" cy="14630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070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20700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Evaluates each incoming request against a declarative access-control ruleset. Determines whether to permit, deny, or escalate to full attestation.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01703" y="5363975"/>
            <a:ext cx="16484603" cy="1122683"/>
            <a:chOff x="0" y="0"/>
            <a:chExt cx="21979471" cy="14969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979510" cy="1496949"/>
            </a:xfrm>
            <a:custGeom>
              <a:avLst/>
              <a:gdLst/>
              <a:ahLst/>
              <a:cxnLst/>
              <a:rect r="r" b="b" t="t" l="l"/>
              <a:pathLst>
                <a:path h="1496949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005840" y="5376672"/>
            <a:ext cx="4754880" cy="1097280"/>
            <a:chOff x="0" y="0"/>
            <a:chExt cx="6339840" cy="14630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Integrity Monitor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930903" y="5620007"/>
            <a:ext cx="1671323" cy="574043"/>
            <a:chOff x="0" y="0"/>
            <a:chExt cx="2228431" cy="76539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28469" cy="765429"/>
            </a:xfrm>
            <a:custGeom>
              <a:avLst/>
              <a:gdLst/>
              <a:ahLst/>
              <a:cxnLst/>
              <a:rect r="r" b="b" t="t" l="l"/>
              <a:pathLst>
                <a:path h="765429" w="2228469">
                  <a:moveTo>
                    <a:pt x="0" y="0"/>
                  </a:moveTo>
                  <a:lnTo>
                    <a:pt x="2228469" y="0"/>
                  </a:lnTo>
                  <a:lnTo>
                    <a:pt x="222846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1E6FBF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5943600" y="5632704"/>
            <a:ext cx="1645920" cy="548640"/>
            <a:chOff x="0" y="0"/>
            <a:chExt cx="219456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TrustEdge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046720" y="5376672"/>
            <a:ext cx="9052560" cy="1097280"/>
            <a:chOff x="0" y="0"/>
            <a:chExt cx="12070080" cy="14630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070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120700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Periodically hashes agent binaries, model files, and configuration state. Detects runtime modification between attestation cycles.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01703" y="6497831"/>
            <a:ext cx="16484603" cy="1122683"/>
            <a:chOff x="0" y="0"/>
            <a:chExt cx="21979471" cy="149691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979510" cy="1496949"/>
            </a:xfrm>
            <a:custGeom>
              <a:avLst/>
              <a:gdLst/>
              <a:ahLst/>
              <a:cxnLst/>
              <a:rect r="r" b="b" t="t" l="l"/>
              <a:pathLst>
                <a:path h="1496949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5F7FA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005840" y="6510528"/>
            <a:ext cx="4754880" cy="1097280"/>
            <a:chOff x="0" y="0"/>
            <a:chExt cx="6339840" cy="14630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Attestation Manager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930903" y="6753863"/>
            <a:ext cx="1671323" cy="574043"/>
            <a:chOff x="0" y="0"/>
            <a:chExt cx="2228431" cy="76539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28469" cy="765429"/>
            </a:xfrm>
            <a:custGeom>
              <a:avLst/>
              <a:gdLst/>
              <a:ahLst/>
              <a:cxnLst/>
              <a:rect r="r" b="b" t="t" l="l"/>
              <a:pathLst>
                <a:path h="765429" w="2228469">
                  <a:moveTo>
                    <a:pt x="0" y="0"/>
                  </a:moveTo>
                  <a:lnTo>
                    <a:pt x="2228469" y="0"/>
                  </a:lnTo>
                  <a:lnTo>
                    <a:pt x="222846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1E6FBF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5943600" y="6766560"/>
            <a:ext cx="1645920" cy="548640"/>
            <a:chOff x="0" y="0"/>
            <a:chExt cx="219456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TrustEdge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046720" y="6510528"/>
            <a:ext cx="9052560" cy="1097280"/>
            <a:chOff x="0" y="0"/>
            <a:chExt cx="12070080" cy="14630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070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20700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Coordinates the attestation workflow: extends PCR measurements into the TPM, requests a signed quote, and forwards it to the Verifier.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01703" y="7631687"/>
            <a:ext cx="16484603" cy="1122683"/>
            <a:chOff x="0" y="0"/>
            <a:chExt cx="21979471" cy="149691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1979510" cy="1496949"/>
            </a:xfrm>
            <a:custGeom>
              <a:avLst/>
              <a:gdLst/>
              <a:ahLst/>
              <a:cxnLst/>
              <a:rect r="r" b="b" t="t" l="l"/>
              <a:pathLst>
                <a:path h="1496949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005840" y="7644384"/>
            <a:ext cx="4754880" cy="1097280"/>
            <a:chOff x="0" y="0"/>
            <a:chExt cx="6339840" cy="14630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Verifier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930903" y="7887719"/>
            <a:ext cx="1671323" cy="574043"/>
            <a:chOff x="0" y="0"/>
            <a:chExt cx="2228431" cy="76539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228469" cy="765429"/>
            </a:xfrm>
            <a:custGeom>
              <a:avLst/>
              <a:gdLst/>
              <a:ahLst/>
              <a:cxnLst/>
              <a:rect r="r" b="b" t="t" l="l"/>
              <a:pathLst>
                <a:path h="765429" w="2228469">
                  <a:moveTo>
                    <a:pt x="0" y="0"/>
                  </a:moveTo>
                  <a:lnTo>
                    <a:pt x="2228469" y="0"/>
                  </a:lnTo>
                  <a:lnTo>
                    <a:pt x="222846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1E6FBF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5943600" y="7900416"/>
            <a:ext cx="1645920" cy="548640"/>
            <a:chOff x="0" y="0"/>
            <a:chExt cx="2194560" cy="7315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TrustEdge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8046720" y="7644384"/>
            <a:ext cx="9052560" cy="1097280"/>
            <a:chOff x="0" y="0"/>
            <a:chExt cx="12070080" cy="14630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2070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120700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Validates the signed TPM quote against a stored reference value. Issues an allow or deny signal back to the Policy Engine.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01703" y="8765543"/>
            <a:ext cx="16484603" cy="1122683"/>
            <a:chOff x="0" y="0"/>
            <a:chExt cx="21979471" cy="149691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1979510" cy="1496949"/>
            </a:xfrm>
            <a:custGeom>
              <a:avLst/>
              <a:gdLst/>
              <a:ahLst/>
              <a:cxnLst/>
              <a:rect r="r" b="b" t="t" l="l"/>
              <a:pathLst>
                <a:path h="1496949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5F7FA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05840" y="8778240"/>
            <a:ext cx="4754880" cy="1097280"/>
            <a:chOff x="0" y="0"/>
            <a:chExt cx="6339840" cy="14630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 TPM (swtpm)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930903" y="9021575"/>
            <a:ext cx="1671323" cy="574043"/>
            <a:chOff x="0" y="0"/>
            <a:chExt cx="2228431" cy="76539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228469" cy="765429"/>
            </a:xfrm>
            <a:custGeom>
              <a:avLst/>
              <a:gdLst/>
              <a:ahLst/>
              <a:cxnLst/>
              <a:rect r="r" b="b" t="t" l="l"/>
              <a:pathLst>
                <a:path h="765429" w="2228469">
                  <a:moveTo>
                    <a:pt x="0" y="0"/>
                  </a:moveTo>
                  <a:lnTo>
                    <a:pt x="2228469" y="0"/>
                  </a:lnTo>
                  <a:lnTo>
                    <a:pt x="222846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1A2E4A"/>
            </a:solidFill>
            <a:ln w="25400" cap="sq">
              <a:solidFill>
                <a:srgbClr val="1A2E4A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5943600" y="9034272"/>
            <a:ext cx="1645920" cy="548640"/>
            <a:chOff x="0" y="0"/>
            <a:chExt cx="2194560" cy="7315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TPM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8046720" y="8778240"/>
            <a:ext cx="9052560" cy="1097280"/>
            <a:chOff x="0" y="0"/>
            <a:chExt cx="12070080" cy="14630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2070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120700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Standards-compliant TPM 2.0 emulator running in an isolated container. Maintains PCR state, seals measurements, and signs attestation quotes.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/ 11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2E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Prototype Design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2596896"/>
            <a:ext cx="8046720" cy="548640"/>
            <a:chOff x="0" y="0"/>
            <a:chExt cx="107289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072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E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Technology Stack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1703" y="3352295"/>
            <a:ext cx="7523483" cy="1342139"/>
            <a:chOff x="0" y="0"/>
            <a:chExt cx="10031311" cy="17895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313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10031349">
                  <a:moveTo>
                    <a:pt x="0" y="0"/>
                  </a:moveTo>
                  <a:lnTo>
                    <a:pt x="10031349" y="0"/>
                  </a:lnTo>
                  <a:lnTo>
                    <a:pt x="100313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97280" y="3474720"/>
            <a:ext cx="7132320" cy="475488"/>
            <a:chOff x="0" y="0"/>
            <a:chExt cx="9509760" cy="6339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Infrastructure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7280" y="3986784"/>
            <a:ext cx="7132320" cy="548640"/>
            <a:chOff x="0" y="0"/>
            <a:chExt cx="950976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Docker Compose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1703" y="4851911"/>
            <a:ext cx="7523483" cy="1342139"/>
            <a:chOff x="0" y="0"/>
            <a:chExt cx="10031311" cy="17895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313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10031349">
                  <a:moveTo>
                    <a:pt x="0" y="0"/>
                  </a:moveTo>
                  <a:lnTo>
                    <a:pt x="10031349" y="0"/>
                  </a:lnTo>
                  <a:lnTo>
                    <a:pt x="100313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2F6B4F"/>
            </a:solidFill>
            <a:ln w="25400" cap="sq">
              <a:solidFill>
                <a:srgbClr val="2F6B4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97280" y="4974336"/>
            <a:ext cx="7132320" cy="475488"/>
            <a:chOff x="0" y="0"/>
            <a:chExt cx="9509760" cy="6339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97280" y="5486400"/>
            <a:ext cx="7132320" cy="548640"/>
            <a:chOff x="0" y="0"/>
            <a:chExt cx="950976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swtpm   TPM2-Tools   SHA-256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01703" y="6351527"/>
            <a:ext cx="7523483" cy="1342139"/>
            <a:chOff x="0" y="0"/>
            <a:chExt cx="10031311" cy="178951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313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10031349">
                  <a:moveTo>
                    <a:pt x="0" y="0"/>
                  </a:moveTo>
                  <a:lnTo>
                    <a:pt x="10031349" y="0"/>
                  </a:lnTo>
                  <a:lnTo>
                    <a:pt x="100313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1E6FB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97280" y="6473952"/>
            <a:ext cx="7132320" cy="475488"/>
            <a:chOff x="0" y="0"/>
            <a:chExt cx="9509760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Agent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7280" y="6986016"/>
            <a:ext cx="7132320" cy="548640"/>
            <a:chOff x="0" y="0"/>
            <a:chExt cx="95097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Ollama   Qwen 3B / Llama 3B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01703" y="7851143"/>
            <a:ext cx="7523483" cy="1342139"/>
            <a:chOff x="0" y="0"/>
            <a:chExt cx="10031311" cy="178951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0313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10031349">
                  <a:moveTo>
                    <a:pt x="0" y="0"/>
                  </a:moveTo>
                  <a:lnTo>
                    <a:pt x="10031349" y="0"/>
                  </a:lnTo>
                  <a:lnTo>
                    <a:pt x="100313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1A2E4A"/>
            </a:solidFill>
            <a:ln w="25400" cap="sq">
              <a:solidFill>
                <a:srgbClr val="1A2E4A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97280" y="7973568"/>
            <a:ext cx="7132320" cy="475488"/>
            <a:chOff x="0" y="0"/>
            <a:chExt cx="9509760" cy="6339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Runtime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97280" y="8485632"/>
            <a:ext cx="7132320" cy="548640"/>
            <a:chOff x="0" y="0"/>
            <a:chExt cx="950976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3   FastAPI   SQLite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326880" y="2596896"/>
            <a:ext cx="7863840" cy="548640"/>
            <a:chOff x="0" y="0"/>
            <a:chExt cx="1048512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04851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E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Deployment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314183" y="3315719"/>
            <a:ext cx="7980683" cy="5511803"/>
            <a:chOff x="0" y="0"/>
            <a:chExt cx="10640911" cy="734907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640949" cy="7349109"/>
            </a:xfrm>
            <a:custGeom>
              <a:avLst/>
              <a:gdLst/>
              <a:ahLst/>
              <a:cxnLst/>
              <a:rect r="r" b="b" t="t" l="l"/>
              <a:pathLst>
                <a:path h="7349109" w="10640949">
                  <a:moveTo>
                    <a:pt x="0" y="0"/>
                  </a:moveTo>
                  <a:lnTo>
                    <a:pt x="10640949" y="0"/>
                  </a:lnTo>
                  <a:lnTo>
                    <a:pt x="10640949" y="7349109"/>
                  </a:lnTo>
                  <a:lnTo>
                    <a:pt x="0" y="7349109"/>
                  </a:lnTo>
                  <a:close/>
                </a:path>
              </a:pathLst>
            </a:custGeom>
            <a:solidFill>
              <a:srgbClr val="F5F7FA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509760" y="3419856"/>
            <a:ext cx="3657600" cy="402336"/>
            <a:chOff x="0" y="0"/>
            <a:chExt cx="4876800" cy="5364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i="true">
                  <a:solidFill>
                    <a:srgbClr val="A0AEC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Docker Host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533639" y="3864359"/>
            <a:ext cx="7523483" cy="2549147"/>
            <a:chOff x="0" y="0"/>
            <a:chExt cx="10031311" cy="339886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031349" cy="3398901"/>
            </a:xfrm>
            <a:custGeom>
              <a:avLst/>
              <a:gdLst/>
              <a:ahLst/>
              <a:cxnLst/>
              <a:rect r="r" b="b" t="t" l="l"/>
              <a:pathLst>
                <a:path h="3398901" w="10031349">
                  <a:moveTo>
                    <a:pt x="0" y="0"/>
                  </a:moveTo>
                  <a:lnTo>
                    <a:pt x="10031349" y="0"/>
                  </a:lnTo>
                  <a:lnTo>
                    <a:pt x="10031349" y="3398901"/>
                  </a:lnTo>
                  <a:lnTo>
                    <a:pt x="0" y="3398901"/>
                  </a:lnTo>
                  <a:close/>
                </a:path>
              </a:pathLst>
            </a:custGeom>
            <a:solidFill>
              <a:srgbClr val="EBF4FF"/>
            </a:solidFill>
            <a:ln w="25400" cap="sq">
              <a:solidFill>
                <a:srgbClr val="1E6FBF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747504" y="3950208"/>
            <a:ext cx="6949440" cy="402336"/>
            <a:chOff x="0" y="0"/>
            <a:chExt cx="9265920" cy="5364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i="true">
                  <a:solidFill>
                    <a:srgbClr val="1E6FB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TrustEdge Framework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747504" y="4389120"/>
            <a:ext cx="7040880" cy="1828800"/>
            <a:chOff x="0" y="0"/>
            <a:chExt cx="9387840" cy="2438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3878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17" r="0" b="-2501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38784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E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Agent + Policy Engine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E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Integrity Monitor + Attestation Manager + Verifier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E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FastAPI + SQLite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282679" y="6388103"/>
            <a:ext cx="71123" cy="427739"/>
            <a:chOff x="0" y="0"/>
            <a:chExt cx="94831" cy="57031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4869" cy="570357"/>
            </a:xfrm>
            <a:custGeom>
              <a:avLst/>
              <a:gdLst/>
              <a:ahLst/>
              <a:cxnLst/>
              <a:rect r="r" b="b" t="t" l="l"/>
              <a:pathLst>
                <a:path h="570357" w="94869">
                  <a:moveTo>
                    <a:pt x="0" y="0"/>
                  </a:moveTo>
                  <a:lnTo>
                    <a:pt x="94869" y="0"/>
                  </a:lnTo>
                  <a:lnTo>
                    <a:pt x="94869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0789920" y="6693408"/>
            <a:ext cx="4754880" cy="329184"/>
            <a:chOff x="0" y="0"/>
            <a:chExt cx="6339840" cy="43891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339840" cy="438912"/>
            </a:xfrm>
            <a:custGeom>
              <a:avLst/>
              <a:gdLst/>
              <a:ahLst/>
              <a:cxnLst/>
              <a:rect r="r" b="b" t="t" l="l"/>
              <a:pathLst>
                <a:path h="43891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6339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i="true">
                  <a:solidFill>
                    <a:srgbClr val="A0AEC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TPM2 socket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533639" y="7009895"/>
            <a:ext cx="7523483" cy="1342139"/>
            <a:chOff x="0" y="0"/>
            <a:chExt cx="10031311" cy="178951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0313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10031349">
                  <a:moveTo>
                    <a:pt x="0" y="0"/>
                  </a:moveTo>
                  <a:lnTo>
                    <a:pt x="10031349" y="0"/>
                  </a:lnTo>
                  <a:lnTo>
                    <a:pt x="100313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1A2E4A"/>
            </a:solidFill>
            <a:ln w="25400" cap="sq">
              <a:solidFill>
                <a:srgbClr val="1A2E4A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784080" y="7242048"/>
            <a:ext cx="7040880" cy="877824"/>
            <a:chOff x="0" y="0"/>
            <a:chExt cx="9387840" cy="117043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387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286" r="0" b="-10628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93878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swtpm  —  Software TPM 2.0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/ 11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005840" y="301561"/>
            <a:ext cx="8785927" cy="43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A0AEC0"/>
                </a:solidFill>
                <a:latin typeface="Calibri (MS)"/>
                <a:ea typeface="Calibri (MS)"/>
                <a:cs typeface="Calibri (MS)"/>
                <a:sym typeface="Calibri (MS)"/>
              </a:rPr>
              <a:t>SOFTWARE &amp; HARDWARE REQUIREMENTS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94944" y="658368"/>
            <a:ext cx="16459200" cy="1280160"/>
            <a:chOff x="0" y="0"/>
            <a:chExt cx="2194560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2E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Container Communication &amp; Attestation Response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81231" y="2511047"/>
            <a:ext cx="8474459" cy="4085339"/>
            <a:chOff x="0" y="0"/>
            <a:chExt cx="11299279" cy="54471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99317" cy="5447157"/>
            </a:xfrm>
            <a:custGeom>
              <a:avLst/>
              <a:gdLst/>
              <a:ahLst/>
              <a:cxnLst/>
              <a:rect r="r" b="b" t="t" l="l"/>
              <a:pathLst>
                <a:path h="5447157" w="11299317">
                  <a:moveTo>
                    <a:pt x="0" y="0"/>
                  </a:moveTo>
                  <a:lnTo>
                    <a:pt x="11299317" y="0"/>
                  </a:lnTo>
                  <a:lnTo>
                    <a:pt x="11299317" y="5447157"/>
                  </a:lnTo>
                  <a:lnTo>
                    <a:pt x="0" y="5447157"/>
                  </a:lnTo>
                  <a:close/>
                </a:path>
              </a:pathLst>
            </a:custGeom>
            <a:solidFill>
              <a:srgbClr val="EBF4FF"/>
            </a:solidFill>
            <a:ln w="25400" cap="sq">
              <a:solidFill>
                <a:srgbClr val="1E6FB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2523744"/>
            <a:ext cx="8229600" cy="402336"/>
            <a:chOff x="0" y="0"/>
            <a:chExt cx="1097280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972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6F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TrustEdge Container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4583" y="2986535"/>
            <a:ext cx="3865883" cy="683771"/>
            <a:chOff x="0" y="0"/>
            <a:chExt cx="5154511" cy="9116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54549" cy="911733"/>
            </a:xfrm>
            <a:custGeom>
              <a:avLst/>
              <a:gdLst/>
              <a:ahLst/>
              <a:cxnLst/>
              <a:rect r="r" b="b" t="t" l="l"/>
              <a:pathLst>
                <a:path h="911733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97280" y="2999232"/>
            <a:ext cx="3840480" cy="658368"/>
            <a:chOff x="0" y="0"/>
            <a:chExt cx="5120640" cy="8778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0640" cy="877824"/>
            </a:xfrm>
            <a:custGeom>
              <a:avLst/>
              <a:gdLst/>
              <a:ahLst/>
              <a:cxnLst/>
              <a:rect r="r" b="b" t="t" l="l"/>
              <a:pathLst>
                <a:path h="87782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1206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Agent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71367" y="2986535"/>
            <a:ext cx="3865883" cy="683771"/>
            <a:chOff x="0" y="0"/>
            <a:chExt cx="5154511" cy="91169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54549" cy="911733"/>
            </a:xfrm>
            <a:custGeom>
              <a:avLst/>
              <a:gdLst/>
              <a:ahLst/>
              <a:cxnLst/>
              <a:rect r="r" b="b" t="t" l="l"/>
              <a:pathLst>
                <a:path h="911733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5084064" y="2999232"/>
            <a:ext cx="3840480" cy="658368"/>
            <a:chOff x="0" y="0"/>
            <a:chExt cx="5120640" cy="8778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0640" cy="877824"/>
            </a:xfrm>
            <a:custGeom>
              <a:avLst/>
              <a:gdLst/>
              <a:ahLst/>
              <a:cxnLst/>
              <a:rect r="r" b="b" t="t" l="l"/>
              <a:pathLst>
                <a:path h="87782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1206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Policy Engine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84583" y="3827783"/>
            <a:ext cx="3865883" cy="683771"/>
            <a:chOff x="0" y="0"/>
            <a:chExt cx="5154511" cy="91169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54549" cy="911733"/>
            </a:xfrm>
            <a:custGeom>
              <a:avLst/>
              <a:gdLst/>
              <a:ahLst/>
              <a:cxnLst/>
              <a:rect r="r" b="b" t="t" l="l"/>
              <a:pathLst>
                <a:path h="911733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97280" y="3840480"/>
            <a:ext cx="3840480" cy="658368"/>
            <a:chOff x="0" y="0"/>
            <a:chExt cx="5120640" cy="8778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0" cy="877824"/>
            </a:xfrm>
            <a:custGeom>
              <a:avLst/>
              <a:gdLst/>
              <a:ahLst/>
              <a:cxnLst/>
              <a:rect r="r" b="b" t="t" l="l"/>
              <a:pathLst>
                <a:path h="87782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1206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Integrity Monitor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071367" y="3827783"/>
            <a:ext cx="3865883" cy="683771"/>
            <a:chOff x="0" y="0"/>
            <a:chExt cx="5154511" cy="91169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54549" cy="911733"/>
            </a:xfrm>
            <a:custGeom>
              <a:avLst/>
              <a:gdLst/>
              <a:ahLst/>
              <a:cxnLst/>
              <a:rect r="r" b="b" t="t" l="l"/>
              <a:pathLst>
                <a:path h="911733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5084064" y="3840480"/>
            <a:ext cx="3840480" cy="658368"/>
            <a:chOff x="0" y="0"/>
            <a:chExt cx="5120640" cy="8778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20640" cy="877824"/>
            </a:xfrm>
            <a:custGeom>
              <a:avLst/>
              <a:gdLst/>
              <a:ahLst/>
              <a:cxnLst/>
              <a:rect r="r" b="b" t="t" l="l"/>
              <a:pathLst>
                <a:path h="87782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1206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Attestation Manager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096263" y="4669031"/>
            <a:ext cx="3865883" cy="683771"/>
            <a:chOff x="0" y="0"/>
            <a:chExt cx="5154511" cy="91169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54549" cy="911733"/>
            </a:xfrm>
            <a:custGeom>
              <a:avLst/>
              <a:gdLst/>
              <a:ahLst/>
              <a:cxnLst/>
              <a:rect r="r" b="b" t="t" l="l"/>
              <a:pathLst>
                <a:path h="911733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3108960" y="4681728"/>
            <a:ext cx="3840480" cy="658368"/>
            <a:chOff x="0" y="0"/>
            <a:chExt cx="5120640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20640" cy="877824"/>
            </a:xfrm>
            <a:custGeom>
              <a:avLst/>
              <a:gdLst/>
              <a:ahLst/>
              <a:cxnLst/>
              <a:rect r="r" b="b" t="t" l="l"/>
              <a:pathLst>
                <a:path h="87782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1206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Verifier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989071" y="6534407"/>
            <a:ext cx="80267" cy="464315"/>
            <a:chOff x="0" y="0"/>
            <a:chExt cx="107023" cy="61908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061" cy="619125"/>
            </a:xfrm>
            <a:custGeom>
              <a:avLst/>
              <a:gdLst/>
              <a:ahLst/>
              <a:cxnLst/>
              <a:rect r="r" b="b" t="t" l="l"/>
              <a:pathLst>
                <a:path h="619125" w="107061">
                  <a:moveTo>
                    <a:pt x="0" y="0"/>
                  </a:moveTo>
                  <a:lnTo>
                    <a:pt x="107061" y="0"/>
                  </a:lnTo>
                  <a:lnTo>
                    <a:pt x="107061" y="619125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731520" y="6876288"/>
            <a:ext cx="8778240" cy="365760"/>
            <a:chOff x="0" y="0"/>
            <a:chExt cx="11704320" cy="4876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704320" cy="487680"/>
            </a:xfrm>
            <a:custGeom>
              <a:avLst/>
              <a:gdLst/>
              <a:ahLst/>
              <a:cxnLst/>
              <a:rect r="r" b="b" t="t" l="l"/>
              <a:pathLst>
                <a:path h="48768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170432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i="true">
                  <a:solidFill>
                    <a:srgbClr val="A0AEC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TPM2 socket (Unix domain socket)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91975" y="7229351"/>
            <a:ext cx="8474459" cy="830075"/>
            <a:chOff x="0" y="0"/>
            <a:chExt cx="11299279" cy="110676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299317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299317">
                  <a:moveTo>
                    <a:pt x="0" y="0"/>
                  </a:moveTo>
                  <a:lnTo>
                    <a:pt x="11299317" y="0"/>
                  </a:lnTo>
                  <a:lnTo>
                    <a:pt x="11299317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1A2E4A"/>
            </a:solidFill>
            <a:ln w="25400" cap="sq">
              <a:solidFill>
                <a:srgbClr val="11203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14400" y="7242048"/>
            <a:ext cx="8229600" cy="804672"/>
            <a:chOff x="0" y="0"/>
            <a:chExt cx="10972800" cy="10728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097280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swtpm Container  —  Software TPM 2.0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91975" y="8326631"/>
            <a:ext cx="8474459" cy="683771"/>
            <a:chOff x="0" y="0"/>
            <a:chExt cx="11299279" cy="91169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299317" cy="911733"/>
            </a:xfrm>
            <a:custGeom>
              <a:avLst/>
              <a:gdLst/>
              <a:ahLst/>
              <a:cxnLst/>
              <a:rect r="r" b="b" t="t" l="l"/>
              <a:pathLst>
                <a:path h="911733" w="11299317">
                  <a:moveTo>
                    <a:pt x="0" y="0"/>
                  </a:moveTo>
                  <a:lnTo>
                    <a:pt x="11299317" y="0"/>
                  </a:lnTo>
                  <a:lnTo>
                    <a:pt x="11299317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14400" y="8339328"/>
            <a:ext cx="8229600" cy="658368"/>
            <a:chOff x="0" y="0"/>
            <a:chExt cx="10972800" cy="87782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0" cy="877824"/>
            </a:xfrm>
            <a:custGeom>
              <a:avLst/>
              <a:gdLst/>
              <a:ahLst/>
              <a:cxnLst/>
              <a:rect r="r" b="b" t="t" l="l"/>
              <a:pathLst>
                <a:path h="87782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9728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1A2E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Local Resources  (files, DB, tools)  |  Cloud Services (optional)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92640" y="2487168"/>
            <a:ext cx="7772400" cy="548640"/>
            <a:chOff x="0" y="0"/>
            <a:chExt cx="1036320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36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103632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E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Attestation Output &amp; Response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679943" y="3169415"/>
            <a:ext cx="7797803" cy="1525019"/>
            <a:chOff x="0" y="0"/>
            <a:chExt cx="10397071" cy="203335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39710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0FFF4"/>
            </a:solidFill>
            <a:ln w="25400" cap="sq">
              <a:solidFill>
                <a:srgbClr val="276749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679943" y="3169415"/>
            <a:ext cx="7797803" cy="500891"/>
            <a:chOff x="0" y="0"/>
            <a:chExt cx="10397071" cy="66785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397109" cy="667893"/>
            </a:xfrm>
            <a:custGeom>
              <a:avLst/>
              <a:gdLst/>
              <a:ahLst/>
              <a:cxnLst/>
              <a:rect r="r" b="b" t="t" l="l"/>
              <a:pathLst>
                <a:path h="667893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667893"/>
                  </a:lnTo>
                  <a:lnTo>
                    <a:pt x="0" y="667893"/>
                  </a:lnTo>
                  <a:close/>
                </a:path>
              </a:pathLst>
            </a:custGeom>
            <a:solidFill>
              <a:srgbClr val="276749"/>
            </a:solidFill>
            <a:ln w="25400" cap="sq">
              <a:solidFill>
                <a:srgbClr val="276749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875520" y="3182112"/>
            <a:ext cx="7498080" cy="475488"/>
            <a:chOff x="0" y="0"/>
            <a:chExt cx="9997440" cy="63398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264" r="0" b="-25726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9997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Quote Matches Baseline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875520" y="3694176"/>
            <a:ext cx="7498080" cy="877824"/>
            <a:chOff x="0" y="0"/>
            <a:chExt cx="9997440" cy="117043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7674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Verifier issues ALLOW signal to Policy Engine. Request proceeds. Event written to audit log.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679943" y="4797047"/>
            <a:ext cx="7797803" cy="1525019"/>
            <a:chOff x="0" y="0"/>
            <a:chExt cx="10397071" cy="203335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39710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5F5"/>
            </a:solidFill>
            <a:ln w="25400" cap="sq">
              <a:solidFill>
                <a:srgbClr val="C53030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9679943" y="4797047"/>
            <a:ext cx="7797803" cy="500891"/>
            <a:chOff x="0" y="0"/>
            <a:chExt cx="10397071" cy="66785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397109" cy="667893"/>
            </a:xfrm>
            <a:custGeom>
              <a:avLst/>
              <a:gdLst/>
              <a:ahLst/>
              <a:cxnLst/>
              <a:rect r="r" b="b" t="t" l="l"/>
              <a:pathLst>
                <a:path h="667893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667893"/>
                  </a:lnTo>
                  <a:lnTo>
                    <a:pt x="0" y="667893"/>
                  </a:lnTo>
                  <a:close/>
                </a:path>
              </a:pathLst>
            </a:custGeom>
            <a:solidFill>
              <a:srgbClr val="C53030"/>
            </a:solidFill>
            <a:ln w="25400" cap="sq">
              <a:solidFill>
                <a:srgbClr val="C53030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9875520" y="4809744"/>
            <a:ext cx="7498080" cy="475488"/>
            <a:chOff x="0" y="0"/>
            <a:chExt cx="9997440" cy="6339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264" r="0" b="-25726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9997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PCR Mismatch Detected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875520" y="5321808"/>
            <a:ext cx="7498080" cy="877824"/>
            <a:chOff x="0" y="0"/>
            <a:chExt cx="9997440" cy="117043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B2C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Verifier issues DENY signal. Policy Engine blocks execution. Integrity alert raised; event logged with timestamp.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679943" y="6424679"/>
            <a:ext cx="7797803" cy="1525019"/>
            <a:chOff x="0" y="0"/>
            <a:chExt cx="10397071" cy="203335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39710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FF0"/>
            </a:solidFill>
            <a:ln w="25400" cap="sq">
              <a:solidFill>
                <a:srgbClr val="B7791F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9679943" y="6424679"/>
            <a:ext cx="7797803" cy="500891"/>
            <a:chOff x="0" y="0"/>
            <a:chExt cx="10397071" cy="66785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397109" cy="667893"/>
            </a:xfrm>
            <a:custGeom>
              <a:avLst/>
              <a:gdLst/>
              <a:ahLst/>
              <a:cxnLst/>
              <a:rect r="r" b="b" t="t" l="l"/>
              <a:pathLst>
                <a:path h="667893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667893"/>
                  </a:lnTo>
                  <a:lnTo>
                    <a:pt x="0" y="667893"/>
                  </a:lnTo>
                  <a:close/>
                </a:path>
              </a:pathLst>
            </a:custGeom>
            <a:solidFill>
              <a:srgbClr val="B7791F"/>
            </a:solidFill>
            <a:ln w="25400" cap="sq">
              <a:solidFill>
                <a:srgbClr val="B7791F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9875520" y="6437376"/>
            <a:ext cx="7498080" cy="475488"/>
            <a:chOff x="0" y="0"/>
            <a:chExt cx="9997440" cy="6339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264" r="0" b="-25726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9997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Hash Deviation (Integrity Monitor)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875520" y="6949440"/>
            <a:ext cx="7498080" cy="877824"/>
            <a:chOff x="0" y="0"/>
            <a:chExt cx="9997440" cy="117043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74421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Binary or model hash differs from stored baseline. Attestation escalated; deny triggered before TPM quote.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679943" y="8052311"/>
            <a:ext cx="7797803" cy="1525019"/>
            <a:chOff x="0" y="0"/>
            <a:chExt cx="10397071" cy="203335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39710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5F5"/>
            </a:solidFill>
            <a:ln w="25400" cap="sq">
              <a:solidFill>
                <a:srgbClr val="702459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79943" y="8052311"/>
            <a:ext cx="7797803" cy="500891"/>
            <a:chOff x="0" y="0"/>
            <a:chExt cx="10397071" cy="66785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397109" cy="667893"/>
            </a:xfrm>
            <a:custGeom>
              <a:avLst/>
              <a:gdLst/>
              <a:ahLst/>
              <a:cxnLst/>
              <a:rect r="r" b="b" t="t" l="l"/>
              <a:pathLst>
                <a:path h="667893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667893"/>
                  </a:lnTo>
                  <a:lnTo>
                    <a:pt x="0" y="667893"/>
                  </a:lnTo>
                  <a:close/>
                </a:path>
              </a:pathLst>
            </a:custGeom>
            <a:solidFill>
              <a:srgbClr val="702459"/>
            </a:solidFill>
            <a:ln w="25400" cap="sq">
              <a:solidFill>
                <a:srgbClr val="702459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9875520" y="8065008"/>
            <a:ext cx="7498080" cy="475488"/>
            <a:chOff x="0" y="0"/>
            <a:chExt cx="9997440" cy="63398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264" r="0" b="-257264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9997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Replayed Quote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875520" y="8577072"/>
            <a:ext cx="7498080" cy="877824"/>
            <a:chOff x="0" y="0"/>
            <a:chExt cx="9997440" cy="117043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70245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Quote nonce mismatch detected by Verifier. Request denied; replay attack flagged in audit trail.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/ 11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768096"/>
            <a:ext cx="16459200" cy="877824"/>
            <a:chOff x="0" y="0"/>
            <a:chExt cx="21945600" cy="11704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1945600" cy="11799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E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References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1755648"/>
            <a:ext cx="16459200" cy="8229600"/>
            <a:chOff x="0" y="0"/>
            <a:chExt cx="21945600" cy="1097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0"/>
                  </a:lnTo>
                  <a:lnTo>
                    <a:pt x="0" y="10972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945600" cy="11020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[1] Trusted Computing Group, "TPM Library Specification, Family 2.0, Level 00, Revision 01.59," TCG, Nov. 2019.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[2] V. Costan and S. Devadas, "Intel SGX Explained," IACR Cryptology ePrint Archive, Rep. 2016/086, 2016.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[3] Confidential Computing Consortium, "A Technical Analysis of Confidential Computing," v1.3, CCC, 2023.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[4] Trusted Computing Group, "Remote Attestation Procedures (RATS) Architecture," TCG, 2023.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[5] E. Rescorla, "The Transport Layer Security (TLS) Protocol Version 1.3," IETF RFC 8446, Aug. 2018.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[6] J. Yang et al., "Agent Security Bench (ASB): Formalizing and Benchmarking Attacks and Defenses in LLM-Based Agents," arXiv:2410.02644, Oct. 2024.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[7] Y. Mirsky et al., "The Threat of Offensive AI to Organizations," Comput. Secur., vol. 124, Jan. 2023.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[8] Microsoft, "Securing the AI Software Supply Chain," Microsoft Security Blog, 2024.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[9] A. Seshadri et al., "Pioneer: Verifying Code Integrity and Enforcing Untampered Execution on Legacy Systems," in Proc. ACM SOSP, 2005, pp. 1-16.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[10] M. Sabt, M. Achemlal, and A. Bouabdallah, "Trusted Execution Environment: What It Is, and What It Is Not," in Proc. IEEE TrustCom, 2015, pp. 57-64.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12697" y="-12697"/>
            <a:ext cx="208283" cy="10312403"/>
            <a:chOff x="0" y="0"/>
            <a:chExt cx="277711" cy="137498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774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277749">
                  <a:moveTo>
                    <a:pt x="0" y="0"/>
                  </a:moveTo>
                  <a:lnTo>
                    <a:pt x="277749" y="0"/>
                  </a:lnTo>
                  <a:lnTo>
                    <a:pt x="27774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E6FBF"/>
            </a:solidFill>
            <a:ln w="25400" cap="sq">
              <a:solidFill>
                <a:srgbClr val="1E6FB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694944"/>
            <a:ext cx="16459200" cy="475488"/>
            <a:chOff x="0" y="0"/>
            <a:chExt cx="21945600" cy="6339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19456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spc="399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1609344"/>
            <a:ext cx="1280160" cy="1097280"/>
            <a:chOff x="0" y="0"/>
            <a:chExt cx="170688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06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70688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E6FB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377440" y="1719072"/>
            <a:ext cx="14813280" cy="1737360"/>
            <a:chOff x="0" y="0"/>
            <a:chExt cx="19751040" cy="2316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751039" cy="2316480"/>
            </a:xfrm>
            <a:custGeom>
              <a:avLst/>
              <a:gdLst/>
              <a:ahLst/>
              <a:cxnLst/>
              <a:rect r="r" b="b" t="t" l="l"/>
              <a:pathLst>
                <a:path h="231648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135" r="0" b="-11613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9751040" cy="2373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0"/>
                </a:lnSpc>
              </a:pPr>
              <a:r>
                <a:rPr lang="en-US" sz="29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agents require continuous runtime trust verification. Authentication at deployment establishes identity but cannot guarantee the integrity of what is executing.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01703" y="3681479"/>
            <a:ext cx="16484603" cy="61979"/>
            <a:chOff x="0" y="0"/>
            <a:chExt cx="21979471" cy="8263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79510" cy="82677"/>
            </a:xfrm>
            <a:custGeom>
              <a:avLst/>
              <a:gdLst/>
              <a:ahLst/>
              <a:cxnLst/>
              <a:rect r="r" b="b" t="t" l="l"/>
              <a:pathLst>
                <a:path h="82677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2C4A6E"/>
            </a:solidFill>
            <a:ln w="25400" cap="sq">
              <a:solidFill>
                <a:srgbClr val="2C4A6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14400" y="4023360"/>
            <a:ext cx="1280160" cy="1097280"/>
            <a:chOff x="0" y="0"/>
            <a:chExt cx="1706880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6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70688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E6FB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377440" y="4133088"/>
            <a:ext cx="14813280" cy="1737360"/>
            <a:chOff x="0" y="0"/>
            <a:chExt cx="19751040" cy="2316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751039" cy="2316480"/>
            </a:xfrm>
            <a:custGeom>
              <a:avLst/>
              <a:gdLst/>
              <a:ahLst/>
              <a:cxnLst/>
              <a:rect r="r" b="b" t="t" l="l"/>
              <a:pathLst>
                <a:path h="231648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135" r="0" b="-11613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9751040" cy="2373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0"/>
                </a:lnSpc>
              </a:pPr>
              <a:r>
                <a:rPr lang="en-US" sz="29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TrustEdge combines policy-based access control, binary integrity monitoring, and event-triggered TPM attestation into a single deployable framework.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1703" y="6095495"/>
            <a:ext cx="16484603" cy="61979"/>
            <a:chOff x="0" y="0"/>
            <a:chExt cx="21979471" cy="8263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79510" cy="82677"/>
            </a:xfrm>
            <a:custGeom>
              <a:avLst/>
              <a:gdLst/>
              <a:ahLst/>
              <a:cxnLst/>
              <a:rect r="r" b="b" t="t" l="l"/>
              <a:pathLst>
                <a:path h="82677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2C4A6E"/>
            </a:solidFill>
            <a:ln w="25400" cap="sq">
              <a:solidFill>
                <a:srgbClr val="2C4A6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6437376"/>
            <a:ext cx="1280160" cy="1097280"/>
            <a:chOff x="0" y="0"/>
            <a:chExt cx="170688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70688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E6FB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377440" y="6547104"/>
            <a:ext cx="14813280" cy="1737360"/>
            <a:chOff x="0" y="0"/>
            <a:chExt cx="19751040" cy="2316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751039" cy="2316480"/>
            </a:xfrm>
            <a:custGeom>
              <a:avLst/>
              <a:gdLst/>
              <a:ahLst/>
              <a:cxnLst/>
              <a:rect r="r" b="b" t="t" l="l"/>
              <a:pathLst>
                <a:path h="231648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135" r="0" b="-11613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9751040" cy="2373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0"/>
                </a:lnSpc>
              </a:pPr>
              <a:r>
                <a:rPr lang="en-US" sz="29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prototype uses swtpm for a standards-compliant TPM 2.0 emulation layer. The same architecture extends directly to physical TPMs, Intel SGX enclaves, and confidential computing environments.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4400" y="9326880"/>
            <a:ext cx="16459200" cy="694944"/>
            <a:chOff x="0" y="0"/>
            <a:chExt cx="2194560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2194560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Questions?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/ 11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DAHZGyQ5u3c</dc:identifier>
  <dcterms:modified xsi:type="dcterms:W3CDTF">2011-08-01T06:04:30Z</dcterms:modified>
  <cp:revision>1</cp:revision>
  <dc:title>Trustedge Presentation By Manyu.pptx</dc:title>
</cp:coreProperties>
</file>